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67" r:id="rId4"/>
    <p:sldId id="258" r:id="rId5"/>
    <p:sldId id="259" r:id="rId6"/>
    <p:sldId id="260" r:id="rId7"/>
    <p:sldId id="261" r:id="rId8"/>
    <p:sldId id="262" r:id="rId9"/>
    <p:sldId id="263" r:id="rId10"/>
    <p:sldId id="265" r:id="rId11"/>
    <p:sldId id="266" r:id="rId12"/>
  </p:sldIdLst>
  <p:sldSz cx="18288000" cy="10287000"/>
  <p:notesSz cx="6858000" cy="9144000"/>
  <p:embeddedFontLst>
    <p:embeddedFont>
      <p:font typeface="Calibri (MS)" panose="020B0604020202020204" charset="0"/>
      <p:regular r:id="rId14"/>
    </p:embeddedFont>
    <p:embeddedFont>
      <p:font typeface="Calibri (MS) Bold" panose="020B0604020202020204" charset="0"/>
      <p:regular r:id="rId15"/>
    </p:embeddedFont>
    <p:embeddedFont>
      <p:font typeface="DM Serif Display" pitchFamily="2" charset="0"/>
      <p:regular r:id="rId16"/>
      <p: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B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0256" autoAdjust="0"/>
  </p:normalViewPr>
  <p:slideViewPr>
    <p:cSldViewPr>
      <p:cViewPr varScale="1">
        <p:scale>
          <a:sx n="30" d="100"/>
          <a:sy n="30" d="100"/>
        </p:scale>
        <p:origin x="1473" y="3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4BCB4-D633-4610-A42B-8DF92A38B013}" type="datetimeFigureOut">
              <a:rPr lang="en-IN" smtClean="0"/>
              <a:t>26-05-2026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0A7597-2401-4CE9-9A13-8C60A6C0BAD9}" type="slidenum">
              <a:rPr lang="en-IN" smtClean="0"/>
              <a:t>‹#›</a:t>
            </a:fld>
            <a:endParaRPr lang="en-IN"/>
          </a:p>
        </p:txBody>
      </p:sp>
    </p:spTree>
    <p:extLst>
      <p:ext uri="{BB962C8B-B14F-4D97-AF65-F5344CB8AC3E}">
        <p14:creationId xmlns:p14="http://schemas.microsoft.com/office/powerpoint/2010/main" val="4273857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explain the literature survey and the major challenges we addressed.</a:t>
            </a:r>
          </a:p>
          <a:p>
            <a:r>
              <a:rPr lang="en-US" dirty="0"/>
              <a:t>We studied several recent research papers related to Kubernetes scheduling, autoscaling, and energy-efficient cloud computing.</a:t>
            </a:r>
          </a:p>
          <a:p>
            <a:r>
              <a:rPr lang="en-US" dirty="0" err="1"/>
              <a:t>Senjab</a:t>
            </a:r>
            <a:r>
              <a:rPr lang="en-US" dirty="0"/>
              <a:t> et al. surveyed Kubernetes scheduling and autoscaling techniques, while </a:t>
            </a:r>
            <a:r>
              <a:rPr lang="en-US" dirty="0" err="1"/>
              <a:t>Fé</a:t>
            </a:r>
            <a:r>
              <a:rPr lang="en-US" dirty="0"/>
              <a:t> et al. focused on energy-efficient optimization in Kubernetes microservices.</a:t>
            </a:r>
          </a:p>
          <a:p>
            <a:r>
              <a:rPr lang="en-US" dirty="0"/>
              <a:t>Rao and Li highlighted idle-state energy consumption as an open problem in microservices environments, which directly relates to our project. We also referred to </a:t>
            </a:r>
            <a:r>
              <a:rPr lang="en-US" dirty="0" err="1"/>
              <a:t>Buyya</a:t>
            </a:r>
            <a:r>
              <a:rPr lang="en-US" dirty="0"/>
              <a:t> et al., who proposed sustainable and learning-centric cloud computing approaches for reducing energy consumption and carbon footprint.</a:t>
            </a:r>
          </a:p>
          <a:p>
            <a:r>
              <a:rPr lang="en-US" dirty="0"/>
              <a:t>Additionally, Kubernetes HPA documentation and energy-efficiency surveys helped us understand existing autoscaling and optimization techniques.</a:t>
            </a:r>
          </a:p>
          <a:p>
            <a:r>
              <a:rPr lang="en-US" dirty="0"/>
              <a:t>From this literature survey, we identified an important gap: existing systems focus mainly on scheduling, autoscaling, or energy optimization separately, but they do not combine intelligent idle detection, machine learning validation, AWS cloud integration, and energy analytics into a single platform.</a:t>
            </a:r>
          </a:p>
          <a:p>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3</a:t>
            </a:fld>
            <a:endParaRPr lang="en-IN"/>
          </a:p>
        </p:txBody>
      </p:sp>
    </p:spTree>
    <p:extLst>
      <p:ext uri="{BB962C8B-B14F-4D97-AF65-F5344CB8AC3E}">
        <p14:creationId xmlns:p14="http://schemas.microsoft.com/office/powerpoint/2010/main" val="687085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this, our project addresses several major challenges.</a:t>
            </a:r>
          </a:p>
          <a:p>
            <a:r>
              <a:rPr lang="en-US" dirty="0"/>
              <a:t>First, idle resource waste, where Kubernetes pods continue running even during zero-traffic periods, increasing unnecessary cloud cost.</a:t>
            </a:r>
          </a:p>
          <a:p>
            <a:r>
              <a:rPr lang="en-US" dirty="0"/>
              <a:t>Second, inaccurate fixed thresholds, because simple CPU-based rules can incorrectly classify workloads.</a:t>
            </a:r>
          </a:p>
          <a:p>
            <a:r>
              <a:rPr lang="en-US" dirty="0"/>
              <a:t>Third, lack of automated alerting, which forces operators to spend time manually monitoring workloads.</a:t>
            </a:r>
          </a:p>
          <a:p>
            <a:r>
              <a:rPr lang="en-US" dirty="0"/>
              <a:t>We also solved the problem of no multi-signal detection by combining CPU, memory, network activity, uptime, and request metrics together instead of relying on a single metric.</a:t>
            </a:r>
          </a:p>
          <a:p>
            <a:r>
              <a:rPr lang="en-US" dirty="0"/>
              <a:t>Another challenge was environmental impact, since idle containers consume energy and contribute to CO₂ emissions.</a:t>
            </a:r>
          </a:p>
          <a:p>
            <a:r>
              <a:rPr lang="en-US" dirty="0"/>
              <a:t>Finally, we addressed unsafe optimization risk by preventing optimization actions on critical Kubernetes system namespaces, ensuring cluster safety and stability.”</a:t>
            </a:r>
          </a:p>
          <a:p>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4</a:t>
            </a:fld>
            <a:endParaRPr lang="en-IN"/>
          </a:p>
        </p:txBody>
      </p:sp>
    </p:spTree>
    <p:extLst>
      <p:ext uri="{BB962C8B-B14F-4D97-AF65-F5344CB8AC3E}">
        <p14:creationId xmlns:p14="http://schemas.microsoft.com/office/powerpoint/2010/main" val="4142830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a:t>
            </a:r>
            <a:r>
              <a:rPr lang="en-US" dirty="0" err="1"/>
              <a:t>IdlePod</a:t>
            </a:r>
            <a:r>
              <a:rPr lang="en-US" dirty="0"/>
              <a:t>, is designed to intelligently detect idle Kubernetes pods and optimize cloud resources safely and efficiently.</a:t>
            </a:r>
          </a:p>
          <a:p>
            <a:r>
              <a:rPr lang="en-US" dirty="0"/>
              <a:t>The core of our solution is an adaptive threshold engine that dynamically adjusts based on actual workload behavior instead of using fixed CPU rules. We also implemented heuristic idle confidence scoring by combining multiple signals such as CPU usage, memory, network activity, uptime, and request count.</a:t>
            </a:r>
          </a:p>
          <a:p>
            <a:r>
              <a:rPr lang="en-US" dirty="0"/>
              <a:t>To improve accuracy, we integrated an Isolation Forest machine learning model that validates whether a pod is truly idle before optimization actions are performed.</a:t>
            </a:r>
          </a:p>
          <a:p>
            <a:r>
              <a:rPr lang="en-US" dirty="0"/>
              <a:t>Once validated, the optimization engine safely scales down unnecessary workloads while excluding critical Kubernetes namespaces to ensure 100% safe optimization.</a:t>
            </a:r>
          </a:p>
          <a:p>
            <a:r>
              <a:rPr lang="en-US" dirty="0"/>
              <a:t>We also included an energy analytics engine that estimates energy savings, CO₂ reduction, and cloud cost impact after optimization. In addition, AWS services such as SNS, S3, CloudWatch, Lambda, EC2, and Cost Explorer are integrated for automation, monitoring, reporting, and alerting.</a:t>
            </a:r>
          </a:p>
          <a:p>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5</a:t>
            </a:fld>
            <a:endParaRPr lang="en-IN"/>
          </a:p>
        </p:txBody>
      </p:sp>
    </p:spTree>
    <p:extLst>
      <p:ext uri="{BB962C8B-B14F-4D97-AF65-F5344CB8AC3E}">
        <p14:creationId xmlns:p14="http://schemas.microsoft.com/office/powerpoint/2010/main" val="1942310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to the system architecture, the frontend React dashboard collects Kubernetes metrics and sends them to the </a:t>
            </a:r>
            <a:r>
              <a:rPr lang="en-US" dirty="0" err="1"/>
              <a:t>FastAPI</a:t>
            </a:r>
            <a:r>
              <a:rPr lang="en-US" dirty="0"/>
              <a:t> backend. The backend performs adaptive threshold analysis, heuristic scoring, ML validation, and optimization decisions.</a:t>
            </a:r>
          </a:p>
          <a:p>
            <a:r>
              <a:rPr lang="en-US" dirty="0"/>
              <a:t>The infrastructure layer communicates with Kubernetes through </a:t>
            </a:r>
            <a:r>
              <a:rPr lang="en-US"/>
              <a:t>metrics-server, </a:t>
            </a:r>
            <a:r>
              <a:rPr lang="en-US" dirty="0"/>
              <a:t>and the Kubernetes Python client to monitor pods and apply optimization actions.</a:t>
            </a:r>
          </a:p>
          <a:p>
            <a:r>
              <a:rPr lang="en-US" dirty="0"/>
              <a:t>Finally, the AWS cloud integration layer handles alerts, metrics, logs, automation workflows, and cloud cost tracking.</a:t>
            </a:r>
          </a:p>
          <a:p>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6</a:t>
            </a:fld>
            <a:endParaRPr lang="en-IN"/>
          </a:p>
        </p:txBody>
      </p:sp>
    </p:spTree>
    <p:extLst>
      <p:ext uri="{BB962C8B-B14F-4D97-AF65-F5344CB8AC3E}">
        <p14:creationId xmlns:p14="http://schemas.microsoft.com/office/powerpoint/2010/main" val="648641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technology stack, we used React, and Chart.js for the frontend dashboard. The backend was developed using Python </a:t>
            </a:r>
            <a:r>
              <a:rPr lang="en-US" dirty="0" err="1"/>
              <a:t>FastAPI</a:t>
            </a:r>
            <a:r>
              <a:rPr lang="en-US" dirty="0"/>
              <a:t> with JWT authentication and REST APIs.</a:t>
            </a:r>
          </a:p>
          <a:p>
            <a:r>
              <a:rPr lang="en-US" dirty="0"/>
              <a:t>For machine learning and analytics, we used Isolation forest model. Infrastructure deployment was done using Kubernetes, Docker, </a:t>
            </a:r>
            <a:r>
              <a:rPr lang="en-US" dirty="0" err="1"/>
              <a:t>Minikube</a:t>
            </a:r>
            <a:r>
              <a:rPr lang="en-US" dirty="0"/>
              <a:t>, and EC2.</a:t>
            </a:r>
          </a:p>
          <a:p>
            <a:r>
              <a:rPr lang="en-US" dirty="0"/>
              <a:t>Overall, </a:t>
            </a:r>
            <a:r>
              <a:rPr lang="en-US" dirty="0" err="1"/>
              <a:t>IdlePod</a:t>
            </a:r>
            <a:r>
              <a:rPr lang="en-US" dirty="0"/>
              <a:t> combines cloud optimization, machine learning, AWS integration, and energy analytics into one intelligent Kubernetes optimization platform.”</a:t>
            </a:r>
          </a:p>
          <a:p>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7</a:t>
            </a:fld>
            <a:endParaRPr lang="en-IN"/>
          </a:p>
        </p:txBody>
      </p:sp>
    </p:spTree>
    <p:extLst>
      <p:ext uri="{BB962C8B-B14F-4D97-AF65-F5344CB8AC3E}">
        <p14:creationId xmlns:p14="http://schemas.microsoft.com/office/powerpoint/2010/main" val="902890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integrated multiple real AWS services to make </a:t>
            </a:r>
            <a:r>
              <a:rPr lang="en-US" dirty="0" err="1"/>
              <a:t>IdlePod</a:t>
            </a:r>
            <a:r>
              <a:rPr lang="en-US" dirty="0"/>
              <a:t> more practical and cloud-native. Amazon SNS is used for sending email alerts whenever idle pods or optimization events are detected. This helps operators receive instant notifications instead of manually monitoring the cluster all the time.                                 S3 stores reports and optimization logs, while CloudWatch tracks metrics like idle pod count and cluster efficiency.</a:t>
            </a:r>
          </a:p>
          <a:p>
            <a:endParaRPr lang="en-US" dirty="0"/>
          </a:p>
          <a:p>
            <a:r>
              <a:rPr lang="en-US" dirty="0"/>
              <a:t>CloudWatch alarms trigger notifications when thresholds are exceeded, and AWS Lambda automates workflows by writing optimization summaries to S3 and sending confirmation alerts. IAM manages secure permissions, and Cost Explorer displays real AWS spending data.                                                              EC2 is used to host the containerized React frontend and </a:t>
            </a:r>
            <a:r>
              <a:rPr lang="en-US" dirty="0" err="1"/>
              <a:t>FastAPI</a:t>
            </a:r>
            <a:r>
              <a:rPr lang="en-US" dirty="0"/>
              <a:t> backend using Docker Compose.</a:t>
            </a:r>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8</a:t>
            </a:fld>
            <a:endParaRPr lang="en-IN"/>
          </a:p>
        </p:txBody>
      </p:sp>
    </p:spTree>
    <p:extLst>
      <p:ext uri="{BB962C8B-B14F-4D97-AF65-F5344CB8AC3E}">
        <p14:creationId xmlns:p14="http://schemas.microsoft.com/office/powerpoint/2010/main" val="3473763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Isolation Forest as our machine learning model because it is an unsupervised anomaly detection algorithm. It does not require labeled training data, which is ideal for Kubernetes environments where workload behavior changes dynamically.</a:t>
            </a:r>
          </a:p>
          <a:p>
            <a:endParaRPr lang="en-US" dirty="0"/>
          </a:p>
          <a:p>
            <a:r>
              <a:rPr lang="en-US" dirty="0"/>
              <a:t>We combined heuristic scoring with machine learning instead of depending only on ML. The heuristic engine provides explainable decisions by showing why a pod was marked idle, while ML acts as a second validation layer to reduce false positives.</a:t>
            </a:r>
          </a:p>
          <a:p>
            <a:endParaRPr lang="en-US" dirty="0"/>
          </a:p>
          <a:p>
            <a:r>
              <a:rPr lang="en-US" dirty="0"/>
              <a:t>We also used adaptive thresholds instead of fixed thresholds. Traditional systems use simple rules like CPU less than 10 percent, but different workloads behave differently. Dynamic thresholds adapt according to workload behavior and improve detection accuracy.</a:t>
            </a:r>
          </a:p>
          <a:p>
            <a:endParaRPr lang="en-US" dirty="0"/>
          </a:p>
          <a:p>
            <a:r>
              <a:rPr lang="en-US" dirty="0" err="1"/>
              <a:t>FastAPI</a:t>
            </a:r>
            <a:r>
              <a:rPr lang="en-US" dirty="0"/>
              <a:t> was chosen because it integrates naturally with Python libraries like scikit-learn, Pandas, and the Kubernetes Python client, making development simpler and faster.</a:t>
            </a:r>
          </a:p>
          <a:p>
            <a:endParaRPr lang="en-US" dirty="0"/>
          </a:p>
          <a:p>
            <a:r>
              <a:rPr lang="en-US" dirty="0"/>
              <a:t>MongoDB Atlas was used for cloud persistence, while SQLite acts as a fallback database to improve reliability.</a:t>
            </a:r>
          </a:p>
          <a:p>
            <a:endParaRPr lang="en-US" dirty="0"/>
          </a:p>
          <a:p>
            <a:r>
              <a:rPr lang="en-US" dirty="0"/>
              <a:t>For safety, we implemented namespace exclusion so critical namespaces like </a:t>
            </a:r>
            <a:r>
              <a:rPr lang="en-US" dirty="0" err="1"/>
              <a:t>kube</a:t>
            </a:r>
            <a:r>
              <a:rPr lang="en-US" dirty="0"/>
              <a:t>-system are never optimized accidentally.</a:t>
            </a:r>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9</a:t>
            </a:fld>
            <a:endParaRPr lang="en-IN"/>
          </a:p>
        </p:txBody>
      </p:sp>
    </p:spTree>
    <p:extLst>
      <p:ext uri="{BB962C8B-B14F-4D97-AF65-F5344CB8AC3E}">
        <p14:creationId xmlns:p14="http://schemas.microsoft.com/office/powerpoint/2010/main" val="462075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t>
            </a:r>
            <a:r>
              <a:rPr lang="en-US" dirty="0" err="1"/>
              <a:t>IdlePod</a:t>
            </a:r>
            <a:r>
              <a:rPr lang="en-US" dirty="0"/>
              <a:t> is an intelligent Kubernetes optimization platform that detects idle workloads using adaptive thresholds, heuristic scoring, and machine learning validation.</a:t>
            </a:r>
          </a:p>
          <a:p>
            <a:endParaRPr lang="en-US" dirty="0"/>
          </a:p>
          <a:p>
            <a:r>
              <a:rPr lang="en-US" dirty="0"/>
              <a:t>Our system safely performs optimization actions, integrates with real AWS services like SNS, S3, CloudWatch, and Lambda, and provides energy and cost analytics through a real-time dashboard.</a:t>
            </a:r>
          </a:p>
          <a:p>
            <a:endParaRPr lang="en-US" dirty="0"/>
          </a:p>
          <a:p>
            <a:r>
              <a:rPr lang="en-US" dirty="0"/>
              <a:t>We also implemented security features such as JWT authentication and RBAC protection, along with Docker-based deployment using </a:t>
            </a:r>
            <a:r>
              <a:rPr lang="en-US" dirty="0" err="1"/>
              <a:t>Minikube</a:t>
            </a:r>
            <a:r>
              <a:rPr lang="en-US" dirty="0"/>
              <a:t> and EC2.</a:t>
            </a:r>
          </a:p>
          <a:p>
            <a:endParaRPr lang="en-US" dirty="0"/>
          </a:p>
          <a:p>
            <a:r>
              <a:rPr lang="en-US" dirty="0"/>
              <a:t>In the future, we plan to extend </a:t>
            </a:r>
            <a:r>
              <a:rPr lang="en-US" dirty="0" err="1"/>
              <a:t>IdlePod</a:t>
            </a:r>
            <a:r>
              <a:rPr lang="en-US" dirty="0"/>
              <a:t> with Amazon EKS deployment, AI-powered optimization recommendations, multi-cluster support, and predictive idle detection using time-series forecasting.</a:t>
            </a:r>
            <a:endParaRPr lang="en-IN" dirty="0"/>
          </a:p>
        </p:txBody>
      </p:sp>
      <p:sp>
        <p:nvSpPr>
          <p:cNvPr id="4" name="Slide Number Placeholder 3"/>
          <p:cNvSpPr>
            <a:spLocks noGrp="1"/>
          </p:cNvSpPr>
          <p:nvPr>
            <p:ph type="sldNum" sz="quarter" idx="5"/>
          </p:nvPr>
        </p:nvSpPr>
        <p:spPr/>
        <p:txBody>
          <a:bodyPr/>
          <a:lstStyle/>
          <a:p>
            <a:fld id="{110A7597-2401-4CE9-9A13-8C60A6C0BAD9}" type="slidenum">
              <a:rPr lang="en-IN" smtClean="0"/>
              <a:t>10</a:t>
            </a:fld>
            <a:endParaRPr lang="en-IN"/>
          </a:p>
        </p:txBody>
      </p:sp>
    </p:spTree>
    <p:extLst>
      <p:ext uri="{BB962C8B-B14F-4D97-AF65-F5344CB8AC3E}">
        <p14:creationId xmlns:p14="http://schemas.microsoft.com/office/powerpoint/2010/main" val="3479476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6353" y="-6353"/>
            <a:ext cx="12697" cy="10299697"/>
            <a:chOff x="0" y="0"/>
            <a:chExt cx="16929" cy="13732929"/>
          </a:xfrm>
        </p:grpSpPr>
        <p:sp>
          <p:nvSpPr>
            <p:cNvPr id="3" name="Freeform 3"/>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4" name="Group 4"/>
          <p:cNvGrpSpPr/>
          <p:nvPr/>
        </p:nvGrpSpPr>
        <p:grpSpPr>
          <a:xfrm>
            <a:off x="2005327" y="-6353"/>
            <a:ext cx="12697" cy="10299697"/>
            <a:chOff x="0" y="0"/>
            <a:chExt cx="16929" cy="13732929"/>
          </a:xfrm>
        </p:grpSpPr>
        <p:sp>
          <p:nvSpPr>
            <p:cNvPr id="5" name="Freeform 5"/>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6" name="Group 6"/>
          <p:cNvGrpSpPr/>
          <p:nvPr/>
        </p:nvGrpSpPr>
        <p:grpSpPr>
          <a:xfrm>
            <a:off x="14075407" y="-6353"/>
            <a:ext cx="12697" cy="10299697"/>
            <a:chOff x="0" y="0"/>
            <a:chExt cx="16929" cy="13732929"/>
          </a:xfrm>
        </p:grpSpPr>
        <p:sp>
          <p:nvSpPr>
            <p:cNvPr id="7" name="Freeform 7"/>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8" name="Group 8"/>
          <p:cNvGrpSpPr/>
          <p:nvPr/>
        </p:nvGrpSpPr>
        <p:grpSpPr>
          <a:xfrm>
            <a:off x="16087087" y="-6353"/>
            <a:ext cx="12697" cy="10299697"/>
            <a:chOff x="0" y="0"/>
            <a:chExt cx="16929" cy="13732929"/>
          </a:xfrm>
        </p:grpSpPr>
        <p:sp>
          <p:nvSpPr>
            <p:cNvPr id="9" name="Freeform 9"/>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10" name="Group 10"/>
          <p:cNvGrpSpPr/>
          <p:nvPr/>
        </p:nvGrpSpPr>
        <p:grpSpPr>
          <a:xfrm>
            <a:off x="18098767" y="-6353"/>
            <a:ext cx="12697" cy="10299697"/>
            <a:chOff x="0" y="0"/>
            <a:chExt cx="16929" cy="13732929"/>
          </a:xfrm>
        </p:grpSpPr>
        <p:sp>
          <p:nvSpPr>
            <p:cNvPr id="11" name="Freeform 11"/>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12" name="Group 12"/>
          <p:cNvGrpSpPr/>
          <p:nvPr/>
        </p:nvGrpSpPr>
        <p:grpSpPr>
          <a:xfrm>
            <a:off x="-6353" y="-6353"/>
            <a:ext cx="18300697" cy="12697"/>
            <a:chOff x="0" y="0"/>
            <a:chExt cx="24400929" cy="16929"/>
          </a:xfrm>
        </p:grpSpPr>
        <p:sp>
          <p:nvSpPr>
            <p:cNvPr id="13" name="Freeform 13"/>
            <p:cNvSpPr/>
            <p:nvPr/>
          </p:nvSpPr>
          <p:spPr>
            <a:xfrm>
              <a:off x="0" y="0"/>
              <a:ext cx="24400890" cy="16891"/>
            </a:xfrm>
            <a:custGeom>
              <a:avLst/>
              <a:gdLst/>
              <a:ahLst/>
              <a:cxnLst/>
              <a:rect l="l" t="t" r="r" b="b"/>
              <a:pathLst>
                <a:path w="24400890" h="16891">
                  <a:moveTo>
                    <a:pt x="0" y="0"/>
                  </a:moveTo>
                  <a:lnTo>
                    <a:pt x="24400890" y="16891"/>
                  </a:lnTo>
                </a:path>
              </a:pathLst>
            </a:custGeom>
            <a:blipFill>
              <a:blip r:embed="rId2">
                <a:alphaModFix amt="0"/>
              </a:blip>
              <a:stretch>
                <a:fillRect t="-28098192" b="-28098417"/>
              </a:stretch>
            </a:blipFill>
            <a:ln w="12700" cap="sq">
              <a:solidFill>
                <a:srgbClr val="1A3D6B"/>
              </a:solidFill>
              <a:prstDash val="solid"/>
              <a:miter/>
            </a:ln>
          </p:spPr>
          <p:txBody>
            <a:bodyPr/>
            <a:lstStyle/>
            <a:p>
              <a:endParaRPr lang="en-IN"/>
            </a:p>
          </p:txBody>
        </p:sp>
      </p:grpSp>
      <p:grpSp>
        <p:nvGrpSpPr>
          <p:cNvPr id="14" name="Group 14"/>
          <p:cNvGrpSpPr/>
          <p:nvPr/>
        </p:nvGrpSpPr>
        <p:grpSpPr>
          <a:xfrm>
            <a:off x="-6353" y="1822447"/>
            <a:ext cx="18300697" cy="12697"/>
            <a:chOff x="0" y="0"/>
            <a:chExt cx="24400929" cy="16929"/>
          </a:xfrm>
        </p:grpSpPr>
        <p:sp>
          <p:nvSpPr>
            <p:cNvPr id="15" name="Freeform 15"/>
            <p:cNvSpPr/>
            <p:nvPr/>
          </p:nvSpPr>
          <p:spPr>
            <a:xfrm>
              <a:off x="0" y="0"/>
              <a:ext cx="24400890" cy="16891"/>
            </a:xfrm>
            <a:custGeom>
              <a:avLst/>
              <a:gdLst/>
              <a:ahLst/>
              <a:cxnLst/>
              <a:rect l="l" t="t" r="r" b="b"/>
              <a:pathLst>
                <a:path w="24400890" h="16891">
                  <a:moveTo>
                    <a:pt x="0" y="0"/>
                  </a:moveTo>
                  <a:lnTo>
                    <a:pt x="24400890" y="16891"/>
                  </a:lnTo>
                </a:path>
              </a:pathLst>
            </a:custGeom>
            <a:blipFill>
              <a:blip r:embed="rId2">
                <a:alphaModFix amt="0"/>
              </a:blip>
              <a:stretch>
                <a:fillRect t="-28098192" b="-28098417"/>
              </a:stretch>
            </a:blipFill>
            <a:ln w="12700" cap="sq">
              <a:solidFill>
                <a:srgbClr val="1A3D6B"/>
              </a:solidFill>
              <a:prstDash val="solid"/>
              <a:miter/>
            </a:ln>
          </p:spPr>
          <p:txBody>
            <a:bodyPr/>
            <a:lstStyle/>
            <a:p>
              <a:endParaRPr lang="en-IN"/>
            </a:p>
          </p:txBody>
        </p:sp>
      </p:grpSp>
      <p:grpSp>
        <p:nvGrpSpPr>
          <p:cNvPr id="16" name="Group 16"/>
          <p:cNvGrpSpPr/>
          <p:nvPr/>
        </p:nvGrpSpPr>
        <p:grpSpPr>
          <a:xfrm>
            <a:off x="-6353" y="3651247"/>
            <a:ext cx="18300697" cy="12697"/>
            <a:chOff x="0" y="0"/>
            <a:chExt cx="24400929" cy="16929"/>
          </a:xfrm>
        </p:grpSpPr>
        <p:sp>
          <p:nvSpPr>
            <p:cNvPr id="17" name="Freeform 17"/>
            <p:cNvSpPr/>
            <p:nvPr/>
          </p:nvSpPr>
          <p:spPr>
            <a:xfrm>
              <a:off x="0" y="0"/>
              <a:ext cx="24400890" cy="16891"/>
            </a:xfrm>
            <a:custGeom>
              <a:avLst/>
              <a:gdLst/>
              <a:ahLst/>
              <a:cxnLst/>
              <a:rect l="l" t="t" r="r" b="b"/>
              <a:pathLst>
                <a:path w="24400890" h="16891">
                  <a:moveTo>
                    <a:pt x="0" y="0"/>
                  </a:moveTo>
                  <a:lnTo>
                    <a:pt x="24400890" y="16891"/>
                  </a:lnTo>
                </a:path>
              </a:pathLst>
            </a:custGeom>
            <a:blipFill>
              <a:blip r:embed="rId2">
                <a:alphaModFix amt="0"/>
              </a:blip>
              <a:stretch>
                <a:fillRect t="-28098192" b="-28098417"/>
              </a:stretch>
            </a:blipFill>
            <a:ln w="12700" cap="sq">
              <a:solidFill>
                <a:srgbClr val="1A3D6B"/>
              </a:solidFill>
              <a:prstDash val="solid"/>
              <a:miter/>
            </a:ln>
          </p:spPr>
          <p:txBody>
            <a:bodyPr/>
            <a:lstStyle/>
            <a:p>
              <a:endParaRPr lang="en-IN"/>
            </a:p>
          </p:txBody>
        </p:sp>
      </p:grpSp>
      <p:grpSp>
        <p:nvGrpSpPr>
          <p:cNvPr id="18" name="Group 18"/>
          <p:cNvGrpSpPr/>
          <p:nvPr/>
        </p:nvGrpSpPr>
        <p:grpSpPr>
          <a:xfrm>
            <a:off x="-6353" y="5480047"/>
            <a:ext cx="18300697" cy="12697"/>
            <a:chOff x="0" y="0"/>
            <a:chExt cx="24400929" cy="16929"/>
          </a:xfrm>
        </p:grpSpPr>
        <p:sp>
          <p:nvSpPr>
            <p:cNvPr id="19" name="Freeform 19"/>
            <p:cNvSpPr/>
            <p:nvPr/>
          </p:nvSpPr>
          <p:spPr>
            <a:xfrm>
              <a:off x="0" y="0"/>
              <a:ext cx="24400890" cy="16891"/>
            </a:xfrm>
            <a:custGeom>
              <a:avLst/>
              <a:gdLst/>
              <a:ahLst/>
              <a:cxnLst/>
              <a:rect l="l" t="t" r="r" b="b"/>
              <a:pathLst>
                <a:path w="24400890" h="16891">
                  <a:moveTo>
                    <a:pt x="0" y="0"/>
                  </a:moveTo>
                  <a:lnTo>
                    <a:pt x="24400890" y="16891"/>
                  </a:lnTo>
                </a:path>
              </a:pathLst>
            </a:custGeom>
            <a:blipFill>
              <a:blip r:embed="rId2">
                <a:alphaModFix amt="0"/>
              </a:blip>
              <a:stretch>
                <a:fillRect t="-28098192" b="-28098417"/>
              </a:stretch>
            </a:blipFill>
            <a:ln w="12700" cap="sq">
              <a:solidFill>
                <a:srgbClr val="1A3D6B"/>
              </a:solidFill>
              <a:prstDash val="solid"/>
              <a:miter/>
            </a:ln>
          </p:spPr>
          <p:txBody>
            <a:bodyPr/>
            <a:lstStyle/>
            <a:p>
              <a:endParaRPr lang="en-IN"/>
            </a:p>
          </p:txBody>
        </p:sp>
      </p:grpSp>
      <p:grpSp>
        <p:nvGrpSpPr>
          <p:cNvPr id="20" name="Group 20"/>
          <p:cNvGrpSpPr/>
          <p:nvPr/>
        </p:nvGrpSpPr>
        <p:grpSpPr>
          <a:xfrm>
            <a:off x="-6353" y="7308847"/>
            <a:ext cx="18300697" cy="12697"/>
            <a:chOff x="0" y="0"/>
            <a:chExt cx="24400929" cy="16929"/>
          </a:xfrm>
        </p:grpSpPr>
        <p:sp>
          <p:nvSpPr>
            <p:cNvPr id="21" name="Freeform 21"/>
            <p:cNvSpPr/>
            <p:nvPr/>
          </p:nvSpPr>
          <p:spPr>
            <a:xfrm>
              <a:off x="0" y="0"/>
              <a:ext cx="24400890" cy="16891"/>
            </a:xfrm>
            <a:custGeom>
              <a:avLst/>
              <a:gdLst/>
              <a:ahLst/>
              <a:cxnLst/>
              <a:rect l="l" t="t" r="r" b="b"/>
              <a:pathLst>
                <a:path w="24400890" h="16891">
                  <a:moveTo>
                    <a:pt x="0" y="0"/>
                  </a:moveTo>
                  <a:lnTo>
                    <a:pt x="24400890" y="16891"/>
                  </a:lnTo>
                </a:path>
              </a:pathLst>
            </a:custGeom>
            <a:blipFill>
              <a:blip r:embed="rId2">
                <a:alphaModFix amt="0"/>
              </a:blip>
              <a:stretch>
                <a:fillRect t="-28098192" b="-28098417"/>
              </a:stretch>
            </a:blipFill>
            <a:ln w="12700" cap="sq">
              <a:solidFill>
                <a:srgbClr val="1A3D6B"/>
              </a:solidFill>
              <a:prstDash val="solid"/>
              <a:miter/>
            </a:ln>
          </p:spPr>
          <p:txBody>
            <a:bodyPr/>
            <a:lstStyle/>
            <a:p>
              <a:endParaRPr lang="en-IN"/>
            </a:p>
          </p:txBody>
        </p:sp>
      </p:grpSp>
      <p:grpSp>
        <p:nvGrpSpPr>
          <p:cNvPr id="22" name="Group 22"/>
          <p:cNvGrpSpPr/>
          <p:nvPr/>
        </p:nvGrpSpPr>
        <p:grpSpPr>
          <a:xfrm>
            <a:off x="-6353" y="9137647"/>
            <a:ext cx="18300697" cy="12697"/>
            <a:chOff x="0" y="0"/>
            <a:chExt cx="24400929" cy="16929"/>
          </a:xfrm>
        </p:grpSpPr>
        <p:sp>
          <p:nvSpPr>
            <p:cNvPr id="23" name="Freeform 23"/>
            <p:cNvSpPr/>
            <p:nvPr/>
          </p:nvSpPr>
          <p:spPr>
            <a:xfrm>
              <a:off x="0" y="0"/>
              <a:ext cx="24400890" cy="16891"/>
            </a:xfrm>
            <a:custGeom>
              <a:avLst/>
              <a:gdLst/>
              <a:ahLst/>
              <a:cxnLst/>
              <a:rect l="l" t="t" r="r" b="b"/>
              <a:pathLst>
                <a:path w="24400890" h="16891">
                  <a:moveTo>
                    <a:pt x="0" y="0"/>
                  </a:moveTo>
                  <a:lnTo>
                    <a:pt x="24400890" y="16891"/>
                  </a:lnTo>
                </a:path>
              </a:pathLst>
            </a:custGeom>
            <a:blipFill>
              <a:blip r:embed="rId2">
                <a:alphaModFix amt="0"/>
              </a:blip>
              <a:stretch>
                <a:fillRect t="-28098192" b="-28098417"/>
              </a:stretch>
            </a:blipFill>
            <a:ln w="12700" cap="sq">
              <a:solidFill>
                <a:srgbClr val="1A3D6B"/>
              </a:solidFill>
              <a:prstDash val="solid"/>
              <a:miter/>
            </a:ln>
          </p:spPr>
          <p:txBody>
            <a:bodyPr/>
            <a:lstStyle/>
            <a:p>
              <a:endParaRPr lang="en-IN"/>
            </a:p>
          </p:txBody>
        </p:sp>
      </p:grpSp>
      <p:grpSp>
        <p:nvGrpSpPr>
          <p:cNvPr id="24" name="Group 24"/>
          <p:cNvGrpSpPr/>
          <p:nvPr/>
        </p:nvGrpSpPr>
        <p:grpSpPr>
          <a:xfrm>
            <a:off x="1071126" y="2406628"/>
            <a:ext cx="171707" cy="4442489"/>
            <a:chOff x="0" y="0"/>
            <a:chExt cx="228943" cy="7349071"/>
          </a:xfrm>
        </p:grpSpPr>
        <p:sp>
          <p:nvSpPr>
            <p:cNvPr id="25" name="Freeform 25"/>
            <p:cNvSpPr/>
            <p:nvPr/>
          </p:nvSpPr>
          <p:spPr>
            <a:xfrm>
              <a:off x="0" y="0"/>
              <a:ext cx="228981" cy="7349109"/>
            </a:xfrm>
            <a:custGeom>
              <a:avLst/>
              <a:gdLst/>
              <a:ahLst/>
              <a:cxnLst/>
              <a:rect l="l" t="t" r="r" b="b"/>
              <a:pathLst>
                <a:path w="228981" h="7349109">
                  <a:moveTo>
                    <a:pt x="0" y="0"/>
                  </a:moveTo>
                  <a:lnTo>
                    <a:pt x="228981" y="0"/>
                  </a:lnTo>
                  <a:lnTo>
                    <a:pt x="228981" y="7349109"/>
                  </a:lnTo>
                  <a:lnTo>
                    <a:pt x="0" y="7349109"/>
                  </a:lnTo>
                  <a:close/>
                </a:path>
              </a:pathLst>
            </a:custGeom>
            <a:solidFill>
              <a:srgbClr val="00B4D8"/>
            </a:solidFill>
            <a:ln w="25400" cap="sq">
              <a:solidFill>
                <a:srgbClr val="00B4D8"/>
              </a:solidFill>
              <a:prstDash val="solid"/>
              <a:miter/>
            </a:ln>
          </p:spPr>
          <p:txBody>
            <a:bodyPr/>
            <a:lstStyle/>
            <a:p>
              <a:endParaRPr lang="en-IN"/>
            </a:p>
          </p:txBody>
        </p:sp>
      </p:grpSp>
      <p:grpSp>
        <p:nvGrpSpPr>
          <p:cNvPr id="26" name="Group 26"/>
          <p:cNvGrpSpPr/>
          <p:nvPr/>
        </p:nvGrpSpPr>
        <p:grpSpPr>
          <a:xfrm>
            <a:off x="1476946" y="2052200"/>
            <a:ext cx="10186919" cy="4615082"/>
            <a:chOff x="-435522" y="0"/>
            <a:chExt cx="11156862" cy="4906784"/>
          </a:xfrm>
        </p:grpSpPr>
        <p:sp>
          <p:nvSpPr>
            <p:cNvPr id="27" name="Freeform 27"/>
            <p:cNvSpPr/>
            <p:nvPr/>
          </p:nvSpPr>
          <p:spPr>
            <a:xfrm>
              <a:off x="0" y="0"/>
              <a:ext cx="10721340" cy="3572966"/>
            </a:xfrm>
            <a:custGeom>
              <a:avLst/>
              <a:gdLst/>
              <a:ahLst/>
              <a:cxnLst/>
              <a:rect l="l" t="t" r="r" b="b"/>
              <a:pathLst>
                <a:path w="10721340" h="3572966">
                  <a:moveTo>
                    <a:pt x="0" y="0"/>
                  </a:moveTo>
                  <a:lnTo>
                    <a:pt x="10721340" y="0"/>
                  </a:lnTo>
                  <a:lnTo>
                    <a:pt x="10721340" y="3572966"/>
                  </a:lnTo>
                  <a:lnTo>
                    <a:pt x="0" y="3572966"/>
                  </a:lnTo>
                  <a:close/>
                </a:path>
              </a:pathLst>
            </a:custGeom>
            <a:blipFill>
              <a:blip r:embed="rId2">
                <a:alphaModFix amt="0"/>
              </a:blip>
              <a:stretch>
                <a:fillRect t="-58785" r="-70575" b="-40680"/>
              </a:stretch>
            </a:blipFill>
          </p:spPr>
          <p:txBody>
            <a:bodyPr/>
            <a:lstStyle/>
            <a:p>
              <a:endParaRPr lang="en-IN"/>
            </a:p>
          </p:txBody>
        </p:sp>
        <p:sp>
          <p:nvSpPr>
            <p:cNvPr id="28" name="TextBox 28"/>
            <p:cNvSpPr txBox="1"/>
            <p:nvPr/>
          </p:nvSpPr>
          <p:spPr>
            <a:xfrm>
              <a:off x="-435522" y="532571"/>
              <a:ext cx="10836020" cy="4374213"/>
            </a:xfrm>
            <a:prstGeom prst="rect">
              <a:avLst/>
            </a:prstGeom>
          </p:spPr>
          <p:txBody>
            <a:bodyPr lIns="0" tIns="0" rIns="0" bIns="0" rtlCol="0" anchor="ctr"/>
            <a:lstStyle/>
            <a:p>
              <a:r>
                <a:rPr lang="en-US" sz="5400" b="1" dirty="0" err="1">
                  <a:solidFill>
                    <a:srgbClr val="FFFFFF"/>
                  </a:solidFill>
                  <a:latin typeface="Calibri (MS) Bold"/>
                  <a:ea typeface="Calibri (MS) Bold"/>
                  <a:cs typeface="Calibri (MS) Bold"/>
                  <a:sym typeface="Calibri (MS) Bold"/>
                </a:rPr>
                <a:t>IdlePod</a:t>
              </a:r>
              <a:r>
                <a:rPr lang="en-US" sz="5400" b="1" dirty="0">
                  <a:solidFill>
                    <a:srgbClr val="FFFFFF"/>
                  </a:solidFill>
                  <a:latin typeface="Calibri (MS) Bold"/>
                  <a:ea typeface="Calibri (MS) Bold"/>
                  <a:cs typeface="Calibri (MS) Bold"/>
                  <a:sym typeface="Calibri (MS) Bold"/>
                </a:rPr>
                <a:t>: Intelligent Idle Container Detection and Energy-Efficient Resource Optimization in Kubernetes Clusters.</a:t>
              </a:r>
            </a:p>
          </p:txBody>
        </p:sp>
      </p:grpSp>
      <p:grpSp>
        <p:nvGrpSpPr>
          <p:cNvPr id="29" name="Group 29"/>
          <p:cNvGrpSpPr/>
          <p:nvPr/>
        </p:nvGrpSpPr>
        <p:grpSpPr>
          <a:xfrm>
            <a:off x="12988657" y="1620517"/>
            <a:ext cx="4061460" cy="4061460"/>
            <a:chOff x="0" y="0"/>
            <a:chExt cx="5415280" cy="5415280"/>
          </a:xfrm>
        </p:grpSpPr>
        <p:sp>
          <p:nvSpPr>
            <p:cNvPr id="30" name="Freeform 30"/>
            <p:cNvSpPr/>
            <p:nvPr/>
          </p:nvSpPr>
          <p:spPr>
            <a:xfrm>
              <a:off x="0" y="0"/>
              <a:ext cx="5415280" cy="5415280"/>
            </a:xfrm>
            <a:custGeom>
              <a:avLst/>
              <a:gdLst/>
              <a:ahLst/>
              <a:cxnLst/>
              <a:rect l="l" t="t" r="r" b="b"/>
              <a:pathLst>
                <a:path w="5415280" h="5415280">
                  <a:moveTo>
                    <a:pt x="0" y="2707640"/>
                  </a:moveTo>
                  <a:cubicBezTo>
                    <a:pt x="0" y="1212215"/>
                    <a:pt x="1212215" y="0"/>
                    <a:pt x="2707640" y="0"/>
                  </a:cubicBezTo>
                  <a:cubicBezTo>
                    <a:pt x="4203065" y="0"/>
                    <a:pt x="5415280" y="1212215"/>
                    <a:pt x="5415280" y="2707640"/>
                  </a:cubicBezTo>
                  <a:cubicBezTo>
                    <a:pt x="5415280" y="4203065"/>
                    <a:pt x="4203065" y="5415280"/>
                    <a:pt x="2707640" y="5415280"/>
                  </a:cubicBezTo>
                  <a:cubicBezTo>
                    <a:pt x="1212215" y="5415280"/>
                    <a:pt x="0" y="4203065"/>
                    <a:pt x="0" y="2707640"/>
                  </a:cubicBezTo>
                  <a:close/>
                </a:path>
              </a:pathLst>
            </a:custGeom>
            <a:solidFill>
              <a:srgbClr val="0F2D54"/>
            </a:solidFill>
            <a:ln w="38100" cap="sq">
              <a:solidFill>
                <a:srgbClr val="00B4D8"/>
              </a:solidFill>
              <a:prstDash val="solid"/>
              <a:miter/>
            </a:ln>
          </p:spPr>
          <p:txBody>
            <a:bodyPr/>
            <a:lstStyle/>
            <a:p>
              <a:endParaRPr lang="en-IN"/>
            </a:p>
          </p:txBody>
        </p:sp>
      </p:grpSp>
      <p:grpSp>
        <p:nvGrpSpPr>
          <p:cNvPr id="31" name="Group 31"/>
          <p:cNvGrpSpPr/>
          <p:nvPr/>
        </p:nvGrpSpPr>
        <p:grpSpPr>
          <a:xfrm>
            <a:off x="13759224" y="2616193"/>
            <a:ext cx="2560320" cy="2011680"/>
            <a:chOff x="2263677" y="335267"/>
            <a:chExt cx="3413760" cy="2682240"/>
          </a:xfrm>
        </p:grpSpPr>
        <p:sp>
          <p:nvSpPr>
            <p:cNvPr id="32" name="Freeform 32" descr="preencoded.png"/>
            <p:cNvSpPr/>
            <p:nvPr/>
          </p:nvSpPr>
          <p:spPr>
            <a:xfrm>
              <a:off x="2263677" y="335267"/>
              <a:ext cx="3413760" cy="2682240"/>
            </a:xfrm>
            <a:custGeom>
              <a:avLst/>
              <a:gdLst/>
              <a:ahLst/>
              <a:cxnLst/>
              <a:rect l="l" t="t" r="r" b="b"/>
              <a:pathLst>
                <a:path w="3413760" h="2682240">
                  <a:moveTo>
                    <a:pt x="0" y="0"/>
                  </a:moveTo>
                  <a:lnTo>
                    <a:pt x="3413760" y="0"/>
                  </a:lnTo>
                  <a:lnTo>
                    <a:pt x="3413760" y="2682240"/>
                  </a:lnTo>
                  <a:lnTo>
                    <a:pt x="0" y="2682240"/>
                  </a:lnTo>
                  <a:lnTo>
                    <a:pt x="0" y="0"/>
                  </a:lnTo>
                  <a:close/>
                </a:path>
              </a:pathLst>
            </a:custGeom>
            <a:blipFill>
              <a:blip r:embed="rId3"/>
              <a:stretch>
                <a:fillRect t="-13636" b="-13636"/>
              </a:stretch>
            </a:blipFill>
          </p:spPr>
          <p:txBody>
            <a:bodyPr/>
            <a:lstStyle/>
            <a:p>
              <a:endParaRPr lang="en-IN" dirty="0"/>
            </a:p>
          </p:txBody>
        </p:sp>
      </p:grpSp>
      <p:sp>
        <p:nvSpPr>
          <p:cNvPr id="33" name="Freeform 33"/>
          <p:cNvSpPr/>
          <p:nvPr/>
        </p:nvSpPr>
        <p:spPr>
          <a:xfrm>
            <a:off x="1084583" y="326778"/>
            <a:ext cx="5339348" cy="1508366"/>
          </a:xfrm>
          <a:custGeom>
            <a:avLst/>
            <a:gdLst/>
            <a:ahLst/>
            <a:cxnLst/>
            <a:rect l="l" t="t" r="r" b="b"/>
            <a:pathLst>
              <a:path w="5339348" h="1508366">
                <a:moveTo>
                  <a:pt x="0" y="0"/>
                </a:moveTo>
                <a:lnTo>
                  <a:pt x="5339348" y="0"/>
                </a:lnTo>
                <a:lnTo>
                  <a:pt x="5339348" y="1508366"/>
                </a:lnTo>
                <a:lnTo>
                  <a:pt x="0" y="1508366"/>
                </a:lnTo>
                <a:lnTo>
                  <a:pt x="0" y="0"/>
                </a:lnTo>
                <a:close/>
              </a:path>
            </a:pathLst>
          </a:custGeom>
          <a:blipFill>
            <a:blip r:embed="rId4"/>
            <a:stretch>
              <a:fillRect/>
            </a:stretch>
          </a:blipFill>
        </p:spPr>
        <p:txBody>
          <a:bodyPr/>
          <a:lstStyle/>
          <a:p>
            <a:endParaRPr lang="en-IN"/>
          </a:p>
        </p:txBody>
      </p:sp>
      <p:sp>
        <p:nvSpPr>
          <p:cNvPr id="34" name="TextBox 34"/>
          <p:cNvSpPr txBox="1"/>
          <p:nvPr/>
        </p:nvSpPr>
        <p:spPr>
          <a:xfrm>
            <a:off x="6863042" y="7143598"/>
            <a:ext cx="11277736" cy="3045770"/>
          </a:xfrm>
          <a:prstGeom prst="rect">
            <a:avLst/>
          </a:prstGeom>
        </p:spPr>
        <p:txBody>
          <a:bodyPr lIns="0" tIns="0" rIns="0" bIns="0" rtlCol="0" anchor="t">
            <a:spAutoFit/>
          </a:bodyPr>
          <a:lstStyle/>
          <a:p>
            <a:pPr>
              <a:lnSpc>
                <a:spcPts val="5969"/>
              </a:lnSpc>
            </a:pPr>
            <a:r>
              <a:rPr lang="en-US" sz="4000" dirty="0">
                <a:solidFill>
                  <a:srgbClr val="FFFFFF"/>
                </a:solidFill>
                <a:latin typeface="DM Serif Display"/>
                <a:ea typeface="DM Serif Display"/>
                <a:cs typeface="DM Serif Display"/>
                <a:sym typeface="DM Serif Display"/>
              </a:rPr>
              <a:t>Sai Meghana- 				BL.EN.U4CSE23132</a:t>
            </a:r>
          </a:p>
          <a:p>
            <a:pPr>
              <a:lnSpc>
                <a:spcPts val="5969"/>
              </a:lnSpc>
            </a:pPr>
            <a:r>
              <a:rPr lang="en-US" sz="4000" dirty="0">
                <a:solidFill>
                  <a:srgbClr val="FFFFFF"/>
                </a:solidFill>
                <a:latin typeface="DM Serif Display"/>
                <a:ea typeface="DM Serif Display"/>
                <a:cs typeface="DM Serif Display"/>
                <a:sym typeface="DM Serif Display"/>
              </a:rPr>
              <a:t>Nagam Sudha Sravanthi-	BL.EN.U4CSE23137</a:t>
            </a:r>
          </a:p>
          <a:p>
            <a:pPr>
              <a:lnSpc>
                <a:spcPts val="5969"/>
              </a:lnSpc>
            </a:pPr>
            <a:r>
              <a:rPr lang="en-US" sz="4000" dirty="0">
                <a:solidFill>
                  <a:srgbClr val="FFFFFF"/>
                </a:solidFill>
                <a:latin typeface="DM Serif Display"/>
                <a:ea typeface="DM Serif Display"/>
                <a:cs typeface="DM Serif Display"/>
                <a:sym typeface="DM Serif Display"/>
              </a:rPr>
              <a:t>Mukkara Sreeja- 			BL.EN.U4CSE23136</a:t>
            </a:r>
          </a:p>
          <a:p>
            <a:pPr>
              <a:lnSpc>
                <a:spcPts val="5969"/>
              </a:lnSpc>
            </a:pPr>
            <a:r>
              <a:rPr lang="en-US" sz="4000" dirty="0" err="1">
                <a:solidFill>
                  <a:srgbClr val="FFFFFF"/>
                </a:solidFill>
                <a:latin typeface="DM Serif Display"/>
                <a:ea typeface="DM Serif Display"/>
                <a:cs typeface="DM Serif Display"/>
                <a:sym typeface="DM Serif Display"/>
              </a:rPr>
              <a:t>k.Lakshmi</a:t>
            </a:r>
            <a:r>
              <a:rPr lang="en-US" sz="4000" dirty="0">
                <a:solidFill>
                  <a:srgbClr val="FFFFFF"/>
                </a:solidFill>
                <a:latin typeface="DM Serif Display"/>
                <a:ea typeface="DM Serif Display"/>
                <a:cs typeface="DM Serif Display"/>
                <a:sym typeface="DM Serif Display"/>
              </a:rPr>
              <a:t> Anvitha- 			BL.EN.U4CSE23130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2">
                <a:alphaModFix amt="0"/>
              </a:blip>
              <a:stretch>
                <a:fillRect t="-79900" b="-79900"/>
              </a:stretch>
            </a:blipFill>
          </p:spPr>
          <p:txBody>
            <a:bodyPr/>
            <a:lstStyle/>
            <a:p>
              <a:endParaRPr lang="en-IN"/>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a:solidFill>
                    <a:srgbClr val="0A0F1E"/>
                  </a:solidFill>
                  <a:latin typeface="Calibri (MS) Bold"/>
                  <a:ea typeface="Calibri (MS) Bold"/>
                  <a:cs typeface="Calibri (MS) Bold"/>
                  <a:sym typeface="Calibri (MS) Bold"/>
                </a:rPr>
                <a:t>INTRODUCTION</a:t>
              </a:r>
            </a:p>
          </p:txBody>
        </p:sp>
      </p:grpSp>
      <p:grpSp>
        <p:nvGrpSpPr>
          <p:cNvPr id="7" name="Group 7"/>
          <p:cNvGrpSpPr/>
          <p:nvPr/>
        </p:nvGrpSpPr>
        <p:grpSpPr>
          <a:xfrm>
            <a:off x="900266" y="1316736"/>
            <a:ext cx="16752570" cy="1500963"/>
            <a:chOff x="-18845" y="0"/>
            <a:chExt cx="22336760" cy="2001284"/>
          </a:xfrm>
        </p:grpSpPr>
        <p:sp>
          <p:nvSpPr>
            <p:cNvPr id="8" name="Freeform 8"/>
            <p:cNvSpPr/>
            <p:nvPr/>
          </p:nvSpPr>
          <p:spPr>
            <a:xfrm>
              <a:off x="0" y="0"/>
              <a:ext cx="21945600" cy="1584960"/>
            </a:xfrm>
            <a:custGeom>
              <a:avLst/>
              <a:gdLst/>
              <a:ahLst/>
              <a:cxnLst/>
              <a:rect l="l" t="t" r="r" b="b"/>
              <a:pathLst>
                <a:path w="21945600" h="1584960">
                  <a:moveTo>
                    <a:pt x="0" y="0"/>
                  </a:moveTo>
                  <a:lnTo>
                    <a:pt x="21945600" y="0"/>
                  </a:lnTo>
                  <a:lnTo>
                    <a:pt x="21945600" y="1584960"/>
                  </a:lnTo>
                  <a:lnTo>
                    <a:pt x="0" y="1584960"/>
                  </a:lnTo>
                  <a:close/>
                </a:path>
              </a:pathLst>
            </a:custGeom>
            <a:blipFill>
              <a:blip r:embed="rId2">
                <a:alphaModFix amt="0"/>
              </a:blip>
              <a:stretch>
                <a:fillRect t="-219792" b="-219792"/>
              </a:stretch>
            </a:blipFill>
          </p:spPr>
          <p:txBody>
            <a:bodyPr/>
            <a:lstStyle/>
            <a:p>
              <a:endParaRPr lang="en-IN"/>
            </a:p>
          </p:txBody>
        </p:sp>
        <p:sp>
          <p:nvSpPr>
            <p:cNvPr id="9" name="TextBox 9"/>
            <p:cNvSpPr txBox="1"/>
            <p:nvPr/>
          </p:nvSpPr>
          <p:spPr>
            <a:xfrm>
              <a:off x="-18845" y="292499"/>
              <a:ext cx="22336760" cy="1708785"/>
            </a:xfrm>
            <a:prstGeom prst="rect">
              <a:avLst/>
            </a:prstGeom>
          </p:spPr>
          <p:txBody>
            <a:bodyPr lIns="0" tIns="0" rIns="0" bIns="0" rtlCol="0" anchor="ctr"/>
            <a:lstStyle/>
            <a:p>
              <a:r>
                <a:rPr lang="en-US" sz="2800" dirty="0" err="1">
                  <a:solidFill>
                    <a:schemeClr val="bg1"/>
                  </a:solidFill>
                  <a:latin typeface="Calibri (MS)" panose="020B0604020202020204" charset="0"/>
                  <a:cs typeface="Calibri (MS)" panose="020B0604020202020204" charset="0"/>
                </a:rPr>
                <a:t>IdlePod</a:t>
              </a:r>
              <a:r>
                <a:rPr lang="en-US" sz="2800" dirty="0">
                  <a:solidFill>
                    <a:schemeClr val="bg1"/>
                  </a:solidFill>
                  <a:latin typeface="Calibri (MS)" panose="020B0604020202020204" charset="0"/>
                  <a:cs typeface="Calibri (MS)" panose="020B0604020202020204" charset="0"/>
                </a:rPr>
                <a:t> is an intelligent cloud-native optimization platform for Kubernetes clusters. It detects idle and underutilized pods, validates findings using machine learning, and performs automated scale-down actions — reducing cloud cost, energy consumption, and resource waste</a:t>
              </a:r>
              <a:r>
                <a:rPr lang="en-US" sz="1400" dirty="0">
                  <a:solidFill>
                    <a:schemeClr val="bg1"/>
                  </a:solidFill>
                  <a:latin typeface="Calibri (MS)" panose="020B0604020202020204" charset="0"/>
                  <a:cs typeface="Calibri (MS)" panose="020B0604020202020204" charset="0"/>
                </a:rPr>
                <a:t>..</a:t>
              </a:r>
              <a:endParaRPr lang="en-US" sz="1200" b="1" dirty="0">
                <a:solidFill>
                  <a:schemeClr val="bg1"/>
                </a:solidFill>
                <a:latin typeface="Calibri (MS)" panose="020B0604020202020204" charset="0"/>
                <a:ea typeface="Calibri (MS) Bold"/>
                <a:cs typeface="Calibri (MS)" panose="020B0604020202020204" charset="0"/>
                <a:sym typeface="Calibri (MS) Bold"/>
              </a:endParaRPr>
            </a:p>
          </p:txBody>
        </p:sp>
      </p:grpSp>
      <p:grpSp>
        <p:nvGrpSpPr>
          <p:cNvPr id="10" name="Group 10"/>
          <p:cNvGrpSpPr/>
          <p:nvPr/>
        </p:nvGrpSpPr>
        <p:grpSpPr>
          <a:xfrm>
            <a:off x="895350" y="3303889"/>
            <a:ext cx="8084820" cy="2781300"/>
            <a:chOff x="0" y="0"/>
            <a:chExt cx="10779760" cy="3708400"/>
          </a:xfrm>
        </p:grpSpPr>
        <p:sp>
          <p:nvSpPr>
            <p:cNvPr id="11" name="Freeform 11"/>
            <p:cNvSpPr/>
            <p:nvPr/>
          </p:nvSpPr>
          <p:spPr>
            <a:xfrm>
              <a:off x="0" y="0"/>
              <a:ext cx="10779760" cy="3708400"/>
            </a:xfrm>
            <a:custGeom>
              <a:avLst/>
              <a:gdLst/>
              <a:ahLst/>
              <a:cxnLst/>
              <a:rect l="l" t="t" r="r" b="b"/>
              <a:pathLst>
                <a:path w="10779760" h="3708400">
                  <a:moveTo>
                    <a:pt x="0" y="0"/>
                  </a:moveTo>
                  <a:lnTo>
                    <a:pt x="10779760" y="0"/>
                  </a:lnTo>
                  <a:lnTo>
                    <a:pt x="10779760" y="3708400"/>
                  </a:lnTo>
                  <a:lnTo>
                    <a:pt x="0" y="3708400"/>
                  </a:lnTo>
                  <a:close/>
                </a:path>
              </a:pathLst>
            </a:custGeom>
            <a:solidFill>
              <a:srgbClr val="1A3D6B"/>
            </a:solidFill>
            <a:ln w="38100" cap="sq">
              <a:solidFill>
                <a:srgbClr val="00B4D8"/>
              </a:solidFill>
              <a:prstDash val="solid"/>
              <a:miter/>
            </a:ln>
          </p:spPr>
          <p:txBody>
            <a:bodyPr/>
            <a:lstStyle/>
            <a:p>
              <a:endParaRPr lang="en-IN"/>
            </a:p>
          </p:txBody>
        </p:sp>
      </p:grpSp>
      <p:grpSp>
        <p:nvGrpSpPr>
          <p:cNvPr id="14" name="Group 14"/>
          <p:cNvGrpSpPr/>
          <p:nvPr/>
        </p:nvGrpSpPr>
        <p:grpSpPr>
          <a:xfrm>
            <a:off x="2437862" y="3690169"/>
            <a:ext cx="6229274" cy="1585919"/>
            <a:chOff x="0" y="-1187967"/>
            <a:chExt cx="8305699" cy="2114559"/>
          </a:xfrm>
        </p:grpSpPr>
        <p:sp>
          <p:nvSpPr>
            <p:cNvPr id="15" name="Freeform 15"/>
            <p:cNvSpPr/>
            <p:nvPr/>
          </p:nvSpPr>
          <p:spPr>
            <a:xfrm>
              <a:off x="0" y="0"/>
              <a:ext cx="8290560" cy="926592"/>
            </a:xfrm>
            <a:custGeom>
              <a:avLst/>
              <a:gdLst/>
              <a:ahLst/>
              <a:cxnLst/>
              <a:rect l="l" t="t" r="r" b="b"/>
              <a:pathLst>
                <a:path w="8290560" h="926592">
                  <a:moveTo>
                    <a:pt x="0" y="0"/>
                  </a:moveTo>
                  <a:lnTo>
                    <a:pt x="8290560" y="0"/>
                  </a:lnTo>
                  <a:lnTo>
                    <a:pt x="8290560" y="926592"/>
                  </a:lnTo>
                  <a:lnTo>
                    <a:pt x="0" y="926592"/>
                  </a:lnTo>
                  <a:close/>
                </a:path>
              </a:pathLst>
            </a:custGeom>
            <a:blipFill>
              <a:blip r:embed="rId2">
                <a:alphaModFix amt="0"/>
              </a:blip>
              <a:stretch>
                <a:fillRect t="-124339" b="-124339"/>
              </a:stretch>
            </a:blipFill>
          </p:spPr>
          <p:txBody>
            <a:bodyPr/>
            <a:lstStyle/>
            <a:p>
              <a:endParaRPr lang="en-IN" dirty="0"/>
            </a:p>
          </p:txBody>
        </p:sp>
        <p:sp>
          <p:nvSpPr>
            <p:cNvPr id="16" name="TextBox 16"/>
            <p:cNvSpPr txBox="1"/>
            <p:nvPr/>
          </p:nvSpPr>
          <p:spPr>
            <a:xfrm>
              <a:off x="15139" y="-1187967"/>
              <a:ext cx="8290560" cy="974217"/>
            </a:xfrm>
            <a:prstGeom prst="rect">
              <a:avLst/>
            </a:prstGeom>
          </p:spPr>
          <p:txBody>
            <a:bodyPr lIns="0" tIns="0" rIns="0" bIns="0" rtlCol="0" anchor="ctr"/>
            <a:lstStyle/>
            <a:p>
              <a:pPr>
                <a:lnSpc>
                  <a:spcPts val="3359"/>
                </a:lnSpc>
              </a:pPr>
              <a:r>
                <a:rPr lang="en-IN" sz="3200" b="1" dirty="0">
                  <a:solidFill>
                    <a:schemeClr val="bg1"/>
                  </a:solidFill>
                </a:rPr>
                <a:t>The Problem</a:t>
              </a:r>
              <a:endParaRPr lang="en-US" sz="2800" b="1" dirty="0">
                <a:solidFill>
                  <a:schemeClr val="bg1"/>
                </a:solidFill>
                <a:latin typeface="Calibri (MS) Bold"/>
                <a:ea typeface="Calibri (MS) Bold"/>
                <a:cs typeface="Calibri (MS) Bold"/>
                <a:sym typeface="Calibri (MS) Bold"/>
              </a:endParaRPr>
            </a:p>
          </p:txBody>
        </p:sp>
      </p:grpSp>
      <p:sp>
        <p:nvSpPr>
          <p:cNvPr id="19" name="TextBox 19"/>
          <p:cNvSpPr txBox="1"/>
          <p:nvPr/>
        </p:nvSpPr>
        <p:spPr>
          <a:xfrm>
            <a:off x="2466422" y="4488602"/>
            <a:ext cx="6217921" cy="1407319"/>
          </a:xfrm>
          <a:prstGeom prst="rect">
            <a:avLst/>
          </a:prstGeom>
        </p:spPr>
        <p:txBody>
          <a:bodyPr lIns="0" tIns="0" rIns="0" bIns="0" rtlCol="0" anchor="ctr"/>
          <a:lstStyle/>
          <a:p>
            <a:pPr>
              <a:lnSpc>
                <a:spcPts val="2640"/>
              </a:lnSpc>
            </a:pPr>
            <a:r>
              <a:rPr lang="en-US" sz="2400" dirty="0">
                <a:solidFill>
                  <a:schemeClr val="bg1"/>
                </a:solidFill>
              </a:rPr>
              <a:t>Kubernetes pods continue running even when barely used. Idle workloads silently waste CPU, memory, cloud capacity, and energy — without delivering useful work.</a:t>
            </a:r>
            <a:endParaRPr lang="en-US" sz="2200" dirty="0">
              <a:solidFill>
                <a:schemeClr val="bg1"/>
              </a:solidFill>
              <a:latin typeface="Calibri (MS)"/>
              <a:ea typeface="Calibri (MS)"/>
              <a:cs typeface="Calibri (MS)"/>
              <a:sym typeface="Calibri (MS)"/>
            </a:endParaRPr>
          </a:p>
        </p:txBody>
      </p:sp>
      <p:grpSp>
        <p:nvGrpSpPr>
          <p:cNvPr id="20" name="Group 20"/>
          <p:cNvGrpSpPr/>
          <p:nvPr/>
        </p:nvGrpSpPr>
        <p:grpSpPr>
          <a:xfrm>
            <a:off x="9563034" y="3290306"/>
            <a:ext cx="8084820" cy="2781300"/>
            <a:chOff x="0" y="0"/>
            <a:chExt cx="10779760" cy="3708400"/>
          </a:xfrm>
        </p:grpSpPr>
        <p:sp>
          <p:nvSpPr>
            <p:cNvPr id="21" name="Freeform 21"/>
            <p:cNvSpPr/>
            <p:nvPr/>
          </p:nvSpPr>
          <p:spPr>
            <a:xfrm>
              <a:off x="0" y="0"/>
              <a:ext cx="10779760" cy="3708400"/>
            </a:xfrm>
            <a:custGeom>
              <a:avLst/>
              <a:gdLst/>
              <a:ahLst/>
              <a:cxnLst/>
              <a:rect l="l" t="t" r="r" b="b"/>
              <a:pathLst>
                <a:path w="10779760" h="3708400">
                  <a:moveTo>
                    <a:pt x="0" y="0"/>
                  </a:moveTo>
                  <a:lnTo>
                    <a:pt x="10779760" y="0"/>
                  </a:lnTo>
                  <a:lnTo>
                    <a:pt x="10779760" y="3708400"/>
                  </a:lnTo>
                  <a:lnTo>
                    <a:pt x="0" y="3708400"/>
                  </a:lnTo>
                  <a:close/>
                </a:path>
              </a:pathLst>
            </a:custGeom>
            <a:solidFill>
              <a:srgbClr val="1A3D6B"/>
            </a:solidFill>
            <a:ln w="38100" cap="sq">
              <a:solidFill>
                <a:srgbClr val="00B4D8"/>
              </a:solidFill>
              <a:prstDash val="solid"/>
              <a:miter/>
            </a:ln>
          </p:spPr>
          <p:txBody>
            <a:bodyPr/>
            <a:lstStyle/>
            <a:p>
              <a:endParaRPr lang="en-IN"/>
            </a:p>
          </p:txBody>
        </p:sp>
      </p:grpSp>
      <p:grpSp>
        <p:nvGrpSpPr>
          <p:cNvPr id="24" name="Group 24"/>
          <p:cNvGrpSpPr/>
          <p:nvPr/>
        </p:nvGrpSpPr>
        <p:grpSpPr>
          <a:xfrm>
            <a:off x="11145233" y="3563416"/>
            <a:ext cx="6228367" cy="898449"/>
            <a:chOff x="-13929" y="0"/>
            <a:chExt cx="8304489" cy="1197932"/>
          </a:xfrm>
        </p:grpSpPr>
        <p:sp>
          <p:nvSpPr>
            <p:cNvPr id="25" name="Freeform 25"/>
            <p:cNvSpPr/>
            <p:nvPr/>
          </p:nvSpPr>
          <p:spPr>
            <a:xfrm>
              <a:off x="0" y="0"/>
              <a:ext cx="8290560" cy="926592"/>
            </a:xfrm>
            <a:custGeom>
              <a:avLst/>
              <a:gdLst/>
              <a:ahLst/>
              <a:cxnLst/>
              <a:rect l="l" t="t" r="r" b="b"/>
              <a:pathLst>
                <a:path w="8290560" h="926592">
                  <a:moveTo>
                    <a:pt x="0" y="0"/>
                  </a:moveTo>
                  <a:lnTo>
                    <a:pt x="8290560" y="0"/>
                  </a:lnTo>
                  <a:lnTo>
                    <a:pt x="8290560" y="926592"/>
                  </a:lnTo>
                  <a:lnTo>
                    <a:pt x="0" y="926592"/>
                  </a:lnTo>
                  <a:close/>
                </a:path>
              </a:pathLst>
            </a:custGeom>
            <a:blipFill>
              <a:blip r:embed="rId2">
                <a:alphaModFix amt="0"/>
              </a:blip>
              <a:stretch>
                <a:fillRect t="-124339" b="-124339"/>
              </a:stretch>
            </a:blipFill>
          </p:spPr>
          <p:txBody>
            <a:bodyPr/>
            <a:lstStyle/>
            <a:p>
              <a:endParaRPr lang="en-IN"/>
            </a:p>
          </p:txBody>
        </p:sp>
        <p:sp>
          <p:nvSpPr>
            <p:cNvPr id="26" name="TextBox 26"/>
            <p:cNvSpPr txBox="1"/>
            <p:nvPr/>
          </p:nvSpPr>
          <p:spPr>
            <a:xfrm>
              <a:off x="-13929" y="223715"/>
              <a:ext cx="8290560" cy="974217"/>
            </a:xfrm>
            <a:prstGeom prst="rect">
              <a:avLst/>
            </a:prstGeom>
          </p:spPr>
          <p:txBody>
            <a:bodyPr lIns="0" tIns="0" rIns="0" bIns="0" rtlCol="0" anchor="ctr"/>
            <a:lstStyle/>
            <a:p>
              <a:pPr>
                <a:lnSpc>
                  <a:spcPts val="3359"/>
                </a:lnSpc>
              </a:pPr>
              <a:r>
                <a:rPr lang="en-IN" sz="3200" b="1" dirty="0">
                  <a:solidFill>
                    <a:schemeClr val="bg1"/>
                  </a:solidFill>
                </a:rPr>
                <a:t>Our Approach</a:t>
              </a:r>
              <a:endParaRPr lang="en-US" sz="2800" b="1" dirty="0">
                <a:solidFill>
                  <a:schemeClr val="bg1"/>
                </a:solidFill>
                <a:latin typeface="Calibri (MS) Bold"/>
                <a:ea typeface="Calibri (MS) Bold"/>
                <a:cs typeface="Calibri (MS) Bold"/>
                <a:sym typeface="Calibri (MS) Bold"/>
              </a:endParaRPr>
            </a:p>
          </p:txBody>
        </p:sp>
      </p:grpSp>
      <p:grpSp>
        <p:nvGrpSpPr>
          <p:cNvPr id="27" name="Group 27"/>
          <p:cNvGrpSpPr/>
          <p:nvPr/>
        </p:nvGrpSpPr>
        <p:grpSpPr>
          <a:xfrm>
            <a:off x="11155680" y="4531470"/>
            <a:ext cx="6217920" cy="1192673"/>
            <a:chOff x="0" y="0"/>
            <a:chExt cx="8290560" cy="2438398"/>
          </a:xfrm>
        </p:grpSpPr>
        <p:sp>
          <p:nvSpPr>
            <p:cNvPr id="28" name="Freeform 28"/>
            <p:cNvSpPr/>
            <p:nvPr/>
          </p:nvSpPr>
          <p:spPr>
            <a:xfrm>
              <a:off x="0" y="0"/>
              <a:ext cx="8290560" cy="1828800"/>
            </a:xfrm>
            <a:custGeom>
              <a:avLst/>
              <a:gdLst/>
              <a:ahLst/>
              <a:cxnLst/>
              <a:rect l="l" t="t" r="r" b="b"/>
              <a:pathLst>
                <a:path w="8290560" h="1828800">
                  <a:moveTo>
                    <a:pt x="0" y="0"/>
                  </a:moveTo>
                  <a:lnTo>
                    <a:pt x="8290560" y="0"/>
                  </a:lnTo>
                  <a:lnTo>
                    <a:pt x="8290560" y="1828800"/>
                  </a:lnTo>
                  <a:lnTo>
                    <a:pt x="0" y="1828800"/>
                  </a:lnTo>
                  <a:close/>
                </a:path>
              </a:pathLst>
            </a:custGeom>
            <a:blipFill>
              <a:blip r:embed="rId2">
                <a:alphaModFix amt="0"/>
              </a:blip>
              <a:stretch>
                <a:fillRect t="-38332" b="-38332"/>
              </a:stretch>
            </a:blipFill>
          </p:spPr>
          <p:txBody>
            <a:bodyPr/>
            <a:lstStyle/>
            <a:p>
              <a:endParaRPr lang="en-IN"/>
            </a:p>
          </p:txBody>
        </p:sp>
        <p:sp>
          <p:nvSpPr>
            <p:cNvPr id="29" name="TextBox 29"/>
            <p:cNvSpPr txBox="1"/>
            <p:nvPr/>
          </p:nvSpPr>
          <p:spPr>
            <a:xfrm>
              <a:off x="0" y="561973"/>
              <a:ext cx="8290560" cy="1876425"/>
            </a:xfrm>
            <a:prstGeom prst="rect">
              <a:avLst/>
            </a:prstGeom>
          </p:spPr>
          <p:txBody>
            <a:bodyPr lIns="0" tIns="0" rIns="0" bIns="0" rtlCol="0" anchor="ctr"/>
            <a:lstStyle/>
            <a:p>
              <a:pPr>
                <a:lnSpc>
                  <a:spcPts val="2640"/>
                </a:lnSpc>
              </a:pPr>
              <a:r>
                <a:rPr lang="en-US" sz="2400" dirty="0">
                  <a:solidFill>
                    <a:schemeClr val="bg1"/>
                  </a:solidFill>
                </a:rPr>
                <a:t>Instead of simple fixed thresholds, </a:t>
              </a:r>
              <a:r>
                <a:rPr lang="en-US" sz="2400" dirty="0" err="1">
                  <a:solidFill>
                    <a:schemeClr val="bg1"/>
                  </a:solidFill>
                </a:rPr>
                <a:t>IdlePod</a:t>
              </a:r>
              <a:r>
                <a:rPr lang="en-US" sz="2400" dirty="0">
                  <a:solidFill>
                    <a:schemeClr val="bg1"/>
                  </a:solidFill>
                </a:rPr>
                <a:t> combines adaptive thresholds, heuristic scoring, and ML validation to make smarter, more accurate optimization decisions.</a:t>
              </a:r>
              <a:endParaRPr lang="en-US" sz="2200" dirty="0">
                <a:solidFill>
                  <a:schemeClr val="bg1"/>
                </a:solidFill>
                <a:latin typeface="Calibri (MS)"/>
                <a:ea typeface="Calibri (MS)"/>
                <a:cs typeface="Calibri (MS)"/>
                <a:sym typeface="Calibri (MS)"/>
              </a:endParaRPr>
            </a:p>
          </p:txBody>
        </p:sp>
      </p:grpSp>
      <p:grpSp>
        <p:nvGrpSpPr>
          <p:cNvPr id="30" name="Group 30"/>
          <p:cNvGrpSpPr/>
          <p:nvPr/>
        </p:nvGrpSpPr>
        <p:grpSpPr>
          <a:xfrm>
            <a:off x="821055" y="6607115"/>
            <a:ext cx="8084820" cy="2781300"/>
            <a:chOff x="0" y="0"/>
            <a:chExt cx="10779760" cy="3708400"/>
          </a:xfrm>
        </p:grpSpPr>
        <p:sp>
          <p:nvSpPr>
            <p:cNvPr id="31" name="Freeform 31"/>
            <p:cNvSpPr/>
            <p:nvPr/>
          </p:nvSpPr>
          <p:spPr>
            <a:xfrm>
              <a:off x="0" y="0"/>
              <a:ext cx="10779760" cy="3708400"/>
            </a:xfrm>
            <a:custGeom>
              <a:avLst/>
              <a:gdLst/>
              <a:ahLst/>
              <a:cxnLst/>
              <a:rect l="l" t="t" r="r" b="b"/>
              <a:pathLst>
                <a:path w="10779760" h="3708400">
                  <a:moveTo>
                    <a:pt x="0" y="0"/>
                  </a:moveTo>
                  <a:lnTo>
                    <a:pt x="10779760" y="0"/>
                  </a:lnTo>
                  <a:lnTo>
                    <a:pt x="10779760" y="3708400"/>
                  </a:lnTo>
                  <a:lnTo>
                    <a:pt x="0" y="3708400"/>
                  </a:lnTo>
                  <a:close/>
                </a:path>
              </a:pathLst>
            </a:custGeom>
            <a:solidFill>
              <a:srgbClr val="1A3D6B"/>
            </a:solidFill>
            <a:ln w="38100" cap="sq">
              <a:solidFill>
                <a:srgbClr val="00B4D8"/>
              </a:solidFill>
              <a:prstDash val="solid"/>
              <a:miter/>
            </a:ln>
          </p:spPr>
          <p:txBody>
            <a:bodyPr/>
            <a:lstStyle/>
            <a:p>
              <a:endParaRPr lang="en-IN"/>
            </a:p>
          </p:txBody>
        </p:sp>
      </p:grpSp>
      <p:grpSp>
        <p:nvGrpSpPr>
          <p:cNvPr id="34" name="Group 34"/>
          <p:cNvGrpSpPr/>
          <p:nvPr/>
        </p:nvGrpSpPr>
        <p:grpSpPr>
          <a:xfrm>
            <a:off x="2466422" y="6400800"/>
            <a:ext cx="6220378" cy="1254870"/>
            <a:chOff x="-3277" y="0"/>
            <a:chExt cx="8293837" cy="1673160"/>
          </a:xfrm>
        </p:grpSpPr>
        <p:sp>
          <p:nvSpPr>
            <p:cNvPr id="35" name="Freeform 35"/>
            <p:cNvSpPr/>
            <p:nvPr/>
          </p:nvSpPr>
          <p:spPr>
            <a:xfrm>
              <a:off x="0" y="0"/>
              <a:ext cx="8290560" cy="926592"/>
            </a:xfrm>
            <a:custGeom>
              <a:avLst/>
              <a:gdLst/>
              <a:ahLst/>
              <a:cxnLst/>
              <a:rect l="l" t="t" r="r" b="b"/>
              <a:pathLst>
                <a:path w="8290560" h="926592">
                  <a:moveTo>
                    <a:pt x="0" y="0"/>
                  </a:moveTo>
                  <a:lnTo>
                    <a:pt x="8290560" y="0"/>
                  </a:lnTo>
                  <a:lnTo>
                    <a:pt x="8290560" y="926592"/>
                  </a:lnTo>
                  <a:lnTo>
                    <a:pt x="0" y="926592"/>
                  </a:lnTo>
                  <a:close/>
                </a:path>
              </a:pathLst>
            </a:custGeom>
            <a:blipFill>
              <a:blip r:embed="rId2">
                <a:alphaModFix amt="0"/>
              </a:blip>
              <a:stretch>
                <a:fillRect t="-124339" b="-124339"/>
              </a:stretch>
            </a:blipFill>
          </p:spPr>
          <p:txBody>
            <a:bodyPr/>
            <a:lstStyle/>
            <a:p>
              <a:endParaRPr lang="en-IN"/>
            </a:p>
          </p:txBody>
        </p:sp>
        <p:sp>
          <p:nvSpPr>
            <p:cNvPr id="36" name="TextBox 36"/>
            <p:cNvSpPr txBox="1"/>
            <p:nvPr/>
          </p:nvSpPr>
          <p:spPr>
            <a:xfrm>
              <a:off x="-3277" y="698943"/>
              <a:ext cx="8290560" cy="974217"/>
            </a:xfrm>
            <a:prstGeom prst="rect">
              <a:avLst/>
            </a:prstGeom>
          </p:spPr>
          <p:txBody>
            <a:bodyPr lIns="0" tIns="0" rIns="0" bIns="0" rtlCol="0" anchor="ctr"/>
            <a:lstStyle/>
            <a:p>
              <a:pPr>
                <a:lnSpc>
                  <a:spcPts val="3359"/>
                </a:lnSpc>
              </a:pPr>
              <a:r>
                <a:rPr lang="en-IN" sz="3200" b="1" dirty="0">
                  <a:solidFill>
                    <a:schemeClr val="bg1"/>
                  </a:solidFill>
                </a:rPr>
                <a:t>Cloud Integration</a:t>
              </a:r>
              <a:endParaRPr lang="en-US" sz="2800" b="1" dirty="0">
                <a:solidFill>
                  <a:schemeClr val="bg1"/>
                </a:solidFill>
                <a:latin typeface="Calibri (MS) Bold"/>
                <a:ea typeface="Calibri (MS) Bold"/>
                <a:cs typeface="Calibri (MS) Bold"/>
                <a:sym typeface="Calibri (MS) Bold"/>
              </a:endParaRPr>
            </a:p>
          </p:txBody>
        </p:sp>
      </p:grpSp>
      <p:grpSp>
        <p:nvGrpSpPr>
          <p:cNvPr id="37" name="Group 37"/>
          <p:cNvGrpSpPr/>
          <p:nvPr/>
        </p:nvGrpSpPr>
        <p:grpSpPr>
          <a:xfrm>
            <a:off x="2468880" y="7617670"/>
            <a:ext cx="6215462" cy="1516615"/>
            <a:chOff x="0" y="0"/>
            <a:chExt cx="8945004" cy="2718054"/>
          </a:xfrm>
        </p:grpSpPr>
        <p:sp>
          <p:nvSpPr>
            <p:cNvPr id="38" name="Freeform 38"/>
            <p:cNvSpPr/>
            <p:nvPr/>
          </p:nvSpPr>
          <p:spPr>
            <a:xfrm>
              <a:off x="0" y="0"/>
              <a:ext cx="8290560" cy="1828800"/>
            </a:xfrm>
            <a:custGeom>
              <a:avLst/>
              <a:gdLst/>
              <a:ahLst/>
              <a:cxnLst/>
              <a:rect l="l" t="t" r="r" b="b"/>
              <a:pathLst>
                <a:path w="8290560" h="1828800">
                  <a:moveTo>
                    <a:pt x="0" y="0"/>
                  </a:moveTo>
                  <a:lnTo>
                    <a:pt x="8290560" y="0"/>
                  </a:lnTo>
                  <a:lnTo>
                    <a:pt x="8290560" y="1828800"/>
                  </a:lnTo>
                  <a:lnTo>
                    <a:pt x="0" y="1828800"/>
                  </a:lnTo>
                  <a:close/>
                </a:path>
              </a:pathLst>
            </a:custGeom>
            <a:blipFill>
              <a:blip r:embed="rId2">
                <a:alphaModFix amt="0"/>
              </a:blip>
              <a:stretch>
                <a:fillRect t="-38332" b="-38332"/>
              </a:stretch>
            </a:blipFill>
          </p:spPr>
          <p:txBody>
            <a:bodyPr/>
            <a:lstStyle/>
            <a:p>
              <a:endParaRPr lang="en-IN"/>
            </a:p>
          </p:txBody>
        </p:sp>
        <p:sp>
          <p:nvSpPr>
            <p:cNvPr id="39" name="TextBox 39"/>
            <p:cNvSpPr txBox="1"/>
            <p:nvPr/>
          </p:nvSpPr>
          <p:spPr>
            <a:xfrm>
              <a:off x="0" y="841630"/>
              <a:ext cx="8945004" cy="1876424"/>
            </a:xfrm>
            <a:prstGeom prst="rect">
              <a:avLst/>
            </a:prstGeom>
          </p:spPr>
          <p:txBody>
            <a:bodyPr lIns="0" tIns="0" rIns="0" bIns="0" rtlCol="0" anchor="ctr"/>
            <a:lstStyle/>
            <a:p>
              <a:pPr>
                <a:lnSpc>
                  <a:spcPts val="2640"/>
                </a:lnSpc>
              </a:pPr>
              <a:r>
                <a:rPr lang="en-US" sz="2400" dirty="0">
                  <a:solidFill>
                    <a:schemeClr val="bg1"/>
                  </a:solidFill>
                </a:rPr>
                <a:t>Real AWS services — SNS, S3, CloudWatch, Lambda — handle alerting, reporting, monitoring, and serverless automation triggered by optimization events.</a:t>
              </a:r>
              <a:endParaRPr lang="en-US" sz="2200" dirty="0">
                <a:solidFill>
                  <a:schemeClr val="bg1"/>
                </a:solidFill>
                <a:latin typeface="Calibri (MS)"/>
                <a:ea typeface="Calibri (MS)"/>
                <a:cs typeface="Calibri (MS)"/>
                <a:sym typeface="Calibri (MS)"/>
              </a:endParaRPr>
            </a:p>
          </p:txBody>
        </p:sp>
      </p:grpSp>
      <p:grpSp>
        <p:nvGrpSpPr>
          <p:cNvPr id="40" name="Group 40"/>
          <p:cNvGrpSpPr/>
          <p:nvPr/>
        </p:nvGrpSpPr>
        <p:grpSpPr>
          <a:xfrm>
            <a:off x="9582150" y="6607115"/>
            <a:ext cx="8084820" cy="2781300"/>
            <a:chOff x="0" y="0"/>
            <a:chExt cx="10779760" cy="3708400"/>
          </a:xfrm>
        </p:grpSpPr>
        <p:sp>
          <p:nvSpPr>
            <p:cNvPr id="41" name="Freeform 41"/>
            <p:cNvSpPr/>
            <p:nvPr/>
          </p:nvSpPr>
          <p:spPr>
            <a:xfrm>
              <a:off x="0" y="0"/>
              <a:ext cx="10779760" cy="3708400"/>
            </a:xfrm>
            <a:custGeom>
              <a:avLst/>
              <a:gdLst/>
              <a:ahLst/>
              <a:cxnLst/>
              <a:rect l="l" t="t" r="r" b="b"/>
              <a:pathLst>
                <a:path w="10779760" h="3708400">
                  <a:moveTo>
                    <a:pt x="0" y="0"/>
                  </a:moveTo>
                  <a:lnTo>
                    <a:pt x="10779760" y="0"/>
                  </a:lnTo>
                  <a:lnTo>
                    <a:pt x="10779760" y="3708400"/>
                  </a:lnTo>
                  <a:lnTo>
                    <a:pt x="0" y="3708400"/>
                  </a:lnTo>
                  <a:close/>
                </a:path>
              </a:pathLst>
            </a:custGeom>
            <a:solidFill>
              <a:srgbClr val="1A3D6B"/>
            </a:solidFill>
            <a:ln w="38100" cap="sq">
              <a:solidFill>
                <a:srgbClr val="00B4D8"/>
              </a:solidFill>
              <a:prstDash val="solid"/>
              <a:miter/>
            </a:ln>
          </p:spPr>
          <p:txBody>
            <a:bodyPr/>
            <a:lstStyle/>
            <a:p>
              <a:endParaRPr lang="en-IN"/>
            </a:p>
          </p:txBody>
        </p:sp>
      </p:grpSp>
      <p:grpSp>
        <p:nvGrpSpPr>
          <p:cNvPr id="44" name="Group 44"/>
          <p:cNvGrpSpPr/>
          <p:nvPr/>
        </p:nvGrpSpPr>
        <p:grpSpPr>
          <a:xfrm>
            <a:off x="11155680" y="6762592"/>
            <a:ext cx="6217920" cy="893077"/>
            <a:chOff x="0" y="531157"/>
            <a:chExt cx="8290560" cy="1190769"/>
          </a:xfrm>
        </p:grpSpPr>
        <p:sp>
          <p:nvSpPr>
            <p:cNvPr id="45" name="Freeform 45"/>
            <p:cNvSpPr/>
            <p:nvPr/>
          </p:nvSpPr>
          <p:spPr>
            <a:xfrm>
              <a:off x="0" y="531157"/>
              <a:ext cx="8290560" cy="926592"/>
            </a:xfrm>
            <a:custGeom>
              <a:avLst/>
              <a:gdLst/>
              <a:ahLst/>
              <a:cxnLst/>
              <a:rect l="l" t="t" r="r" b="b"/>
              <a:pathLst>
                <a:path w="8290560" h="926592">
                  <a:moveTo>
                    <a:pt x="0" y="0"/>
                  </a:moveTo>
                  <a:lnTo>
                    <a:pt x="8290560" y="0"/>
                  </a:lnTo>
                  <a:lnTo>
                    <a:pt x="8290560" y="926592"/>
                  </a:lnTo>
                  <a:lnTo>
                    <a:pt x="0" y="926592"/>
                  </a:lnTo>
                  <a:close/>
                </a:path>
              </a:pathLst>
            </a:custGeom>
            <a:blipFill>
              <a:blip r:embed="rId2">
                <a:alphaModFix amt="0"/>
              </a:blip>
              <a:stretch>
                <a:fillRect t="-124339" b="-124339"/>
              </a:stretch>
            </a:blipFill>
          </p:spPr>
          <p:txBody>
            <a:bodyPr/>
            <a:lstStyle/>
            <a:p>
              <a:endParaRPr lang="en-IN"/>
            </a:p>
          </p:txBody>
        </p:sp>
        <p:sp>
          <p:nvSpPr>
            <p:cNvPr id="46" name="TextBox 46"/>
            <p:cNvSpPr txBox="1"/>
            <p:nvPr/>
          </p:nvSpPr>
          <p:spPr>
            <a:xfrm>
              <a:off x="0" y="747709"/>
              <a:ext cx="8290560" cy="974217"/>
            </a:xfrm>
            <a:prstGeom prst="rect">
              <a:avLst/>
            </a:prstGeom>
          </p:spPr>
          <p:txBody>
            <a:bodyPr lIns="0" tIns="0" rIns="0" bIns="0" rtlCol="0" anchor="ctr"/>
            <a:lstStyle/>
            <a:p>
              <a:pPr>
                <a:lnSpc>
                  <a:spcPts val="3359"/>
                </a:lnSpc>
              </a:pPr>
              <a:r>
                <a:rPr lang="en-IN" sz="3200" b="1" dirty="0">
                  <a:solidFill>
                    <a:schemeClr val="bg1"/>
                  </a:solidFill>
                </a:rPr>
                <a:t>Operator Dashboard</a:t>
              </a:r>
              <a:endParaRPr lang="en-US" sz="2800" b="1" dirty="0">
                <a:solidFill>
                  <a:schemeClr val="bg1"/>
                </a:solidFill>
                <a:latin typeface="Calibri (MS) Bold"/>
                <a:ea typeface="Calibri (MS) Bold"/>
                <a:cs typeface="Calibri (MS) Bold"/>
                <a:sym typeface="Calibri (MS) Bold"/>
              </a:endParaRPr>
            </a:p>
          </p:txBody>
        </p:sp>
      </p:grpSp>
      <p:grpSp>
        <p:nvGrpSpPr>
          <p:cNvPr id="47" name="Group 47"/>
          <p:cNvGrpSpPr/>
          <p:nvPr/>
        </p:nvGrpSpPr>
        <p:grpSpPr>
          <a:xfrm>
            <a:off x="11155680" y="7457536"/>
            <a:ext cx="5939400" cy="1614892"/>
            <a:chOff x="0" y="0"/>
            <a:chExt cx="8335624" cy="2635578"/>
          </a:xfrm>
        </p:grpSpPr>
        <p:sp>
          <p:nvSpPr>
            <p:cNvPr id="48" name="Freeform 48"/>
            <p:cNvSpPr/>
            <p:nvPr/>
          </p:nvSpPr>
          <p:spPr>
            <a:xfrm>
              <a:off x="0" y="0"/>
              <a:ext cx="8290560" cy="1828800"/>
            </a:xfrm>
            <a:custGeom>
              <a:avLst/>
              <a:gdLst/>
              <a:ahLst/>
              <a:cxnLst/>
              <a:rect l="l" t="t" r="r" b="b"/>
              <a:pathLst>
                <a:path w="8290560" h="1828800">
                  <a:moveTo>
                    <a:pt x="0" y="0"/>
                  </a:moveTo>
                  <a:lnTo>
                    <a:pt x="8290560" y="0"/>
                  </a:lnTo>
                  <a:lnTo>
                    <a:pt x="8290560" y="1828800"/>
                  </a:lnTo>
                  <a:lnTo>
                    <a:pt x="0" y="1828800"/>
                  </a:lnTo>
                  <a:close/>
                </a:path>
              </a:pathLst>
            </a:custGeom>
            <a:blipFill>
              <a:blip r:embed="rId2">
                <a:alphaModFix amt="0"/>
              </a:blip>
              <a:stretch>
                <a:fillRect t="-38332" b="-38332"/>
              </a:stretch>
            </a:blipFill>
          </p:spPr>
          <p:txBody>
            <a:bodyPr/>
            <a:lstStyle/>
            <a:p>
              <a:endParaRPr lang="en-IN"/>
            </a:p>
          </p:txBody>
        </p:sp>
        <p:sp>
          <p:nvSpPr>
            <p:cNvPr id="49" name="TextBox 49"/>
            <p:cNvSpPr txBox="1"/>
            <p:nvPr/>
          </p:nvSpPr>
          <p:spPr>
            <a:xfrm>
              <a:off x="45064" y="759153"/>
              <a:ext cx="8290560" cy="1876425"/>
            </a:xfrm>
            <a:prstGeom prst="rect">
              <a:avLst/>
            </a:prstGeom>
          </p:spPr>
          <p:txBody>
            <a:bodyPr lIns="0" tIns="0" rIns="0" bIns="0" rtlCol="0" anchor="ctr"/>
            <a:lstStyle/>
            <a:p>
              <a:pPr>
                <a:lnSpc>
                  <a:spcPts val="2640"/>
                </a:lnSpc>
              </a:pPr>
              <a:r>
                <a:rPr lang="en-US" sz="2400" dirty="0">
                  <a:solidFill>
                    <a:schemeClr val="bg1"/>
                  </a:solidFill>
                </a:rPr>
                <a:t>A React dashboard gives operators full visibility: pod confidence scores, ML predictions, energy savings, AWS status, and optimization history — all in one place.</a:t>
              </a:r>
              <a:endParaRPr lang="en-US" sz="2200" dirty="0">
                <a:solidFill>
                  <a:schemeClr val="bg1"/>
                </a:solidFill>
                <a:latin typeface="Calibri (MS)"/>
                <a:ea typeface="Calibri (MS)"/>
                <a:cs typeface="Calibri (MS)"/>
                <a:sym typeface="Calibri (MS)"/>
              </a:endParaRPr>
            </a:p>
          </p:txBody>
        </p:sp>
      </p:grpSp>
      <p:sp>
        <p:nvSpPr>
          <p:cNvPr id="50" name="Freeform 50"/>
          <p:cNvSpPr/>
          <p:nvPr/>
        </p:nvSpPr>
        <p:spPr>
          <a:xfrm>
            <a:off x="14630400" y="29074"/>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3"/>
            <a:stretch>
              <a:fillRect/>
            </a:stretch>
          </a:blipFill>
        </p:spPr>
        <p:txBody>
          <a:bodyPr/>
          <a:lstStyle/>
          <a:p>
            <a:endParaRPr lang="en-IN"/>
          </a:p>
        </p:txBody>
      </p:sp>
      <p:sp>
        <p:nvSpPr>
          <p:cNvPr id="54" name="TextBox 53">
            <a:extLst>
              <a:ext uri="{FF2B5EF4-FFF2-40B4-BE49-F238E27FC236}">
                <a16:creationId xmlns:a16="http://schemas.microsoft.com/office/drawing/2014/main" id="{BA6CE07B-DDE8-161C-AB8B-5803D21850A7}"/>
              </a:ext>
            </a:extLst>
          </p:cNvPr>
          <p:cNvSpPr txBox="1"/>
          <p:nvPr/>
        </p:nvSpPr>
        <p:spPr>
          <a:xfrm>
            <a:off x="1280160" y="4800701"/>
            <a:ext cx="1154308" cy="830997"/>
          </a:xfrm>
          <a:prstGeom prst="rect">
            <a:avLst/>
          </a:prstGeom>
          <a:noFill/>
        </p:spPr>
        <p:txBody>
          <a:bodyPr wrap="square">
            <a:spAutoFit/>
          </a:bodyPr>
          <a:lstStyle/>
          <a:p>
            <a:r>
              <a:rPr lang="en-IN" sz="4800" dirty="0"/>
              <a:t>🔍</a:t>
            </a:r>
          </a:p>
        </p:txBody>
      </p:sp>
      <p:sp>
        <p:nvSpPr>
          <p:cNvPr id="56" name="TextBox 55">
            <a:extLst>
              <a:ext uri="{FF2B5EF4-FFF2-40B4-BE49-F238E27FC236}">
                <a16:creationId xmlns:a16="http://schemas.microsoft.com/office/drawing/2014/main" id="{7DA0B391-3AA5-19AE-FB64-CC697202100E}"/>
              </a:ext>
            </a:extLst>
          </p:cNvPr>
          <p:cNvSpPr txBox="1"/>
          <p:nvPr/>
        </p:nvSpPr>
        <p:spPr>
          <a:xfrm>
            <a:off x="9947910" y="4763143"/>
            <a:ext cx="732133" cy="923330"/>
          </a:xfrm>
          <a:prstGeom prst="rect">
            <a:avLst/>
          </a:prstGeom>
          <a:noFill/>
        </p:spPr>
        <p:txBody>
          <a:bodyPr wrap="square">
            <a:spAutoFit/>
          </a:bodyPr>
          <a:lstStyle/>
          <a:p>
            <a:r>
              <a:rPr lang="en-IN" sz="5400" dirty="0"/>
              <a:t>⚙️ </a:t>
            </a:r>
          </a:p>
        </p:txBody>
      </p:sp>
      <p:grpSp>
        <p:nvGrpSpPr>
          <p:cNvPr id="59" name="Group 42">
            <a:extLst>
              <a:ext uri="{FF2B5EF4-FFF2-40B4-BE49-F238E27FC236}">
                <a16:creationId xmlns:a16="http://schemas.microsoft.com/office/drawing/2014/main" id="{2D62B318-94D9-77FC-D861-BA1099991878}"/>
              </a:ext>
            </a:extLst>
          </p:cNvPr>
          <p:cNvGrpSpPr/>
          <p:nvPr/>
        </p:nvGrpSpPr>
        <p:grpSpPr>
          <a:xfrm>
            <a:off x="1192920" y="7981646"/>
            <a:ext cx="914400" cy="914400"/>
            <a:chOff x="-25400" y="758467"/>
            <a:chExt cx="1219200" cy="1219200"/>
          </a:xfrm>
        </p:grpSpPr>
        <p:sp>
          <p:nvSpPr>
            <p:cNvPr id="60" name="Freeform 43" descr="preencoded.png">
              <a:extLst>
                <a:ext uri="{FF2B5EF4-FFF2-40B4-BE49-F238E27FC236}">
                  <a16:creationId xmlns:a16="http://schemas.microsoft.com/office/drawing/2014/main" id="{C35A83FA-9D3F-A303-F60D-E7DF4D682AB0}"/>
                </a:ext>
              </a:extLst>
            </p:cNvPr>
            <p:cNvSpPr/>
            <p:nvPr/>
          </p:nvSpPr>
          <p:spPr>
            <a:xfrm>
              <a:off x="-25400" y="758467"/>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4"/>
              <a:stretch>
                <a:fillRect/>
              </a:stretch>
            </a:blipFill>
          </p:spPr>
          <p:txBody>
            <a:bodyPr/>
            <a:lstStyle/>
            <a:p>
              <a:endParaRPr lang="en-IN" dirty="0"/>
            </a:p>
          </p:txBody>
        </p:sp>
      </p:grpSp>
      <p:sp>
        <p:nvSpPr>
          <p:cNvPr id="62" name="TextBox 61">
            <a:extLst>
              <a:ext uri="{FF2B5EF4-FFF2-40B4-BE49-F238E27FC236}">
                <a16:creationId xmlns:a16="http://schemas.microsoft.com/office/drawing/2014/main" id="{9858121D-518D-C055-BD37-4E55C90AD629}"/>
              </a:ext>
            </a:extLst>
          </p:cNvPr>
          <p:cNvSpPr txBox="1"/>
          <p:nvPr/>
        </p:nvSpPr>
        <p:spPr>
          <a:xfrm>
            <a:off x="9803130" y="8087281"/>
            <a:ext cx="1023264" cy="923330"/>
          </a:xfrm>
          <a:prstGeom prst="rect">
            <a:avLst/>
          </a:prstGeom>
          <a:noFill/>
        </p:spPr>
        <p:txBody>
          <a:bodyPr wrap="square">
            <a:spAutoFit/>
          </a:bodyPr>
          <a:lstStyle/>
          <a:p>
            <a:r>
              <a:rPr lang="en-IN" sz="5400" dirty="0"/>
              <a:t>📊</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SectionBg"/>
          <p:cNvSpPr/>
          <p:nvPr/>
        </p:nvSpPr>
        <p:spPr>
          <a:xfrm>
            <a:off x="914400" y="627383"/>
            <a:ext cx="3200400" cy="480060"/>
          </a:xfrm>
          <a:prstGeom prst="rect">
            <a:avLst/>
          </a:prstGeom>
          <a:solidFill>
            <a:srgbClr val="00B4D8"/>
          </a:solidFill>
          <a:ln>
            <a:noFill/>
          </a:ln>
        </p:spPr>
        <p:txBody>
          <a:bodyPr/>
          <a:lstStyle/>
          <a:p>
            <a:endParaRPr lang="en-IN"/>
          </a:p>
        </p:txBody>
      </p:sp>
      <p:sp>
        <p:nvSpPr>
          <p:cNvPr id="3" name="SectionLabel"/>
          <p:cNvSpPr txBox="1"/>
          <p:nvPr/>
        </p:nvSpPr>
        <p:spPr>
          <a:xfrm>
            <a:off x="914400" y="627383"/>
            <a:ext cx="3200400" cy="480060"/>
          </a:xfrm>
          <a:prstGeom prst="rect">
            <a:avLst/>
          </a:prstGeom>
          <a:noFill/>
        </p:spPr>
        <p:txBody>
          <a:bodyPr lIns="91440" tIns="0" rIns="91440" bIns="0" rtlCol="0" anchor="ctr"/>
          <a:lstStyle/>
          <a:p>
            <a:pPr algn="l"/>
            <a:r>
              <a:rPr lang="en-US" sz="1500" b="1">
                <a:solidFill>
                  <a:srgbClr val="0A0F1E"/>
                </a:solidFill>
                <a:latin typeface="Calibri (MS) Bold"/>
              </a:rPr>
              <a:t>LITERATURE SURVEY</a:t>
            </a:r>
          </a:p>
        </p:txBody>
      </p:sp>
      <p:sp>
        <p:nvSpPr>
          <p:cNvPr id="4" name="Title"/>
          <p:cNvSpPr txBox="1"/>
          <p:nvPr/>
        </p:nvSpPr>
        <p:spPr>
          <a:xfrm>
            <a:off x="914400" y="1200000"/>
            <a:ext cx="16800000" cy="820000"/>
          </a:xfrm>
          <a:prstGeom prst="rect">
            <a:avLst/>
          </a:prstGeom>
          <a:noFill/>
        </p:spPr>
        <p:txBody>
          <a:bodyPr lIns="0" tIns="0" rIns="0" bIns="0" rtlCol="0" anchor="ctr"/>
          <a:lstStyle/>
          <a:p>
            <a:pPr algn="l"/>
            <a:r>
              <a:rPr lang="en-US" sz="3000" b="1">
                <a:solidFill>
                  <a:srgbClr val="FFFFFF"/>
                </a:solidFill>
                <a:latin typeface="Calibri (MS) Bold"/>
              </a:rPr>
              <a:t>Summary of Related Work</a:t>
            </a:r>
          </a:p>
        </p:txBody>
      </p:sp>
      <p:sp>
        <p:nvSpPr>
          <p:cNvPr id="5" name="Divider"/>
          <p:cNvSpPr/>
          <p:nvPr/>
        </p:nvSpPr>
        <p:spPr>
          <a:xfrm>
            <a:off x="914400" y="2080000"/>
            <a:ext cx="16800000" cy="32000"/>
          </a:xfrm>
          <a:prstGeom prst="rect">
            <a:avLst/>
          </a:prstGeom>
          <a:solidFill>
            <a:srgbClr val="00B4D8"/>
          </a:solidFill>
          <a:ln>
            <a:noFill/>
          </a:ln>
        </p:spPr>
        <p:txBody>
          <a:bodyPr/>
          <a:lstStyle/>
          <a:p>
            <a:endParaRPr lang="en-IN"/>
          </a:p>
        </p:txBody>
      </p:sp>
      <p:sp>
        <p:nvSpPr>
          <p:cNvPr id="10" name="Card1"/>
          <p:cNvSpPr/>
          <p:nvPr/>
        </p:nvSpPr>
        <p:spPr>
          <a:xfrm>
            <a:off x="914400" y="2199999"/>
            <a:ext cx="8203611" cy="2070001"/>
          </a:xfrm>
          <a:prstGeom prst="rect">
            <a:avLst/>
          </a:prstGeom>
          <a:solidFill>
            <a:srgbClr val="111827"/>
          </a:solidFill>
          <a:ln w="19050">
            <a:solidFill>
              <a:srgbClr val="00B4D8"/>
            </a:solidFill>
          </a:ln>
        </p:spPr>
        <p:txBody>
          <a:bodyPr/>
          <a:lstStyle/>
          <a:p>
            <a:endParaRPr lang="en-IN"/>
          </a:p>
        </p:txBody>
      </p:sp>
      <p:sp>
        <p:nvSpPr>
          <p:cNvPr id="11" name="Card1Text"/>
          <p:cNvSpPr txBox="1"/>
          <p:nvPr/>
        </p:nvSpPr>
        <p:spPr>
          <a:xfrm>
            <a:off x="942646" y="2347742"/>
            <a:ext cx="8128010" cy="1981202"/>
          </a:xfrm>
          <a:prstGeom prst="rect">
            <a:avLst/>
          </a:prstGeom>
          <a:noFill/>
        </p:spPr>
        <p:txBody>
          <a:bodyPr wrap="square" lIns="91440" tIns="45720" rIns="91440" bIns="45720" rtlCol="0" anchor="t"/>
          <a:lstStyle/>
          <a:p>
            <a:r>
              <a:rPr lang="en-US" sz="2400" b="1" dirty="0">
                <a:solidFill>
                  <a:schemeClr val="bg1"/>
                </a:solidFill>
              </a:rPr>
              <a:t>[1] </a:t>
            </a:r>
            <a:r>
              <a:rPr lang="en-US" sz="2400" b="1" dirty="0" err="1">
                <a:solidFill>
                  <a:schemeClr val="bg1"/>
                </a:solidFill>
              </a:rPr>
              <a:t>Senjab</a:t>
            </a:r>
            <a:r>
              <a:rPr lang="en-US" sz="2400" b="1" dirty="0">
                <a:solidFill>
                  <a:schemeClr val="bg1"/>
                </a:solidFill>
              </a:rPr>
              <a:t> et al. (2023)</a:t>
            </a:r>
            <a:r>
              <a:rPr lang="en-US" sz="2400" dirty="0">
                <a:solidFill>
                  <a:schemeClr val="bg1"/>
                </a:solidFill>
              </a:rPr>
              <a:t> — Surveyed Kubernetes scheduling and autoscaling techniques; </a:t>
            </a:r>
            <a:r>
              <a:rPr lang="en-US" sz="2400" dirty="0" err="1">
                <a:solidFill>
                  <a:schemeClr val="bg1"/>
                </a:solidFill>
              </a:rPr>
              <a:t>IdlePod</a:t>
            </a:r>
            <a:r>
              <a:rPr lang="en-US" sz="2400" dirty="0">
                <a:solidFill>
                  <a:schemeClr val="bg1"/>
                </a:solidFill>
              </a:rPr>
              <a:t> extends this with proactive idle workload detection.</a:t>
            </a:r>
            <a:endParaRPr lang="en-US" sz="2400" dirty="0">
              <a:solidFill>
                <a:schemeClr val="bg1"/>
              </a:solidFill>
              <a:latin typeface="Calibri (MS)"/>
            </a:endParaRPr>
          </a:p>
        </p:txBody>
      </p:sp>
      <p:sp>
        <p:nvSpPr>
          <p:cNvPr id="12" name="Card2"/>
          <p:cNvSpPr/>
          <p:nvPr/>
        </p:nvSpPr>
        <p:spPr>
          <a:xfrm>
            <a:off x="9601200" y="2221000"/>
            <a:ext cx="7924800" cy="2065406"/>
          </a:xfrm>
          <a:prstGeom prst="rect">
            <a:avLst/>
          </a:prstGeom>
          <a:solidFill>
            <a:srgbClr val="111827"/>
          </a:solidFill>
          <a:ln w="19050">
            <a:solidFill>
              <a:srgbClr val="FF6B35"/>
            </a:solidFill>
          </a:ln>
        </p:spPr>
        <p:txBody>
          <a:bodyPr/>
          <a:lstStyle/>
          <a:p>
            <a:endParaRPr lang="en-IN"/>
          </a:p>
        </p:txBody>
      </p:sp>
      <p:sp>
        <p:nvSpPr>
          <p:cNvPr id="13" name="Card2Text"/>
          <p:cNvSpPr txBox="1"/>
          <p:nvPr/>
        </p:nvSpPr>
        <p:spPr>
          <a:xfrm>
            <a:off x="9769384" y="2298986"/>
            <a:ext cx="7420616" cy="1715000"/>
          </a:xfrm>
          <a:prstGeom prst="rect">
            <a:avLst/>
          </a:prstGeom>
          <a:noFill/>
        </p:spPr>
        <p:txBody>
          <a:bodyPr wrap="square" lIns="91440" tIns="45720" rIns="91440" bIns="45720" rtlCol="0" anchor="t"/>
          <a:lstStyle/>
          <a:p>
            <a:r>
              <a:rPr lang="en-IN" sz="2400" b="1" dirty="0">
                <a:solidFill>
                  <a:schemeClr val="bg1"/>
                </a:solidFill>
              </a:rPr>
              <a:t>[2] </a:t>
            </a:r>
            <a:r>
              <a:rPr lang="en-IN" sz="2400" b="1" dirty="0" err="1">
                <a:solidFill>
                  <a:schemeClr val="bg1"/>
                </a:solidFill>
              </a:rPr>
              <a:t>Fé</a:t>
            </a:r>
            <a:r>
              <a:rPr lang="en-IN" sz="2400" b="1" dirty="0">
                <a:solidFill>
                  <a:schemeClr val="bg1"/>
                </a:solidFill>
              </a:rPr>
              <a:t> et al. (2025)</a:t>
            </a:r>
            <a:r>
              <a:rPr lang="en-IN" sz="2400" dirty="0">
                <a:solidFill>
                  <a:schemeClr val="bg1"/>
                </a:solidFill>
              </a:rPr>
              <a:t> — Focused on energy-efficient optimization in Kubernetes microservices; </a:t>
            </a:r>
            <a:r>
              <a:rPr lang="en-IN" sz="2400" dirty="0" err="1">
                <a:solidFill>
                  <a:schemeClr val="bg1"/>
                </a:solidFill>
              </a:rPr>
              <a:t>IdlePod</a:t>
            </a:r>
            <a:r>
              <a:rPr lang="en-IN" sz="2400" dirty="0">
                <a:solidFill>
                  <a:schemeClr val="bg1"/>
                </a:solidFill>
              </a:rPr>
              <a:t> provides runtime idle resource elimination.</a:t>
            </a:r>
            <a:endParaRPr lang="en-US" sz="2400" dirty="0">
              <a:solidFill>
                <a:schemeClr val="bg1"/>
              </a:solidFill>
              <a:latin typeface="Calibri (MS)"/>
            </a:endParaRPr>
          </a:p>
        </p:txBody>
      </p:sp>
      <p:sp>
        <p:nvSpPr>
          <p:cNvPr id="20" name="Card4"/>
          <p:cNvSpPr/>
          <p:nvPr/>
        </p:nvSpPr>
        <p:spPr>
          <a:xfrm>
            <a:off x="888412" y="4649851"/>
            <a:ext cx="8242592" cy="1898019"/>
          </a:xfrm>
          <a:prstGeom prst="rect">
            <a:avLst/>
          </a:prstGeom>
          <a:solidFill>
            <a:srgbClr val="111827"/>
          </a:solidFill>
          <a:ln w="19050">
            <a:solidFill>
              <a:srgbClr val="FF6B35"/>
            </a:solidFill>
          </a:ln>
        </p:spPr>
        <p:txBody>
          <a:bodyPr/>
          <a:lstStyle/>
          <a:p>
            <a:endParaRPr lang="en-IN"/>
          </a:p>
        </p:txBody>
      </p:sp>
      <p:sp>
        <p:nvSpPr>
          <p:cNvPr id="21" name="Card4Text"/>
          <p:cNvSpPr txBox="1"/>
          <p:nvPr/>
        </p:nvSpPr>
        <p:spPr>
          <a:xfrm>
            <a:off x="978741" y="4799096"/>
            <a:ext cx="8229599" cy="1770270"/>
          </a:xfrm>
          <a:prstGeom prst="rect">
            <a:avLst/>
          </a:prstGeom>
          <a:noFill/>
        </p:spPr>
        <p:txBody>
          <a:bodyPr wrap="square" lIns="91440" tIns="45720" rIns="91440" bIns="45720" rtlCol="0" anchor="t"/>
          <a:lstStyle/>
          <a:p>
            <a:r>
              <a:rPr lang="en-US" sz="2400" b="1" dirty="0">
                <a:solidFill>
                  <a:schemeClr val="bg1"/>
                </a:solidFill>
              </a:rPr>
              <a:t>[3] Rao &amp; Li (2025)</a:t>
            </a:r>
            <a:r>
              <a:rPr lang="en-US" sz="2400" dirty="0">
                <a:solidFill>
                  <a:schemeClr val="bg1"/>
                </a:solidFill>
              </a:rPr>
              <a:t> — Highlighted idle-state energy consumption in microservices as an open problem; </a:t>
            </a:r>
            <a:r>
              <a:rPr lang="en-US" sz="2400" dirty="0" err="1">
                <a:solidFill>
                  <a:schemeClr val="bg1"/>
                </a:solidFill>
              </a:rPr>
              <a:t>IdlePod</a:t>
            </a:r>
            <a:r>
              <a:rPr lang="en-US" sz="2400" dirty="0">
                <a:solidFill>
                  <a:schemeClr val="bg1"/>
                </a:solidFill>
              </a:rPr>
              <a:t> addresses this using intelligent idle detection.</a:t>
            </a:r>
            <a:endParaRPr lang="en-US" sz="2400" dirty="0">
              <a:solidFill>
                <a:schemeClr val="bg1"/>
              </a:solidFill>
              <a:latin typeface="Calibri (MS)"/>
            </a:endParaRPr>
          </a:p>
        </p:txBody>
      </p:sp>
      <p:sp>
        <p:nvSpPr>
          <p:cNvPr id="22" name="Card5"/>
          <p:cNvSpPr/>
          <p:nvPr/>
        </p:nvSpPr>
        <p:spPr>
          <a:xfrm>
            <a:off x="9829800" y="4649852"/>
            <a:ext cx="7696200" cy="1919514"/>
          </a:xfrm>
          <a:prstGeom prst="rect">
            <a:avLst/>
          </a:prstGeom>
          <a:solidFill>
            <a:srgbClr val="111827"/>
          </a:solidFill>
          <a:ln w="19050">
            <a:solidFill>
              <a:srgbClr val="00B4D8"/>
            </a:solidFill>
          </a:ln>
        </p:spPr>
        <p:txBody>
          <a:bodyPr/>
          <a:lstStyle/>
          <a:p>
            <a:endParaRPr lang="en-IN" dirty="0"/>
          </a:p>
        </p:txBody>
      </p:sp>
      <p:sp>
        <p:nvSpPr>
          <p:cNvPr id="23" name="Card5Text"/>
          <p:cNvSpPr txBox="1"/>
          <p:nvPr/>
        </p:nvSpPr>
        <p:spPr>
          <a:xfrm>
            <a:off x="9864534" y="4630929"/>
            <a:ext cx="7802436" cy="1820000"/>
          </a:xfrm>
          <a:prstGeom prst="rect">
            <a:avLst/>
          </a:prstGeom>
          <a:noFill/>
        </p:spPr>
        <p:txBody>
          <a:bodyPr wrap="square" lIns="91440" tIns="45720" rIns="91440" bIns="45720" rtlCol="0" anchor="t"/>
          <a:lstStyle/>
          <a:p>
            <a:r>
              <a:rPr lang="en-US" sz="2400" b="1" dirty="0">
                <a:solidFill>
                  <a:schemeClr val="bg1"/>
                </a:solidFill>
              </a:rPr>
              <a:t>[4] </a:t>
            </a:r>
            <a:r>
              <a:rPr lang="en-US" sz="2400" b="1" dirty="0" err="1">
                <a:solidFill>
                  <a:schemeClr val="bg1"/>
                </a:solidFill>
              </a:rPr>
              <a:t>Buyya</a:t>
            </a:r>
            <a:r>
              <a:rPr lang="en-US" sz="2400" b="1" dirty="0">
                <a:solidFill>
                  <a:schemeClr val="bg1"/>
                </a:solidFill>
              </a:rPr>
              <a:t> et al. (2024)</a:t>
            </a:r>
            <a:r>
              <a:rPr lang="en-US" sz="2400" dirty="0">
                <a:solidFill>
                  <a:schemeClr val="bg1"/>
                </a:solidFill>
              </a:rPr>
              <a:t> — Proposed learning-centric sustainable cloud computing for reducing energy and carbon footprint; </a:t>
            </a:r>
            <a:r>
              <a:rPr lang="en-US" sz="2400" dirty="0" err="1">
                <a:solidFill>
                  <a:schemeClr val="bg1"/>
                </a:solidFill>
              </a:rPr>
              <a:t>IdlePod</a:t>
            </a:r>
            <a:r>
              <a:rPr lang="en-US" sz="2400" dirty="0">
                <a:solidFill>
                  <a:schemeClr val="bg1"/>
                </a:solidFill>
              </a:rPr>
              <a:t> acts as a practical implementation of this vision.</a:t>
            </a:r>
            <a:endParaRPr lang="en-US" sz="2400" dirty="0">
              <a:solidFill>
                <a:schemeClr val="bg1"/>
              </a:solidFill>
              <a:latin typeface="Calibri (MS)"/>
            </a:endParaRPr>
          </a:p>
        </p:txBody>
      </p:sp>
      <p:sp>
        <p:nvSpPr>
          <p:cNvPr id="30" name="Card7"/>
          <p:cNvSpPr/>
          <p:nvPr/>
        </p:nvSpPr>
        <p:spPr>
          <a:xfrm>
            <a:off x="887163" y="6823863"/>
            <a:ext cx="8256835" cy="1992654"/>
          </a:xfrm>
          <a:prstGeom prst="rect">
            <a:avLst/>
          </a:prstGeom>
          <a:solidFill>
            <a:srgbClr val="111827"/>
          </a:solidFill>
          <a:ln w="19050">
            <a:solidFill>
              <a:srgbClr val="00B4D8"/>
            </a:solidFill>
          </a:ln>
        </p:spPr>
        <p:txBody>
          <a:bodyPr/>
          <a:lstStyle/>
          <a:p>
            <a:endParaRPr lang="en-IN"/>
          </a:p>
        </p:txBody>
      </p:sp>
      <p:sp>
        <p:nvSpPr>
          <p:cNvPr id="31" name="Card7Text"/>
          <p:cNvSpPr txBox="1"/>
          <p:nvPr/>
        </p:nvSpPr>
        <p:spPr>
          <a:xfrm>
            <a:off x="887162" y="6809725"/>
            <a:ext cx="8256835" cy="1794114"/>
          </a:xfrm>
          <a:prstGeom prst="rect">
            <a:avLst/>
          </a:prstGeom>
          <a:noFill/>
        </p:spPr>
        <p:txBody>
          <a:bodyPr wrap="square" lIns="91440" tIns="45720" rIns="91440" bIns="45720" rtlCol="0" anchor="t"/>
          <a:lstStyle/>
          <a:p>
            <a:r>
              <a:rPr lang="en-US" sz="2400" b="1" dirty="0">
                <a:solidFill>
                  <a:schemeClr val="bg1"/>
                </a:solidFill>
              </a:rPr>
              <a:t>[3] Mohamed et al. (2025)</a:t>
            </a:r>
            <a:r>
              <a:rPr lang="en-US" sz="2400" dirty="0">
                <a:solidFill>
                  <a:schemeClr val="bg1"/>
                </a:solidFill>
              </a:rPr>
              <a:t> — Survey on energy efficiency in Kubernetes clusters. </a:t>
            </a:r>
            <a:r>
              <a:rPr lang="en-US" sz="2400" dirty="0" err="1">
                <a:solidFill>
                  <a:schemeClr val="bg1"/>
                </a:solidFill>
              </a:rPr>
              <a:t>IdlePod</a:t>
            </a:r>
            <a:r>
              <a:rPr lang="en-US" sz="2400" dirty="0">
                <a:solidFill>
                  <a:schemeClr val="bg1"/>
                </a:solidFill>
              </a:rPr>
              <a:t> provides a practical optimization platform with energy analytics.</a:t>
            </a:r>
            <a:endParaRPr lang="en-US" sz="2400" dirty="0">
              <a:solidFill>
                <a:schemeClr val="bg1"/>
              </a:solidFill>
              <a:latin typeface="Calibri (MS)"/>
            </a:endParaRPr>
          </a:p>
        </p:txBody>
      </p:sp>
      <p:sp>
        <p:nvSpPr>
          <p:cNvPr id="32" name="Card8"/>
          <p:cNvSpPr/>
          <p:nvPr/>
        </p:nvSpPr>
        <p:spPr>
          <a:xfrm>
            <a:off x="9829800" y="6838437"/>
            <a:ext cx="7696200" cy="1978079"/>
          </a:xfrm>
          <a:prstGeom prst="rect">
            <a:avLst/>
          </a:prstGeom>
          <a:solidFill>
            <a:srgbClr val="111827"/>
          </a:solidFill>
          <a:ln w="19050">
            <a:solidFill>
              <a:srgbClr val="FF6B35"/>
            </a:solidFill>
          </a:ln>
        </p:spPr>
        <p:txBody>
          <a:bodyPr/>
          <a:lstStyle/>
          <a:p>
            <a:endParaRPr lang="en-IN"/>
          </a:p>
        </p:txBody>
      </p:sp>
      <p:sp>
        <p:nvSpPr>
          <p:cNvPr id="33" name="Card8Text"/>
          <p:cNvSpPr txBox="1"/>
          <p:nvPr/>
        </p:nvSpPr>
        <p:spPr>
          <a:xfrm>
            <a:off x="9982200" y="6880429"/>
            <a:ext cx="7684770" cy="1820000"/>
          </a:xfrm>
          <a:prstGeom prst="rect">
            <a:avLst/>
          </a:prstGeom>
          <a:noFill/>
        </p:spPr>
        <p:txBody>
          <a:bodyPr wrap="square" lIns="91440" tIns="45720" rIns="91440" bIns="45720" rtlCol="0" anchor="t"/>
          <a:lstStyle/>
          <a:p>
            <a:r>
              <a:rPr lang="en-IN" sz="2400" b="1" dirty="0">
                <a:solidFill>
                  <a:schemeClr val="bg1"/>
                </a:solidFill>
              </a:rPr>
              <a:t>[6] Kubernetes HPA Documentation (2023)</a:t>
            </a:r>
            <a:r>
              <a:rPr lang="en-IN" sz="2400" dirty="0">
                <a:solidFill>
                  <a:schemeClr val="bg1"/>
                </a:solidFill>
              </a:rPr>
              <a:t> — Kubernetes autoscaling based on utilization metrics. </a:t>
            </a:r>
            <a:r>
              <a:rPr lang="en-IN" sz="2400" dirty="0" err="1">
                <a:solidFill>
                  <a:schemeClr val="bg1"/>
                </a:solidFill>
              </a:rPr>
              <a:t>IdlePod</a:t>
            </a:r>
            <a:r>
              <a:rPr lang="en-IN" sz="2400" dirty="0">
                <a:solidFill>
                  <a:schemeClr val="bg1"/>
                </a:solidFill>
              </a:rPr>
              <a:t> enhances this with multi-signal detection and ML validation.</a:t>
            </a:r>
            <a:endParaRPr lang="en-US" sz="2400" dirty="0">
              <a:solidFill>
                <a:schemeClr val="bg1"/>
              </a:solidFill>
              <a:latin typeface="Calibri (MS)"/>
            </a:endParaRPr>
          </a:p>
        </p:txBody>
      </p:sp>
      <p:sp>
        <p:nvSpPr>
          <p:cNvPr id="50" name="Logo"/>
          <p:cNvSpPr/>
          <p:nvPr/>
        </p:nvSpPr>
        <p:spPr>
          <a:xfrm>
            <a:off x="14114597" y="385195"/>
            <a:ext cx="3552373" cy="1003545"/>
          </a:xfrm>
          <a:prstGeom prst="rect">
            <a:avLst/>
          </a:prstGeom>
          <a:blipFill>
            <a:blip r:embed="rId3"/>
            <a:stretch>
              <a:fillRect/>
            </a:stretch>
          </a:blipFill>
        </p:spPr>
        <p:txBody>
          <a:bodyPr/>
          <a:lstStyle/>
          <a:p>
            <a:endParaRPr lang="en-IN"/>
          </a:p>
        </p:txBody>
      </p:sp>
      <p:sp>
        <p:nvSpPr>
          <p:cNvPr id="7" name="TextBox 6">
            <a:extLst>
              <a:ext uri="{FF2B5EF4-FFF2-40B4-BE49-F238E27FC236}">
                <a16:creationId xmlns:a16="http://schemas.microsoft.com/office/drawing/2014/main" id="{8BDF7ED8-C595-1159-A6F9-88A2530EA956}"/>
              </a:ext>
            </a:extLst>
          </p:cNvPr>
          <p:cNvSpPr txBox="1"/>
          <p:nvPr/>
        </p:nvSpPr>
        <p:spPr>
          <a:xfrm>
            <a:off x="858213" y="9146835"/>
            <a:ext cx="16275600" cy="830997"/>
          </a:xfrm>
          <a:prstGeom prst="rect">
            <a:avLst/>
          </a:prstGeom>
          <a:noFill/>
        </p:spPr>
        <p:txBody>
          <a:bodyPr wrap="square">
            <a:spAutoFit/>
          </a:bodyPr>
          <a:lstStyle/>
          <a:p>
            <a:r>
              <a:rPr lang="en-IN" sz="2400" b="1" dirty="0">
                <a:solidFill>
                  <a:schemeClr val="bg1"/>
                </a:solidFill>
              </a:rPr>
              <a:t>Key Gap Addressed:</a:t>
            </a:r>
            <a:r>
              <a:rPr lang="en-IN" sz="2400" dirty="0">
                <a:solidFill>
                  <a:schemeClr val="bg1"/>
                </a:solidFill>
              </a:rPr>
              <a:t> No prior work combines adaptive thresholds + heuristic idle scoring + ML validation + AWS cloud integration + energy analytics into a single Kubernetes optimization 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3">
                <a:alphaModFix amt="0"/>
              </a:blip>
              <a:stretch>
                <a:fillRect t="-79900" b="-79900"/>
              </a:stretch>
            </a:blipFill>
          </p:spPr>
          <p:txBody>
            <a:bodyPr/>
            <a:lstStyle/>
            <a:p>
              <a:endParaRPr lang="en-IN"/>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dirty="0">
                  <a:solidFill>
                    <a:srgbClr val="0A0F1E"/>
                  </a:solidFill>
                  <a:latin typeface="Calibri (MS) Bold"/>
                  <a:ea typeface="Calibri (MS) Bold"/>
                  <a:cs typeface="Calibri (MS) Bold"/>
                  <a:sym typeface="Calibri (MS) Bold"/>
                </a:rPr>
                <a:t>PROBLEM STATEMENT WE SOLVED</a:t>
              </a:r>
            </a:p>
          </p:txBody>
        </p:sp>
      </p:grpSp>
      <p:grpSp>
        <p:nvGrpSpPr>
          <p:cNvPr id="7" name="Group 7"/>
          <p:cNvGrpSpPr/>
          <p:nvPr/>
        </p:nvGrpSpPr>
        <p:grpSpPr>
          <a:xfrm>
            <a:off x="914400" y="1316736"/>
            <a:ext cx="16459200" cy="1097280"/>
            <a:chOff x="0" y="0"/>
            <a:chExt cx="21945600" cy="1463040"/>
          </a:xfrm>
        </p:grpSpPr>
        <p:sp>
          <p:nvSpPr>
            <p:cNvPr id="8" name="Freeform 8"/>
            <p:cNvSpPr/>
            <p:nvPr/>
          </p:nvSpPr>
          <p:spPr>
            <a:xfrm>
              <a:off x="0" y="0"/>
              <a:ext cx="21945600" cy="1463040"/>
            </a:xfrm>
            <a:custGeom>
              <a:avLst/>
              <a:gdLst/>
              <a:ahLst/>
              <a:cxnLst/>
              <a:rect l="l" t="t" r="r" b="b"/>
              <a:pathLst>
                <a:path w="21945600" h="1463040">
                  <a:moveTo>
                    <a:pt x="0" y="0"/>
                  </a:moveTo>
                  <a:lnTo>
                    <a:pt x="21945600" y="0"/>
                  </a:lnTo>
                  <a:lnTo>
                    <a:pt x="21945600" y="1463040"/>
                  </a:lnTo>
                  <a:lnTo>
                    <a:pt x="0" y="1463040"/>
                  </a:lnTo>
                  <a:close/>
                </a:path>
              </a:pathLst>
            </a:custGeom>
            <a:blipFill>
              <a:blip r:embed="rId3">
                <a:alphaModFix amt="0"/>
              </a:blip>
              <a:stretch>
                <a:fillRect t="-242275" b="-242275"/>
              </a:stretch>
            </a:blipFill>
          </p:spPr>
          <p:txBody>
            <a:bodyPr/>
            <a:lstStyle/>
            <a:p>
              <a:endParaRPr lang="en-IN"/>
            </a:p>
          </p:txBody>
        </p:sp>
        <p:sp>
          <p:nvSpPr>
            <p:cNvPr id="9" name="TextBox 9"/>
            <p:cNvSpPr txBox="1"/>
            <p:nvPr/>
          </p:nvSpPr>
          <p:spPr>
            <a:xfrm>
              <a:off x="0" y="-123825"/>
              <a:ext cx="21945600" cy="1586865"/>
            </a:xfrm>
            <a:prstGeom prst="rect">
              <a:avLst/>
            </a:prstGeom>
          </p:spPr>
          <p:txBody>
            <a:bodyPr lIns="0" tIns="0" rIns="0" bIns="0" rtlCol="0" anchor="ctr"/>
            <a:lstStyle/>
            <a:p>
              <a:pPr algn="l">
                <a:lnSpc>
                  <a:spcPts val="7200"/>
                </a:lnSpc>
              </a:pPr>
              <a:r>
                <a:rPr lang="en-US" sz="6000" b="1">
                  <a:solidFill>
                    <a:srgbClr val="FFFFFF"/>
                  </a:solidFill>
                  <a:latin typeface="Calibri (MS) Bold"/>
                  <a:ea typeface="Calibri (MS) Bold"/>
                  <a:cs typeface="Calibri (MS) Bold"/>
                  <a:sym typeface="Calibri (MS) Bold"/>
                </a:rPr>
                <a:t>The Challenges We Solved</a:t>
              </a:r>
            </a:p>
          </p:txBody>
        </p:sp>
      </p:grpSp>
      <p:grpSp>
        <p:nvGrpSpPr>
          <p:cNvPr id="10" name="Group 10"/>
          <p:cNvGrpSpPr/>
          <p:nvPr/>
        </p:nvGrpSpPr>
        <p:grpSpPr>
          <a:xfrm>
            <a:off x="718823" y="2730503"/>
            <a:ext cx="5420363" cy="3042923"/>
            <a:chOff x="0" y="0"/>
            <a:chExt cx="7227151" cy="4057231"/>
          </a:xfrm>
        </p:grpSpPr>
        <p:sp>
          <p:nvSpPr>
            <p:cNvPr id="11" name="Freeform 11"/>
            <p:cNvSpPr/>
            <p:nvPr/>
          </p:nvSpPr>
          <p:spPr>
            <a:xfrm>
              <a:off x="0" y="0"/>
              <a:ext cx="7227189" cy="4057269"/>
            </a:xfrm>
            <a:custGeom>
              <a:avLst/>
              <a:gdLst/>
              <a:ahLst/>
              <a:cxnLst/>
              <a:rect l="l" t="t" r="r" b="b"/>
              <a:pathLst>
                <a:path w="7227189" h="4057269">
                  <a:moveTo>
                    <a:pt x="0" y="0"/>
                  </a:moveTo>
                  <a:lnTo>
                    <a:pt x="7227189" y="0"/>
                  </a:lnTo>
                  <a:lnTo>
                    <a:pt x="7227189" y="4057269"/>
                  </a:lnTo>
                  <a:lnTo>
                    <a:pt x="0" y="4057269"/>
                  </a:lnTo>
                  <a:close/>
                </a:path>
              </a:pathLst>
            </a:custGeom>
            <a:solidFill>
              <a:srgbClr val="170B0B"/>
            </a:solidFill>
            <a:ln w="25400" cap="sq">
              <a:solidFill>
                <a:srgbClr val="FF6B35"/>
              </a:solidFill>
              <a:prstDash val="solid"/>
              <a:miter/>
            </a:ln>
          </p:spPr>
          <p:txBody>
            <a:bodyPr/>
            <a:lstStyle/>
            <a:p>
              <a:endParaRPr lang="en-IN"/>
            </a:p>
          </p:txBody>
        </p:sp>
      </p:grpSp>
      <p:sp>
        <p:nvSpPr>
          <p:cNvPr id="16" name="TextBox 16"/>
          <p:cNvSpPr txBox="1"/>
          <p:nvPr/>
        </p:nvSpPr>
        <p:spPr>
          <a:xfrm>
            <a:off x="1865376" y="2988945"/>
            <a:ext cx="4023360" cy="723519"/>
          </a:xfrm>
          <a:prstGeom prst="rect">
            <a:avLst/>
          </a:prstGeom>
        </p:spPr>
        <p:txBody>
          <a:bodyPr lIns="0" tIns="0" rIns="0" bIns="0" rtlCol="0" anchor="ctr"/>
          <a:lstStyle/>
          <a:p>
            <a:pPr>
              <a:lnSpc>
                <a:spcPts val="2879"/>
              </a:lnSpc>
            </a:pPr>
            <a:r>
              <a:rPr lang="en-IN" sz="2800" b="1" dirty="0">
                <a:solidFill>
                  <a:srgbClr val="FF6B35"/>
                </a:solidFill>
              </a:rPr>
              <a:t>Idle Resource Waste</a:t>
            </a:r>
            <a:endParaRPr lang="en-US" sz="2800" b="1" dirty="0">
              <a:solidFill>
                <a:srgbClr val="FF6B35"/>
              </a:solidFill>
              <a:latin typeface="Calibri (MS) Bold"/>
              <a:ea typeface="Calibri (MS) Bold"/>
              <a:cs typeface="Calibri (MS) Bold"/>
              <a:sym typeface="Calibri (MS) Bold"/>
            </a:endParaRPr>
          </a:p>
        </p:txBody>
      </p:sp>
      <p:grpSp>
        <p:nvGrpSpPr>
          <p:cNvPr id="17" name="Group 17"/>
          <p:cNvGrpSpPr/>
          <p:nvPr/>
        </p:nvGrpSpPr>
        <p:grpSpPr>
          <a:xfrm>
            <a:off x="950976" y="3877056"/>
            <a:ext cx="4974336" cy="1645920"/>
            <a:chOff x="0" y="0"/>
            <a:chExt cx="6632448" cy="2194560"/>
          </a:xfrm>
        </p:grpSpPr>
        <p:sp>
          <p:nvSpPr>
            <p:cNvPr id="18" name="Freeform 18"/>
            <p:cNvSpPr/>
            <p:nvPr/>
          </p:nvSpPr>
          <p:spPr>
            <a:xfrm>
              <a:off x="0" y="0"/>
              <a:ext cx="6632448" cy="2194560"/>
            </a:xfrm>
            <a:custGeom>
              <a:avLst/>
              <a:gdLst/>
              <a:ahLst/>
              <a:cxnLst/>
              <a:rect l="l" t="t" r="r" b="b"/>
              <a:pathLst>
                <a:path w="6632448" h="2194560">
                  <a:moveTo>
                    <a:pt x="0" y="0"/>
                  </a:moveTo>
                  <a:lnTo>
                    <a:pt x="6632448" y="0"/>
                  </a:lnTo>
                  <a:lnTo>
                    <a:pt x="6632448" y="2194560"/>
                  </a:lnTo>
                  <a:lnTo>
                    <a:pt x="0" y="2194560"/>
                  </a:lnTo>
                  <a:close/>
                </a:path>
              </a:pathLst>
            </a:custGeom>
            <a:blipFill>
              <a:blip r:embed="rId3">
                <a:alphaModFix amt="0"/>
              </a:blip>
              <a:stretch>
                <a:fillRect t="-8888" b="-8888"/>
              </a:stretch>
            </a:blipFill>
          </p:spPr>
          <p:txBody>
            <a:bodyPr/>
            <a:lstStyle/>
            <a:p>
              <a:endParaRPr lang="en-IN"/>
            </a:p>
          </p:txBody>
        </p:sp>
        <p:sp>
          <p:nvSpPr>
            <p:cNvPr id="19" name="TextBox 19"/>
            <p:cNvSpPr txBox="1"/>
            <p:nvPr/>
          </p:nvSpPr>
          <p:spPr>
            <a:xfrm>
              <a:off x="0" y="-38100"/>
              <a:ext cx="6632448" cy="2232660"/>
            </a:xfrm>
            <a:prstGeom prst="rect">
              <a:avLst/>
            </a:prstGeom>
          </p:spPr>
          <p:txBody>
            <a:bodyPr lIns="0" tIns="0" rIns="0" bIns="0" rtlCol="0" anchor="ctr"/>
            <a:lstStyle/>
            <a:p>
              <a:pPr>
                <a:lnSpc>
                  <a:spcPts val="2400"/>
                </a:lnSpc>
              </a:pPr>
              <a:r>
                <a:rPr lang="en-US" sz="2400" dirty="0">
                  <a:solidFill>
                    <a:schemeClr val="bg1"/>
                  </a:solidFill>
                </a:rPr>
                <a:t>Kubernetes pods remain running even during zero-traffic periods. Unused CPU and memory are billed but deliver no value — a direct and avoidable cloud cost.</a:t>
              </a:r>
              <a:endParaRPr lang="en-US" sz="2400" dirty="0">
                <a:solidFill>
                  <a:schemeClr val="bg1"/>
                </a:solidFill>
                <a:latin typeface="Calibri (MS)"/>
                <a:ea typeface="Calibri (MS)"/>
                <a:cs typeface="Calibri (MS)"/>
                <a:sym typeface="Calibri (MS)"/>
              </a:endParaRPr>
            </a:p>
          </p:txBody>
        </p:sp>
      </p:grpSp>
      <p:grpSp>
        <p:nvGrpSpPr>
          <p:cNvPr id="20" name="Group 20"/>
          <p:cNvGrpSpPr/>
          <p:nvPr/>
        </p:nvGrpSpPr>
        <p:grpSpPr>
          <a:xfrm>
            <a:off x="6424679" y="2730503"/>
            <a:ext cx="5420363" cy="3042923"/>
            <a:chOff x="0" y="0"/>
            <a:chExt cx="7227151" cy="4057231"/>
          </a:xfrm>
        </p:grpSpPr>
        <p:sp>
          <p:nvSpPr>
            <p:cNvPr id="21" name="Freeform 21"/>
            <p:cNvSpPr/>
            <p:nvPr/>
          </p:nvSpPr>
          <p:spPr>
            <a:xfrm>
              <a:off x="0" y="0"/>
              <a:ext cx="7227189" cy="4057269"/>
            </a:xfrm>
            <a:custGeom>
              <a:avLst/>
              <a:gdLst/>
              <a:ahLst/>
              <a:cxnLst/>
              <a:rect l="l" t="t" r="r" b="b"/>
              <a:pathLst>
                <a:path w="7227189" h="4057269">
                  <a:moveTo>
                    <a:pt x="0" y="0"/>
                  </a:moveTo>
                  <a:lnTo>
                    <a:pt x="7227189" y="0"/>
                  </a:lnTo>
                  <a:lnTo>
                    <a:pt x="7227189" y="4057269"/>
                  </a:lnTo>
                  <a:lnTo>
                    <a:pt x="0" y="4057269"/>
                  </a:lnTo>
                  <a:close/>
                </a:path>
              </a:pathLst>
            </a:custGeom>
            <a:solidFill>
              <a:srgbClr val="170B0B"/>
            </a:solidFill>
            <a:ln w="25400" cap="sq">
              <a:solidFill>
                <a:srgbClr val="FF6B35"/>
              </a:solidFill>
              <a:prstDash val="solid"/>
              <a:miter/>
            </a:ln>
          </p:spPr>
          <p:txBody>
            <a:bodyPr/>
            <a:lstStyle/>
            <a:p>
              <a:endParaRPr lang="en-IN"/>
            </a:p>
          </p:txBody>
        </p:sp>
      </p:grpSp>
      <p:grpSp>
        <p:nvGrpSpPr>
          <p:cNvPr id="22" name="Group 22"/>
          <p:cNvGrpSpPr/>
          <p:nvPr/>
        </p:nvGrpSpPr>
        <p:grpSpPr>
          <a:xfrm>
            <a:off x="6711696" y="3017520"/>
            <a:ext cx="694944" cy="694944"/>
            <a:chOff x="0" y="0"/>
            <a:chExt cx="926592" cy="926592"/>
          </a:xfrm>
        </p:grpSpPr>
        <p:sp>
          <p:nvSpPr>
            <p:cNvPr id="23" name="Freeform 23" descr="preencoded.png"/>
            <p:cNvSpPr/>
            <p:nvPr/>
          </p:nvSpPr>
          <p:spPr>
            <a:xfrm>
              <a:off x="0" y="0"/>
              <a:ext cx="926592" cy="926592"/>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4"/>
              <a:stretch>
                <a:fillRect/>
              </a:stretch>
            </a:blipFill>
          </p:spPr>
          <p:txBody>
            <a:bodyPr/>
            <a:lstStyle/>
            <a:p>
              <a:endParaRPr lang="en-IN"/>
            </a:p>
          </p:txBody>
        </p:sp>
      </p:grpSp>
      <p:sp>
        <p:nvSpPr>
          <p:cNvPr id="26" name="TextBox 26"/>
          <p:cNvSpPr txBox="1"/>
          <p:nvPr/>
        </p:nvSpPr>
        <p:spPr>
          <a:xfrm>
            <a:off x="7571232" y="2988945"/>
            <a:ext cx="4023360" cy="723519"/>
          </a:xfrm>
          <a:prstGeom prst="rect">
            <a:avLst/>
          </a:prstGeom>
        </p:spPr>
        <p:txBody>
          <a:bodyPr lIns="0" tIns="0" rIns="0" bIns="0" rtlCol="0" anchor="ctr"/>
          <a:lstStyle/>
          <a:p>
            <a:pPr>
              <a:lnSpc>
                <a:spcPts val="2879"/>
              </a:lnSpc>
            </a:pPr>
            <a:r>
              <a:rPr lang="en-IN" sz="2800" b="1" dirty="0">
                <a:solidFill>
                  <a:srgbClr val="FF6B35"/>
                </a:solidFill>
              </a:rPr>
              <a:t>Inaccurate Fixed Thresholds</a:t>
            </a:r>
            <a:endParaRPr lang="en-US" sz="2800" b="1" dirty="0">
              <a:solidFill>
                <a:srgbClr val="FF6B35"/>
              </a:solidFill>
              <a:latin typeface="Calibri (MS) Bold"/>
              <a:ea typeface="Calibri (MS) Bold"/>
              <a:cs typeface="Calibri (MS) Bold"/>
              <a:sym typeface="Calibri (MS) Bold"/>
            </a:endParaRPr>
          </a:p>
        </p:txBody>
      </p:sp>
      <p:grpSp>
        <p:nvGrpSpPr>
          <p:cNvPr id="27" name="Group 27"/>
          <p:cNvGrpSpPr/>
          <p:nvPr/>
        </p:nvGrpSpPr>
        <p:grpSpPr>
          <a:xfrm>
            <a:off x="6656832" y="3877056"/>
            <a:ext cx="4974336" cy="1645920"/>
            <a:chOff x="0" y="0"/>
            <a:chExt cx="6632448" cy="2194560"/>
          </a:xfrm>
        </p:grpSpPr>
        <p:sp>
          <p:nvSpPr>
            <p:cNvPr id="28" name="Freeform 28"/>
            <p:cNvSpPr/>
            <p:nvPr/>
          </p:nvSpPr>
          <p:spPr>
            <a:xfrm>
              <a:off x="0" y="0"/>
              <a:ext cx="6632448" cy="2194560"/>
            </a:xfrm>
            <a:custGeom>
              <a:avLst/>
              <a:gdLst/>
              <a:ahLst/>
              <a:cxnLst/>
              <a:rect l="l" t="t" r="r" b="b"/>
              <a:pathLst>
                <a:path w="6632448" h="2194560">
                  <a:moveTo>
                    <a:pt x="0" y="0"/>
                  </a:moveTo>
                  <a:lnTo>
                    <a:pt x="6632448" y="0"/>
                  </a:lnTo>
                  <a:lnTo>
                    <a:pt x="6632448" y="2194560"/>
                  </a:lnTo>
                  <a:lnTo>
                    <a:pt x="0" y="2194560"/>
                  </a:lnTo>
                  <a:close/>
                </a:path>
              </a:pathLst>
            </a:custGeom>
            <a:blipFill>
              <a:blip r:embed="rId3">
                <a:alphaModFix amt="0"/>
              </a:blip>
              <a:stretch>
                <a:fillRect t="-8888" b="-8888"/>
              </a:stretch>
            </a:blipFill>
          </p:spPr>
          <p:txBody>
            <a:bodyPr/>
            <a:lstStyle/>
            <a:p>
              <a:endParaRPr lang="en-IN"/>
            </a:p>
          </p:txBody>
        </p:sp>
        <p:sp>
          <p:nvSpPr>
            <p:cNvPr id="29" name="TextBox 29"/>
            <p:cNvSpPr txBox="1"/>
            <p:nvPr/>
          </p:nvSpPr>
          <p:spPr>
            <a:xfrm>
              <a:off x="0" y="-38100"/>
              <a:ext cx="6632448" cy="2232660"/>
            </a:xfrm>
            <a:prstGeom prst="rect">
              <a:avLst/>
            </a:prstGeom>
          </p:spPr>
          <p:txBody>
            <a:bodyPr lIns="0" tIns="0" rIns="0" bIns="0" rtlCol="0" anchor="ctr"/>
            <a:lstStyle/>
            <a:p>
              <a:pPr>
                <a:lnSpc>
                  <a:spcPts val="2400"/>
                </a:lnSpc>
              </a:pPr>
              <a:r>
                <a:rPr lang="en-US" sz="2400" dirty="0">
                  <a:solidFill>
                    <a:schemeClr val="bg1"/>
                  </a:solidFill>
                </a:rPr>
                <a:t>Simple "CPU &lt; 10% = idle" rules produce false positives. Services with naturally low utilization are incorrectly flagged; bursty services are incorrectly ignored.</a:t>
              </a:r>
              <a:endParaRPr lang="en-US" sz="2400" dirty="0">
                <a:solidFill>
                  <a:schemeClr val="bg1"/>
                </a:solidFill>
                <a:latin typeface="Calibri (MS)"/>
                <a:ea typeface="Calibri (MS)"/>
                <a:cs typeface="Calibri (MS)"/>
                <a:sym typeface="Calibri (MS)"/>
              </a:endParaRPr>
            </a:p>
          </p:txBody>
        </p:sp>
      </p:grpSp>
      <p:grpSp>
        <p:nvGrpSpPr>
          <p:cNvPr id="30" name="Group 30"/>
          <p:cNvGrpSpPr/>
          <p:nvPr/>
        </p:nvGrpSpPr>
        <p:grpSpPr>
          <a:xfrm>
            <a:off x="12130535" y="2730503"/>
            <a:ext cx="5420363" cy="3042923"/>
            <a:chOff x="0" y="0"/>
            <a:chExt cx="7227151" cy="4057231"/>
          </a:xfrm>
        </p:grpSpPr>
        <p:sp>
          <p:nvSpPr>
            <p:cNvPr id="31" name="Freeform 31"/>
            <p:cNvSpPr/>
            <p:nvPr/>
          </p:nvSpPr>
          <p:spPr>
            <a:xfrm>
              <a:off x="0" y="0"/>
              <a:ext cx="7227189" cy="4057269"/>
            </a:xfrm>
            <a:custGeom>
              <a:avLst/>
              <a:gdLst/>
              <a:ahLst/>
              <a:cxnLst/>
              <a:rect l="l" t="t" r="r" b="b"/>
              <a:pathLst>
                <a:path w="7227189" h="4057269">
                  <a:moveTo>
                    <a:pt x="0" y="0"/>
                  </a:moveTo>
                  <a:lnTo>
                    <a:pt x="7227189" y="0"/>
                  </a:lnTo>
                  <a:lnTo>
                    <a:pt x="7227189" y="4057269"/>
                  </a:lnTo>
                  <a:lnTo>
                    <a:pt x="0" y="4057269"/>
                  </a:lnTo>
                  <a:close/>
                </a:path>
              </a:pathLst>
            </a:custGeom>
            <a:solidFill>
              <a:srgbClr val="170B0B"/>
            </a:solidFill>
            <a:ln w="25400" cap="sq">
              <a:solidFill>
                <a:srgbClr val="FF6B35"/>
              </a:solidFill>
              <a:prstDash val="solid"/>
              <a:miter/>
            </a:ln>
          </p:spPr>
          <p:txBody>
            <a:bodyPr/>
            <a:lstStyle/>
            <a:p>
              <a:endParaRPr lang="en-IN"/>
            </a:p>
          </p:txBody>
        </p:sp>
      </p:grpSp>
      <p:grpSp>
        <p:nvGrpSpPr>
          <p:cNvPr id="32" name="Group 32"/>
          <p:cNvGrpSpPr/>
          <p:nvPr/>
        </p:nvGrpSpPr>
        <p:grpSpPr>
          <a:xfrm>
            <a:off x="12417552" y="3017520"/>
            <a:ext cx="694944" cy="694944"/>
            <a:chOff x="0" y="0"/>
            <a:chExt cx="926592" cy="926592"/>
          </a:xfrm>
        </p:grpSpPr>
        <p:sp>
          <p:nvSpPr>
            <p:cNvPr id="33" name="Freeform 33" descr="preencoded.png"/>
            <p:cNvSpPr/>
            <p:nvPr/>
          </p:nvSpPr>
          <p:spPr>
            <a:xfrm>
              <a:off x="0" y="0"/>
              <a:ext cx="926592" cy="926592"/>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5"/>
              <a:stretch>
                <a:fillRect/>
              </a:stretch>
            </a:blipFill>
          </p:spPr>
          <p:txBody>
            <a:bodyPr/>
            <a:lstStyle/>
            <a:p>
              <a:endParaRPr lang="en-IN"/>
            </a:p>
          </p:txBody>
        </p:sp>
      </p:grpSp>
      <p:grpSp>
        <p:nvGrpSpPr>
          <p:cNvPr id="34" name="Group 34"/>
          <p:cNvGrpSpPr/>
          <p:nvPr/>
        </p:nvGrpSpPr>
        <p:grpSpPr>
          <a:xfrm>
            <a:off x="13277088" y="3017520"/>
            <a:ext cx="4023360" cy="694944"/>
            <a:chOff x="0" y="0"/>
            <a:chExt cx="5364480" cy="926592"/>
          </a:xfrm>
        </p:grpSpPr>
        <p:sp>
          <p:nvSpPr>
            <p:cNvPr id="35" name="Freeform 35"/>
            <p:cNvSpPr/>
            <p:nvPr/>
          </p:nvSpPr>
          <p:spPr>
            <a:xfrm>
              <a:off x="0" y="0"/>
              <a:ext cx="5364480" cy="926592"/>
            </a:xfrm>
            <a:custGeom>
              <a:avLst/>
              <a:gdLst/>
              <a:ahLst/>
              <a:cxnLst/>
              <a:rect l="l" t="t" r="r" b="b"/>
              <a:pathLst>
                <a:path w="5364480" h="926592">
                  <a:moveTo>
                    <a:pt x="0" y="0"/>
                  </a:moveTo>
                  <a:lnTo>
                    <a:pt x="5364480" y="0"/>
                  </a:lnTo>
                  <a:lnTo>
                    <a:pt x="5364480" y="926592"/>
                  </a:lnTo>
                  <a:lnTo>
                    <a:pt x="0" y="926592"/>
                  </a:lnTo>
                  <a:close/>
                </a:path>
              </a:pathLst>
            </a:custGeom>
            <a:blipFill>
              <a:blip r:embed="rId3">
                <a:alphaModFix amt="0"/>
              </a:blip>
              <a:stretch>
                <a:fillRect t="-62808" b="-62808"/>
              </a:stretch>
            </a:blipFill>
          </p:spPr>
          <p:txBody>
            <a:bodyPr/>
            <a:lstStyle/>
            <a:p>
              <a:endParaRPr lang="en-IN"/>
            </a:p>
          </p:txBody>
        </p:sp>
        <p:sp>
          <p:nvSpPr>
            <p:cNvPr id="36" name="TextBox 36"/>
            <p:cNvSpPr txBox="1"/>
            <p:nvPr/>
          </p:nvSpPr>
          <p:spPr>
            <a:xfrm>
              <a:off x="0" y="-38100"/>
              <a:ext cx="5364480" cy="964692"/>
            </a:xfrm>
            <a:prstGeom prst="rect">
              <a:avLst/>
            </a:prstGeom>
          </p:spPr>
          <p:txBody>
            <a:bodyPr lIns="0" tIns="0" rIns="0" bIns="0" rtlCol="0" anchor="ctr"/>
            <a:lstStyle/>
            <a:p>
              <a:pPr>
                <a:lnSpc>
                  <a:spcPts val="2879"/>
                </a:lnSpc>
              </a:pPr>
              <a:r>
                <a:rPr lang="en-IN" sz="2800" b="1" dirty="0">
                  <a:solidFill>
                    <a:srgbClr val="FF6B35"/>
                  </a:solidFill>
                </a:rPr>
                <a:t>No Automated Alerting</a:t>
              </a:r>
              <a:endParaRPr lang="en-US" sz="2800" b="1" dirty="0">
                <a:solidFill>
                  <a:srgbClr val="FF6B35"/>
                </a:solidFill>
                <a:latin typeface="Calibri (MS) Bold"/>
                <a:ea typeface="Calibri (MS) Bold"/>
                <a:cs typeface="Calibri (MS) Bold"/>
                <a:sym typeface="Calibri (MS) Bold"/>
              </a:endParaRPr>
            </a:p>
          </p:txBody>
        </p:sp>
      </p:grpSp>
      <p:grpSp>
        <p:nvGrpSpPr>
          <p:cNvPr id="37" name="Group 37"/>
          <p:cNvGrpSpPr/>
          <p:nvPr/>
        </p:nvGrpSpPr>
        <p:grpSpPr>
          <a:xfrm>
            <a:off x="12362688" y="3877056"/>
            <a:ext cx="4974336" cy="1645920"/>
            <a:chOff x="0" y="0"/>
            <a:chExt cx="6632448" cy="2194560"/>
          </a:xfrm>
        </p:grpSpPr>
        <p:sp>
          <p:nvSpPr>
            <p:cNvPr id="38" name="Freeform 38"/>
            <p:cNvSpPr/>
            <p:nvPr/>
          </p:nvSpPr>
          <p:spPr>
            <a:xfrm>
              <a:off x="0" y="0"/>
              <a:ext cx="6632448" cy="2194560"/>
            </a:xfrm>
            <a:custGeom>
              <a:avLst/>
              <a:gdLst/>
              <a:ahLst/>
              <a:cxnLst/>
              <a:rect l="l" t="t" r="r" b="b"/>
              <a:pathLst>
                <a:path w="6632448" h="2194560">
                  <a:moveTo>
                    <a:pt x="0" y="0"/>
                  </a:moveTo>
                  <a:lnTo>
                    <a:pt x="6632448" y="0"/>
                  </a:lnTo>
                  <a:lnTo>
                    <a:pt x="6632448" y="2194560"/>
                  </a:lnTo>
                  <a:lnTo>
                    <a:pt x="0" y="2194560"/>
                  </a:lnTo>
                  <a:close/>
                </a:path>
              </a:pathLst>
            </a:custGeom>
            <a:blipFill>
              <a:blip r:embed="rId3">
                <a:alphaModFix amt="0"/>
              </a:blip>
              <a:stretch>
                <a:fillRect t="-8888" b="-8888"/>
              </a:stretch>
            </a:blipFill>
          </p:spPr>
          <p:txBody>
            <a:bodyPr/>
            <a:lstStyle/>
            <a:p>
              <a:endParaRPr lang="en-IN"/>
            </a:p>
          </p:txBody>
        </p:sp>
        <p:sp>
          <p:nvSpPr>
            <p:cNvPr id="39" name="TextBox 39"/>
            <p:cNvSpPr txBox="1"/>
            <p:nvPr/>
          </p:nvSpPr>
          <p:spPr>
            <a:xfrm>
              <a:off x="0" y="-38100"/>
              <a:ext cx="6632448" cy="2232660"/>
            </a:xfrm>
            <a:prstGeom prst="rect">
              <a:avLst/>
            </a:prstGeom>
          </p:spPr>
          <p:txBody>
            <a:bodyPr lIns="0" tIns="0" rIns="0" bIns="0" rtlCol="0" anchor="ctr"/>
            <a:lstStyle/>
            <a:p>
              <a:pPr>
                <a:lnSpc>
                  <a:spcPts val="2400"/>
                </a:lnSpc>
              </a:pPr>
              <a:r>
                <a:rPr lang="en-US" sz="2400" dirty="0">
                  <a:solidFill>
                    <a:schemeClr val="bg1"/>
                  </a:solidFill>
                </a:rPr>
                <a:t>Operators have no automated way to receive notifications when idle workloads appear, wasting hours of manual monitoring time.</a:t>
              </a:r>
              <a:endParaRPr lang="en-US" sz="2400" dirty="0">
                <a:solidFill>
                  <a:schemeClr val="bg1"/>
                </a:solidFill>
                <a:latin typeface="Calibri (MS)"/>
                <a:ea typeface="Calibri (MS)"/>
                <a:cs typeface="Calibri (MS)"/>
                <a:sym typeface="Calibri (MS)"/>
              </a:endParaRPr>
            </a:p>
          </p:txBody>
        </p:sp>
      </p:grpSp>
      <p:grpSp>
        <p:nvGrpSpPr>
          <p:cNvPr id="40" name="Group 40"/>
          <p:cNvGrpSpPr/>
          <p:nvPr/>
        </p:nvGrpSpPr>
        <p:grpSpPr>
          <a:xfrm>
            <a:off x="718823" y="6113783"/>
            <a:ext cx="5420363" cy="3042923"/>
            <a:chOff x="0" y="0"/>
            <a:chExt cx="7227151" cy="4057231"/>
          </a:xfrm>
        </p:grpSpPr>
        <p:sp>
          <p:nvSpPr>
            <p:cNvPr id="41" name="Freeform 41"/>
            <p:cNvSpPr/>
            <p:nvPr/>
          </p:nvSpPr>
          <p:spPr>
            <a:xfrm>
              <a:off x="0" y="0"/>
              <a:ext cx="7227189" cy="4057269"/>
            </a:xfrm>
            <a:custGeom>
              <a:avLst/>
              <a:gdLst/>
              <a:ahLst/>
              <a:cxnLst/>
              <a:rect l="l" t="t" r="r" b="b"/>
              <a:pathLst>
                <a:path w="7227189" h="4057269">
                  <a:moveTo>
                    <a:pt x="0" y="0"/>
                  </a:moveTo>
                  <a:lnTo>
                    <a:pt x="7227189" y="0"/>
                  </a:lnTo>
                  <a:lnTo>
                    <a:pt x="7227189" y="4057269"/>
                  </a:lnTo>
                  <a:lnTo>
                    <a:pt x="0" y="4057269"/>
                  </a:lnTo>
                  <a:close/>
                </a:path>
              </a:pathLst>
            </a:custGeom>
            <a:solidFill>
              <a:srgbClr val="170B0B"/>
            </a:solidFill>
            <a:ln w="25400" cap="sq">
              <a:solidFill>
                <a:srgbClr val="FF6B35"/>
              </a:solidFill>
              <a:prstDash val="solid"/>
              <a:miter/>
            </a:ln>
          </p:spPr>
          <p:txBody>
            <a:bodyPr/>
            <a:lstStyle/>
            <a:p>
              <a:endParaRPr lang="en-IN"/>
            </a:p>
          </p:txBody>
        </p:sp>
      </p:grpSp>
      <p:grpSp>
        <p:nvGrpSpPr>
          <p:cNvPr id="42" name="Group 42"/>
          <p:cNvGrpSpPr/>
          <p:nvPr/>
        </p:nvGrpSpPr>
        <p:grpSpPr>
          <a:xfrm>
            <a:off x="944628" y="3023869"/>
            <a:ext cx="694944" cy="694944"/>
            <a:chOff x="2681904" y="-636187"/>
            <a:chExt cx="926592" cy="926592"/>
          </a:xfrm>
        </p:grpSpPr>
        <p:sp>
          <p:nvSpPr>
            <p:cNvPr id="43" name="Freeform 43" descr="preencoded.png"/>
            <p:cNvSpPr/>
            <p:nvPr/>
          </p:nvSpPr>
          <p:spPr>
            <a:xfrm>
              <a:off x="2681904" y="-636187"/>
              <a:ext cx="926592" cy="926592"/>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6"/>
              <a:stretch>
                <a:fillRect/>
              </a:stretch>
            </a:blipFill>
          </p:spPr>
          <p:txBody>
            <a:bodyPr/>
            <a:lstStyle/>
            <a:p>
              <a:endParaRPr lang="en-IN" dirty="0"/>
            </a:p>
          </p:txBody>
        </p:sp>
      </p:grpSp>
      <p:grpSp>
        <p:nvGrpSpPr>
          <p:cNvPr id="44" name="Group 44"/>
          <p:cNvGrpSpPr/>
          <p:nvPr/>
        </p:nvGrpSpPr>
        <p:grpSpPr>
          <a:xfrm>
            <a:off x="1865376" y="6400800"/>
            <a:ext cx="4023360" cy="694944"/>
            <a:chOff x="0" y="0"/>
            <a:chExt cx="5364480" cy="926592"/>
          </a:xfrm>
        </p:grpSpPr>
        <p:sp>
          <p:nvSpPr>
            <p:cNvPr id="45" name="Freeform 45"/>
            <p:cNvSpPr/>
            <p:nvPr/>
          </p:nvSpPr>
          <p:spPr>
            <a:xfrm>
              <a:off x="0" y="0"/>
              <a:ext cx="5364480" cy="926592"/>
            </a:xfrm>
            <a:custGeom>
              <a:avLst/>
              <a:gdLst/>
              <a:ahLst/>
              <a:cxnLst/>
              <a:rect l="l" t="t" r="r" b="b"/>
              <a:pathLst>
                <a:path w="5364480" h="926592">
                  <a:moveTo>
                    <a:pt x="0" y="0"/>
                  </a:moveTo>
                  <a:lnTo>
                    <a:pt x="5364480" y="0"/>
                  </a:lnTo>
                  <a:lnTo>
                    <a:pt x="5364480" y="926592"/>
                  </a:lnTo>
                  <a:lnTo>
                    <a:pt x="0" y="926592"/>
                  </a:lnTo>
                  <a:close/>
                </a:path>
              </a:pathLst>
            </a:custGeom>
            <a:blipFill>
              <a:blip r:embed="rId3">
                <a:alphaModFix amt="0"/>
              </a:blip>
              <a:stretch>
                <a:fillRect t="-62808" b="-62808"/>
              </a:stretch>
            </a:blipFill>
          </p:spPr>
          <p:txBody>
            <a:bodyPr/>
            <a:lstStyle/>
            <a:p>
              <a:endParaRPr lang="en-IN"/>
            </a:p>
          </p:txBody>
        </p:sp>
        <p:sp>
          <p:nvSpPr>
            <p:cNvPr id="46" name="TextBox 46"/>
            <p:cNvSpPr txBox="1"/>
            <p:nvPr/>
          </p:nvSpPr>
          <p:spPr>
            <a:xfrm>
              <a:off x="0" y="-38100"/>
              <a:ext cx="5364480" cy="964692"/>
            </a:xfrm>
            <a:prstGeom prst="rect">
              <a:avLst/>
            </a:prstGeom>
          </p:spPr>
          <p:txBody>
            <a:bodyPr lIns="0" tIns="0" rIns="0" bIns="0" rtlCol="0" anchor="ctr"/>
            <a:lstStyle/>
            <a:p>
              <a:pPr>
                <a:lnSpc>
                  <a:spcPts val="2879"/>
                </a:lnSpc>
              </a:pPr>
              <a:r>
                <a:rPr lang="en-IN" sz="2800" b="1" dirty="0">
                  <a:solidFill>
                    <a:srgbClr val="FF6B35"/>
                  </a:solidFill>
                </a:rPr>
                <a:t>No Multi-Signal Detection</a:t>
              </a:r>
              <a:endParaRPr lang="en-US" sz="2800" b="1" dirty="0">
                <a:solidFill>
                  <a:srgbClr val="FF6B35"/>
                </a:solidFill>
                <a:latin typeface="Calibri (MS) Bold"/>
                <a:ea typeface="Calibri (MS) Bold"/>
                <a:cs typeface="Calibri (MS) Bold"/>
                <a:sym typeface="Calibri (MS) Bold"/>
              </a:endParaRPr>
            </a:p>
          </p:txBody>
        </p:sp>
      </p:grpSp>
      <p:grpSp>
        <p:nvGrpSpPr>
          <p:cNvPr id="47" name="Group 47"/>
          <p:cNvGrpSpPr/>
          <p:nvPr/>
        </p:nvGrpSpPr>
        <p:grpSpPr>
          <a:xfrm>
            <a:off x="950976" y="7260336"/>
            <a:ext cx="4974336" cy="1645920"/>
            <a:chOff x="0" y="0"/>
            <a:chExt cx="6632448" cy="2194560"/>
          </a:xfrm>
        </p:grpSpPr>
        <p:sp>
          <p:nvSpPr>
            <p:cNvPr id="48" name="Freeform 48"/>
            <p:cNvSpPr/>
            <p:nvPr/>
          </p:nvSpPr>
          <p:spPr>
            <a:xfrm>
              <a:off x="0" y="0"/>
              <a:ext cx="6632448" cy="2194560"/>
            </a:xfrm>
            <a:custGeom>
              <a:avLst/>
              <a:gdLst/>
              <a:ahLst/>
              <a:cxnLst/>
              <a:rect l="l" t="t" r="r" b="b"/>
              <a:pathLst>
                <a:path w="6632448" h="2194560">
                  <a:moveTo>
                    <a:pt x="0" y="0"/>
                  </a:moveTo>
                  <a:lnTo>
                    <a:pt x="6632448" y="0"/>
                  </a:lnTo>
                  <a:lnTo>
                    <a:pt x="6632448" y="2194560"/>
                  </a:lnTo>
                  <a:lnTo>
                    <a:pt x="0" y="2194560"/>
                  </a:lnTo>
                  <a:close/>
                </a:path>
              </a:pathLst>
            </a:custGeom>
            <a:blipFill>
              <a:blip r:embed="rId3">
                <a:alphaModFix amt="0"/>
              </a:blip>
              <a:stretch>
                <a:fillRect t="-8888" b="-8888"/>
              </a:stretch>
            </a:blipFill>
          </p:spPr>
          <p:txBody>
            <a:bodyPr/>
            <a:lstStyle/>
            <a:p>
              <a:endParaRPr lang="en-IN"/>
            </a:p>
          </p:txBody>
        </p:sp>
        <p:sp>
          <p:nvSpPr>
            <p:cNvPr id="49" name="TextBox 49"/>
            <p:cNvSpPr txBox="1"/>
            <p:nvPr/>
          </p:nvSpPr>
          <p:spPr>
            <a:xfrm>
              <a:off x="0" y="-38100"/>
              <a:ext cx="6632448" cy="2232660"/>
            </a:xfrm>
            <a:prstGeom prst="rect">
              <a:avLst/>
            </a:prstGeom>
          </p:spPr>
          <p:txBody>
            <a:bodyPr lIns="0" tIns="0" rIns="0" bIns="0" rtlCol="0" anchor="ctr"/>
            <a:lstStyle/>
            <a:p>
              <a:pPr>
                <a:lnSpc>
                  <a:spcPts val="2400"/>
                </a:lnSpc>
              </a:pPr>
              <a:r>
                <a:rPr lang="en-US" sz="2400" dirty="0">
                  <a:solidFill>
                    <a:schemeClr val="bg1"/>
                  </a:solidFill>
                </a:rPr>
                <a:t>Single-metric detection misses real idle behavior. Idle pods may appear active on one metric while being completely inactive on others.</a:t>
              </a:r>
              <a:endParaRPr lang="en-US" sz="2400" dirty="0">
                <a:solidFill>
                  <a:schemeClr val="bg1"/>
                </a:solidFill>
                <a:latin typeface="Calibri (MS)"/>
                <a:ea typeface="Calibri (MS)"/>
                <a:cs typeface="Calibri (MS)"/>
                <a:sym typeface="Calibri (MS)"/>
              </a:endParaRPr>
            </a:p>
          </p:txBody>
        </p:sp>
      </p:grpSp>
      <p:grpSp>
        <p:nvGrpSpPr>
          <p:cNvPr id="50" name="Group 50"/>
          <p:cNvGrpSpPr/>
          <p:nvPr/>
        </p:nvGrpSpPr>
        <p:grpSpPr>
          <a:xfrm>
            <a:off x="6424679" y="6113783"/>
            <a:ext cx="5420363" cy="3042923"/>
            <a:chOff x="0" y="0"/>
            <a:chExt cx="7227151" cy="4057231"/>
          </a:xfrm>
        </p:grpSpPr>
        <p:sp>
          <p:nvSpPr>
            <p:cNvPr id="51" name="Freeform 51"/>
            <p:cNvSpPr/>
            <p:nvPr/>
          </p:nvSpPr>
          <p:spPr>
            <a:xfrm>
              <a:off x="0" y="0"/>
              <a:ext cx="7227189" cy="4057269"/>
            </a:xfrm>
            <a:custGeom>
              <a:avLst/>
              <a:gdLst/>
              <a:ahLst/>
              <a:cxnLst/>
              <a:rect l="l" t="t" r="r" b="b"/>
              <a:pathLst>
                <a:path w="7227189" h="4057269">
                  <a:moveTo>
                    <a:pt x="0" y="0"/>
                  </a:moveTo>
                  <a:lnTo>
                    <a:pt x="7227189" y="0"/>
                  </a:lnTo>
                  <a:lnTo>
                    <a:pt x="7227189" y="4057269"/>
                  </a:lnTo>
                  <a:lnTo>
                    <a:pt x="0" y="4057269"/>
                  </a:lnTo>
                  <a:close/>
                </a:path>
              </a:pathLst>
            </a:custGeom>
            <a:solidFill>
              <a:srgbClr val="170B0B"/>
            </a:solidFill>
            <a:ln w="25400" cap="sq">
              <a:solidFill>
                <a:srgbClr val="FF6B35"/>
              </a:solidFill>
              <a:prstDash val="solid"/>
              <a:miter/>
            </a:ln>
          </p:spPr>
          <p:txBody>
            <a:bodyPr/>
            <a:lstStyle/>
            <a:p>
              <a:endParaRPr lang="en-IN"/>
            </a:p>
          </p:txBody>
        </p:sp>
      </p:grpSp>
      <p:grpSp>
        <p:nvGrpSpPr>
          <p:cNvPr id="52" name="Group 52"/>
          <p:cNvGrpSpPr/>
          <p:nvPr/>
        </p:nvGrpSpPr>
        <p:grpSpPr>
          <a:xfrm>
            <a:off x="6711696" y="6400800"/>
            <a:ext cx="694944" cy="694944"/>
            <a:chOff x="0" y="0"/>
            <a:chExt cx="926592" cy="926592"/>
          </a:xfrm>
        </p:grpSpPr>
        <p:sp>
          <p:nvSpPr>
            <p:cNvPr id="53" name="Freeform 53" descr="preencoded.png"/>
            <p:cNvSpPr/>
            <p:nvPr/>
          </p:nvSpPr>
          <p:spPr>
            <a:xfrm>
              <a:off x="0" y="0"/>
              <a:ext cx="926592" cy="926592"/>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7"/>
              <a:stretch>
                <a:fillRect/>
              </a:stretch>
            </a:blipFill>
          </p:spPr>
          <p:txBody>
            <a:bodyPr/>
            <a:lstStyle/>
            <a:p>
              <a:endParaRPr lang="en-IN"/>
            </a:p>
          </p:txBody>
        </p:sp>
      </p:grpSp>
      <p:grpSp>
        <p:nvGrpSpPr>
          <p:cNvPr id="54" name="Group 54"/>
          <p:cNvGrpSpPr/>
          <p:nvPr/>
        </p:nvGrpSpPr>
        <p:grpSpPr>
          <a:xfrm>
            <a:off x="7571232" y="6400800"/>
            <a:ext cx="4023360" cy="694944"/>
            <a:chOff x="0" y="0"/>
            <a:chExt cx="5364480" cy="926592"/>
          </a:xfrm>
        </p:grpSpPr>
        <p:sp>
          <p:nvSpPr>
            <p:cNvPr id="55" name="Freeform 55"/>
            <p:cNvSpPr/>
            <p:nvPr/>
          </p:nvSpPr>
          <p:spPr>
            <a:xfrm>
              <a:off x="0" y="0"/>
              <a:ext cx="5364480" cy="926592"/>
            </a:xfrm>
            <a:custGeom>
              <a:avLst/>
              <a:gdLst/>
              <a:ahLst/>
              <a:cxnLst/>
              <a:rect l="l" t="t" r="r" b="b"/>
              <a:pathLst>
                <a:path w="5364480" h="926592">
                  <a:moveTo>
                    <a:pt x="0" y="0"/>
                  </a:moveTo>
                  <a:lnTo>
                    <a:pt x="5364480" y="0"/>
                  </a:lnTo>
                  <a:lnTo>
                    <a:pt x="5364480" y="926592"/>
                  </a:lnTo>
                  <a:lnTo>
                    <a:pt x="0" y="926592"/>
                  </a:lnTo>
                  <a:close/>
                </a:path>
              </a:pathLst>
            </a:custGeom>
            <a:blipFill>
              <a:blip r:embed="rId3">
                <a:alphaModFix amt="0"/>
              </a:blip>
              <a:stretch>
                <a:fillRect t="-62808" b="-62808"/>
              </a:stretch>
            </a:blipFill>
          </p:spPr>
          <p:txBody>
            <a:bodyPr/>
            <a:lstStyle/>
            <a:p>
              <a:endParaRPr lang="en-IN"/>
            </a:p>
          </p:txBody>
        </p:sp>
        <p:sp>
          <p:nvSpPr>
            <p:cNvPr id="56" name="TextBox 56"/>
            <p:cNvSpPr txBox="1"/>
            <p:nvPr/>
          </p:nvSpPr>
          <p:spPr>
            <a:xfrm>
              <a:off x="0" y="-38100"/>
              <a:ext cx="5364480" cy="964692"/>
            </a:xfrm>
            <a:prstGeom prst="rect">
              <a:avLst/>
            </a:prstGeom>
          </p:spPr>
          <p:txBody>
            <a:bodyPr lIns="0" tIns="0" rIns="0" bIns="0" rtlCol="0" anchor="ctr"/>
            <a:lstStyle/>
            <a:p>
              <a:pPr>
                <a:lnSpc>
                  <a:spcPts val="2879"/>
                </a:lnSpc>
              </a:pPr>
              <a:r>
                <a:rPr lang="en-IN" sz="2800" b="1" dirty="0">
                  <a:solidFill>
                    <a:srgbClr val="FF6B35"/>
                  </a:solidFill>
                </a:rPr>
                <a:t>Environmental Impact</a:t>
              </a:r>
              <a:endParaRPr lang="en-US" sz="2800" b="1" dirty="0">
                <a:solidFill>
                  <a:srgbClr val="FF6B35"/>
                </a:solidFill>
                <a:latin typeface="Calibri (MS) Bold"/>
                <a:ea typeface="Calibri (MS) Bold"/>
                <a:cs typeface="Calibri (MS) Bold"/>
                <a:sym typeface="Calibri (MS) Bold"/>
              </a:endParaRPr>
            </a:p>
          </p:txBody>
        </p:sp>
      </p:grpSp>
      <p:grpSp>
        <p:nvGrpSpPr>
          <p:cNvPr id="57" name="Group 57"/>
          <p:cNvGrpSpPr/>
          <p:nvPr/>
        </p:nvGrpSpPr>
        <p:grpSpPr>
          <a:xfrm>
            <a:off x="6656832" y="7231761"/>
            <a:ext cx="5077968" cy="1674495"/>
            <a:chOff x="0" y="-38100"/>
            <a:chExt cx="6770624" cy="2232660"/>
          </a:xfrm>
        </p:grpSpPr>
        <p:sp>
          <p:nvSpPr>
            <p:cNvPr id="58" name="Freeform 58"/>
            <p:cNvSpPr/>
            <p:nvPr/>
          </p:nvSpPr>
          <p:spPr>
            <a:xfrm>
              <a:off x="0" y="0"/>
              <a:ext cx="6632448" cy="2194560"/>
            </a:xfrm>
            <a:custGeom>
              <a:avLst/>
              <a:gdLst/>
              <a:ahLst/>
              <a:cxnLst/>
              <a:rect l="l" t="t" r="r" b="b"/>
              <a:pathLst>
                <a:path w="6632448" h="2194560">
                  <a:moveTo>
                    <a:pt x="0" y="0"/>
                  </a:moveTo>
                  <a:lnTo>
                    <a:pt x="6632448" y="0"/>
                  </a:lnTo>
                  <a:lnTo>
                    <a:pt x="6632448" y="2194560"/>
                  </a:lnTo>
                  <a:lnTo>
                    <a:pt x="0" y="2194560"/>
                  </a:lnTo>
                  <a:close/>
                </a:path>
              </a:pathLst>
            </a:custGeom>
            <a:blipFill>
              <a:blip r:embed="rId3">
                <a:alphaModFix amt="0"/>
              </a:blip>
              <a:stretch>
                <a:fillRect t="-8888" b="-8888"/>
              </a:stretch>
            </a:blipFill>
          </p:spPr>
          <p:txBody>
            <a:bodyPr/>
            <a:lstStyle/>
            <a:p>
              <a:endParaRPr lang="en-IN"/>
            </a:p>
          </p:txBody>
        </p:sp>
        <p:sp>
          <p:nvSpPr>
            <p:cNvPr id="59" name="TextBox 59"/>
            <p:cNvSpPr txBox="1"/>
            <p:nvPr/>
          </p:nvSpPr>
          <p:spPr>
            <a:xfrm>
              <a:off x="0" y="-38100"/>
              <a:ext cx="6770624" cy="2232660"/>
            </a:xfrm>
            <a:prstGeom prst="rect">
              <a:avLst/>
            </a:prstGeom>
          </p:spPr>
          <p:txBody>
            <a:bodyPr lIns="0" tIns="0" rIns="0" bIns="0" rtlCol="0" anchor="ctr"/>
            <a:lstStyle/>
            <a:p>
              <a:pPr>
                <a:lnSpc>
                  <a:spcPts val="2400"/>
                </a:lnSpc>
              </a:pPr>
              <a:r>
                <a:rPr lang="en-US" sz="2400" dirty="0">
                  <a:solidFill>
                    <a:schemeClr val="bg1"/>
                  </a:solidFill>
                </a:rPr>
                <a:t>Idle containers consume physical energy, produce CO₂ emissions, and contribute to cloud infrastructure's growing environmental footprint — with no visibility or accountability.</a:t>
              </a:r>
              <a:endParaRPr lang="en-US" sz="2400" dirty="0">
                <a:solidFill>
                  <a:schemeClr val="bg1"/>
                </a:solidFill>
                <a:latin typeface="Calibri (MS)"/>
                <a:ea typeface="Calibri (MS)"/>
                <a:cs typeface="Calibri (MS)"/>
                <a:sym typeface="Calibri (MS)"/>
              </a:endParaRPr>
            </a:p>
          </p:txBody>
        </p:sp>
      </p:grpSp>
      <p:grpSp>
        <p:nvGrpSpPr>
          <p:cNvPr id="60" name="Group 60"/>
          <p:cNvGrpSpPr/>
          <p:nvPr/>
        </p:nvGrpSpPr>
        <p:grpSpPr>
          <a:xfrm>
            <a:off x="12130535" y="6113783"/>
            <a:ext cx="5420363" cy="3042923"/>
            <a:chOff x="0" y="0"/>
            <a:chExt cx="7227151" cy="4057231"/>
          </a:xfrm>
        </p:grpSpPr>
        <p:sp>
          <p:nvSpPr>
            <p:cNvPr id="61" name="Freeform 61"/>
            <p:cNvSpPr/>
            <p:nvPr/>
          </p:nvSpPr>
          <p:spPr>
            <a:xfrm>
              <a:off x="0" y="0"/>
              <a:ext cx="7227189" cy="4057269"/>
            </a:xfrm>
            <a:custGeom>
              <a:avLst/>
              <a:gdLst/>
              <a:ahLst/>
              <a:cxnLst/>
              <a:rect l="l" t="t" r="r" b="b"/>
              <a:pathLst>
                <a:path w="7227189" h="4057269">
                  <a:moveTo>
                    <a:pt x="0" y="0"/>
                  </a:moveTo>
                  <a:lnTo>
                    <a:pt x="7227189" y="0"/>
                  </a:lnTo>
                  <a:lnTo>
                    <a:pt x="7227189" y="4057269"/>
                  </a:lnTo>
                  <a:lnTo>
                    <a:pt x="0" y="4057269"/>
                  </a:lnTo>
                  <a:close/>
                </a:path>
              </a:pathLst>
            </a:custGeom>
            <a:solidFill>
              <a:srgbClr val="170B0B"/>
            </a:solidFill>
            <a:ln w="25400" cap="sq">
              <a:solidFill>
                <a:srgbClr val="FF6B35"/>
              </a:solidFill>
              <a:prstDash val="solid"/>
              <a:miter/>
            </a:ln>
          </p:spPr>
          <p:txBody>
            <a:bodyPr/>
            <a:lstStyle/>
            <a:p>
              <a:endParaRPr lang="en-IN"/>
            </a:p>
          </p:txBody>
        </p:sp>
      </p:grpSp>
      <p:grpSp>
        <p:nvGrpSpPr>
          <p:cNvPr id="62" name="Group 62"/>
          <p:cNvGrpSpPr/>
          <p:nvPr/>
        </p:nvGrpSpPr>
        <p:grpSpPr>
          <a:xfrm>
            <a:off x="12417552" y="6400800"/>
            <a:ext cx="694944" cy="694944"/>
            <a:chOff x="0" y="0"/>
            <a:chExt cx="926592" cy="926592"/>
          </a:xfrm>
        </p:grpSpPr>
        <p:sp>
          <p:nvSpPr>
            <p:cNvPr id="63" name="Freeform 63" descr="preencoded.png"/>
            <p:cNvSpPr/>
            <p:nvPr/>
          </p:nvSpPr>
          <p:spPr>
            <a:xfrm>
              <a:off x="0" y="0"/>
              <a:ext cx="926592" cy="926592"/>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8"/>
              <a:stretch>
                <a:fillRect/>
              </a:stretch>
            </a:blipFill>
          </p:spPr>
          <p:txBody>
            <a:bodyPr/>
            <a:lstStyle/>
            <a:p>
              <a:endParaRPr lang="en-IN"/>
            </a:p>
          </p:txBody>
        </p:sp>
      </p:grpSp>
      <p:grpSp>
        <p:nvGrpSpPr>
          <p:cNvPr id="64" name="Group 64"/>
          <p:cNvGrpSpPr/>
          <p:nvPr/>
        </p:nvGrpSpPr>
        <p:grpSpPr>
          <a:xfrm>
            <a:off x="13277088" y="6400800"/>
            <a:ext cx="4023360" cy="694944"/>
            <a:chOff x="0" y="0"/>
            <a:chExt cx="5364480" cy="926592"/>
          </a:xfrm>
        </p:grpSpPr>
        <p:sp>
          <p:nvSpPr>
            <p:cNvPr id="65" name="Freeform 65"/>
            <p:cNvSpPr/>
            <p:nvPr/>
          </p:nvSpPr>
          <p:spPr>
            <a:xfrm>
              <a:off x="0" y="0"/>
              <a:ext cx="5364480" cy="926592"/>
            </a:xfrm>
            <a:custGeom>
              <a:avLst/>
              <a:gdLst/>
              <a:ahLst/>
              <a:cxnLst/>
              <a:rect l="l" t="t" r="r" b="b"/>
              <a:pathLst>
                <a:path w="5364480" h="926592">
                  <a:moveTo>
                    <a:pt x="0" y="0"/>
                  </a:moveTo>
                  <a:lnTo>
                    <a:pt x="5364480" y="0"/>
                  </a:lnTo>
                  <a:lnTo>
                    <a:pt x="5364480" y="926592"/>
                  </a:lnTo>
                  <a:lnTo>
                    <a:pt x="0" y="926592"/>
                  </a:lnTo>
                  <a:close/>
                </a:path>
              </a:pathLst>
            </a:custGeom>
            <a:blipFill>
              <a:blip r:embed="rId3">
                <a:alphaModFix amt="0"/>
              </a:blip>
              <a:stretch>
                <a:fillRect t="-62808" b="-62808"/>
              </a:stretch>
            </a:blipFill>
          </p:spPr>
          <p:txBody>
            <a:bodyPr/>
            <a:lstStyle/>
            <a:p>
              <a:endParaRPr lang="en-IN"/>
            </a:p>
          </p:txBody>
        </p:sp>
        <p:sp>
          <p:nvSpPr>
            <p:cNvPr id="66" name="TextBox 66"/>
            <p:cNvSpPr txBox="1"/>
            <p:nvPr/>
          </p:nvSpPr>
          <p:spPr>
            <a:xfrm>
              <a:off x="0" y="-38100"/>
              <a:ext cx="5364480" cy="964692"/>
            </a:xfrm>
            <a:prstGeom prst="rect">
              <a:avLst/>
            </a:prstGeom>
          </p:spPr>
          <p:txBody>
            <a:bodyPr lIns="0" tIns="0" rIns="0" bIns="0" rtlCol="0" anchor="ctr"/>
            <a:lstStyle/>
            <a:p>
              <a:pPr>
                <a:lnSpc>
                  <a:spcPts val="2879"/>
                </a:lnSpc>
              </a:pPr>
              <a:r>
                <a:rPr lang="en-IN" sz="2800" b="1" dirty="0">
                  <a:solidFill>
                    <a:srgbClr val="FF6B35"/>
                  </a:solidFill>
                </a:rPr>
                <a:t>Unsafe Optimization Risk</a:t>
              </a:r>
              <a:endParaRPr lang="en-US" sz="2800" b="1" dirty="0">
                <a:solidFill>
                  <a:srgbClr val="FF6B35"/>
                </a:solidFill>
                <a:latin typeface="Calibri (MS) Bold"/>
                <a:ea typeface="Calibri (MS) Bold"/>
                <a:cs typeface="Calibri (MS) Bold"/>
                <a:sym typeface="Calibri (MS) Bold"/>
              </a:endParaRPr>
            </a:p>
          </p:txBody>
        </p:sp>
      </p:grpSp>
      <p:grpSp>
        <p:nvGrpSpPr>
          <p:cNvPr id="67" name="Group 67"/>
          <p:cNvGrpSpPr/>
          <p:nvPr/>
        </p:nvGrpSpPr>
        <p:grpSpPr>
          <a:xfrm>
            <a:off x="12362688" y="7260336"/>
            <a:ext cx="4974336" cy="1645920"/>
            <a:chOff x="0" y="0"/>
            <a:chExt cx="6632448" cy="2194560"/>
          </a:xfrm>
        </p:grpSpPr>
        <p:sp>
          <p:nvSpPr>
            <p:cNvPr id="68" name="Freeform 68"/>
            <p:cNvSpPr/>
            <p:nvPr/>
          </p:nvSpPr>
          <p:spPr>
            <a:xfrm>
              <a:off x="0" y="0"/>
              <a:ext cx="6632448" cy="2194560"/>
            </a:xfrm>
            <a:custGeom>
              <a:avLst/>
              <a:gdLst/>
              <a:ahLst/>
              <a:cxnLst/>
              <a:rect l="l" t="t" r="r" b="b"/>
              <a:pathLst>
                <a:path w="6632448" h="2194560">
                  <a:moveTo>
                    <a:pt x="0" y="0"/>
                  </a:moveTo>
                  <a:lnTo>
                    <a:pt x="6632448" y="0"/>
                  </a:lnTo>
                  <a:lnTo>
                    <a:pt x="6632448" y="2194560"/>
                  </a:lnTo>
                  <a:lnTo>
                    <a:pt x="0" y="2194560"/>
                  </a:lnTo>
                  <a:close/>
                </a:path>
              </a:pathLst>
            </a:custGeom>
            <a:blipFill>
              <a:blip r:embed="rId3">
                <a:alphaModFix amt="0"/>
              </a:blip>
              <a:stretch>
                <a:fillRect t="-8888" b="-8888"/>
              </a:stretch>
            </a:blipFill>
          </p:spPr>
          <p:txBody>
            <a:bodyPr/>
            <a:lstStyle/>
            <a:p>
              <a:endParaRPr lang="en-IN"/>
            </a:p>
          </p:txBody>
        </p:sp>
        <p:sp>
          <p:nvSpPr>
            <p:cNvPr id="69" name="TextBox 69"/>
            <p:cNvSpPr txBox="1"/>
            <p:nvPr/>
          </p:nvSpPr>
          <p:spPr>
            <a:xfrm>
              <a:off x="0" y="-38100"/>
              <a:ext cx="6632448" cy="2232660"/>
            </a:xfrm>
            <a:prstGeom prst="rect">
              <a:avLst/>
            </a:prstGeom>
          </p:spPr>
          <p:txBody>
            <a:bodyPr lIns="0" tIns="0" rIns="0" bIns="0" rtlCol="0" anchor="ctr"/>
            <a:lstStyle/>
            <a:p>
              <a:pPr>
                <a:lnSpc>
                  <a:spcPts val="2400"/>
                </a:lnSpc>
              </a:pPr>
              <a:r>
                <a:rPr lang="en-US" sz="2400" dirty="0">
                  <a:solidFill>
                    <a:schemeClr val="bg1"/>
                  </a:solidFill>
                </a:rPr>
                <a:t>Blindly scaling down workloads can accidentally target critical system namespaces, causing cluster instability or outages.</a:t>
              </a:r>
              <a:endParaRPr lang="en-US" sz="2400" dirty="0">
                <a:solidFill>
                  <a:schemeClr val="bg1"/>
                </a:solidFill>
                <a:latin typeface="Calibri (MS)"/>
                <a:ea typeface="Calibri (MS)"/>
                <a:cs typeface="Calibri (MS)"/>
                <a:sym typeface="Calibri (MS)"/>
              </a:endParaRPr>
            </a:p>
          </p:txBody>
        </p:sp>
      </p:grpSp>
      <p:sp>
        <p:nvSpPr>
          <p:cNvPr id="70" name="Freeform 70"/>
          <p:cNvSpPr/>
          <p:nvPr/>
        </p:nvSpPr>
        <p:spPr>
          <a:xfrm>
            <a:off x="14114597" y="385195"/>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9"/>
            <a:stretch>
              <a:fillRect/>
            </a:stretch>
          </a:blipFill>
        </p:spPr>
        <p:txBody>
          <a:bodyPr/>
          <a:lstStyle/>
          <a:p>
            <a:endParaRPr lang="en-IN"/>
          </a:p>
        </p:txBody>
      </p:sp>
      <p:sp>
        <p:nvSpPr>
          <p:cNvPr id="72" name="Freeform 15"/>
          <p:cNvSpPr/>
          <p:nvPr/>
        </p:nvSpPr>
        <p:spPr>
          <a:xfrm>
            <a:off x="4218937" y="922830"/>
            <a:ext cx="4023360" cy="694944"/>
          </a:xfrm>
          <a:custGeom>
            <a:avLst/>
            <a:gdLst/>
            <a:ahLst/>
            <a:cxnLst/>
            <a:rect l="l" t="t" r="r" b="b"/>
            <a:pathLst>
              <a:path w="5364480" h="926592">
                <a:moveTo>
                  <a:pt x="0" y="0"/>
                </a:moveTo>
                <a:lnTo>
                  <a:pt x="5364480" y="0"/>
                </a:lnTo>
                <a:lnTo>
                  <a:pt x="5364480" y="926592"/>
                </a:lnTo>
                <a:lnTo>
                  <a:pt x="0" y="926592"/>
                </a:lnTo>
                <a:close/>
              </a:path>
            </a:pathLst>
          </a:custGeom>
          <a:blipFill>
            <a:blip r:embed="rId3">
              <a:alphaModFix amt="0"/>
            </a:blip>
            <a:stretch>
              <a:fillRect t="-62808" b="-62808"/>
            </a:stretch>
          </a:blipFill>
        </p:spPr>
        <p:txBody>
          <a:bodyPr/>
          <a:lstStyle/>
          <a:p>
            <a:endParaRPr lang="en-IN" dirty="0"/>
          </a:p>
        </p:txBody>
      </p:sp>
      <p:sp>
        <p:nvSpPr>
          <p:cNvPr id="73" name="Freeform 13" descr="preencoded.png">
            <a:extLst>
              <a:ext uri="{FF2B5EF4-FFF2-40B4-BE49-F238E27FC236}">
                <a16:creationId xmlns:a16="http://schemas.microsoft.com/office/drawing/2014/main" id="{AC9C5906-F735-CE7A-289D-CC3F5F62826A}"/>
              </a:ext>
            </a:extLst>
          </p:cNvPr>
          <p:cNvSpPr/>
          <p:nvPr/>
        </p:nvSpPr>
        <p:spPr>
          <a:xfrm>
            <a:off x="884967" y="6468809"/>
            <a:ext cx="694944" cy="694944"/>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10"/>
            <a:stretch>
              <a:fillRect/>
            </a:stretch>
          </a:blipFill>
        </p:spPr>
        <p:txBody>
          <a:bodyPr/>
          <a:lstStyle/>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3">
                <a:alphaModFix amt="0"/>
              </a:blip>
              <a:stretch>
                <a:fillRect t="-79900" b="-79900"/>
              </a:stretch>
            </a:blipFill>
          </p:spPr>
          <p:txBody>
            <a:bodyPr/>
            <a:lstStyle/>
            <a:p>
              <a:endParaRPr lang="en-IN"/>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a:solidFill>
                    <a:srgbClr val="0A0F1E"/>
                  </a:solidFill>
                  <a:latin typeface="Calibri (MS) Bold"/>
                  <a:ea typeface="Calibri (MS) Bold"/>
                  <a:cs typeface="Calibri (MS) Bold"/>
                  <a:sym typeface="Calibri (MS) Bold"/>
                </a:rPr>
                <a:t>OUR SOLUTION</a:t>
              </a:r>
            </a:p>
          </p:txBody>
        </p:sp>
      </p:grpSp>
      <p:grpSp>
        <p:nvGrpSpPr>
          <p:cNvPr id="7" name="Group 7"/>
          <p:cNvGrpSpPr/>
          <p:nvPr/>
        </p:nvGrpSpPr>
        <p:grpSpPr>
          <a:xfrm>
            <a:off x="914400" y="1316736"/>
            <a:ext cx="16459200" cy="1097280"/>
            <a:chOff x="0" y="0"/>
            <a:chExt cx="21945600" cy="1463040"/>
          </a:xfrm>
        </p:grpSpPr>
        <p:sp>
          <p:nvSpPr>
            <p:cNvPr id="8" name="Freeform 8"/>
            <p:cNvSpPr/>
            <p:nvPr/>
          </p:nvSpPr>
          <p:spPr>
            <a:xfrm>
              <a:off x="0" y="0"/>
              <a:ext cx="21945600" cy="1463040"/>
            </a:xfrm>
            <a:custGeom>
              <a:avLst/>
              <a:gdLst/>
              <a:ahLst/>
              <a:cxnLst/>
              <a:rect l="l" t="t" r="r" b="b"/>
              <a:pathLst>
                <a:path w="21945600" h="1463040">
                  <a:moveTo>
                    <a:pt x="0" y="0"/>
                  </a:moveTo>
                  <a:lnTo>
                    <a:pt x="21945600" y="0"/>
                  </a:lnTo>
                  <a:lnTo>
                    <a:pt x="21945600" y="1463040"/>
                  </a:lnTo>
                  <a:lnTo>
                    <a:pt x="0" y="1463040"/>
                  </a:lnTo>
                  <a:close/>
                </a:path>
              </a:pathLst>
            </a:custGeom>
            <a:blipFill>
              <a:blip r:embed="rId3">
                <a:alphaModFix amt="0"/>
              </a:blip>
              <a:stretch>
                <a:fillRect t="-242275" b="-242275"/>
              </a:stretch>
            </a:blipFill>
          </p:spPr>
          <p:txBody>
            <a:bodyPr/>
            <a:lstStyle/>
            <a:p>
              <a:endParaRPr lang="en-IN"/>
            </a:p>
          </p:txBody>
        </p:sp>
        <p:sp>
          <p:nvSpPr>
            <p:cNvPr id="9" name="TextBox 9"/>
            <p:cNvSpPr txBox="1"/>
            <p:nvPr/>
          </p:nvSpPr>
          <p:spPr>
            <a:xfrm>
              <a:off x="0" y="-123825"/>
              <a:ext cx="21945600" cy="1586865"/>
            </a:xfrm>
            <a:prstGeom prst="rect">
              <a:avLst/>
            </a:prstGeom>
          </p:spPr>
          <p:txBody>
            <a:bodyPr lIns="0" tIns="0" rIns="0" bIns="0" rtlCol="0" anchor="ctr"/>
            <a:lstStyle/>
            <a:p>
              <a:pPr algn="l">
                <a:lnSpc>
                  <a:spcPts val="7200"/>
                </a:lnSpc>
              </a:pPr>
              <a:r>
                <a:rPr lang="en-US" sz="6000" b="1">
                  <a:solidFill>
                    <a:srgbClr val="FFFFFF"/>
                  </a:solidFill>
                  <a:latin typeface="Calibri (MS) Bold"/>
                  <a:ea typeface="Calibri (MS) Bold"/>
                  <a:cs typeface="Calibri (MS) Bold"/>
                  <a:sym typeface="Calibri (MS) Bold"/>
                </a:rPr>
                <a:t>What We Built</a:t>
              </a:r>
            </a:p>
          </p:txBody>
        </p:sp>
      </p:grpSp>
      <p:grpSp>
        <p:nvGrpSpPr>
          <p:cNvPr id="10" name="Group 10"/>
          <p:cNvGrpSpPr/>
          <p:nvPr/>
        </p:nvGrpSpPr>
        <p:grpSpPr>
          <a:xfrm>
            <a:off x="648376" y="2620414"/>
            <a:ext cx="10083832" cy="7066311"/>
            <a:chOff x="-337769" y="-146786"/>
            <a:chExt cx="13445110" cy="9421748"/>
          </a:xfrm>
        </p:grpSpPr>
        <p:sp>
          <p:nvSpPr>
            <p:cNvPr id="11" name="Freeform 11"/>
            <p:cNvSpPr/>
            <p:nvPr/>
          </p:nvSpPr>
          <p:spPr>
            <a:xfrm>
              <a:off x="-337769" y="-146786"/>
              <a:ext cx="13445110" cy="9421748"/>
            </a:xfrm>
            <a:custGeom>
              <a:avLst/>
              <a:gdLst/>
              <a:ahLst/>
              <a:cxnLst/>
              <a:rect l="l" t="t" r="r" b="b"/>
              <a:pathLst>
                <a:path w="13445110" h="9421749">
                  <a:moveTo>
                    <a:pt x="0" y="0"/>
                  </a:moveTo>
                  <a:lnTo>
                    <a:pt x="13445110" y="0"/>
                  </a:lnTo>
                  <a:lnTo>
                    <a:pt x="13445110" y="9421749"/>
                  </a:lnTo>
                  <a:lnTo>
                    <a:pt x="0" y="9421749"/>
                  </a:lnTo>
                  <a:close/>
                </a:path>
              </a:pathLst>
            </a:custGeom>
            <a:solidFill>
              <a:srgbClr val="1A3D6B"/>
            </a:solidFill>
            <a:ln w="25400" cap="sq">
              <a:solidFill>
                <a:srgbClr val="00B4D8"/>
              </a:solidFill>
              <a:prstDash val="solid"/>
              <a:miter/>
            </a:ln>
          </p:spPr>
          <p:txBody>
            <a:bodyPr/>
            <a:lstStyle/>
            <a:p>
              <a:endParaRPr lang="en-IN"/>
            </a:p>
          </p:txBody>
        </p:sp>
      </p:grpSp>
      <p:sp>
        <p:nvSpPr>
          <p:cNvPr id="16" name="Freeform 16"/>
          <p:cNvSpPr/>
          <p:nvPr/>
        </p:nvSpPr>
        <p:spPr>
          <a:xfrm>
            <a:off x="1526686" y="6916886"/>
            <a:ext cx="8961120" cy="694944"/>
          </a:xfrm>
          <a:custGeom>
            <a:avLst/>
            <a:gdLst/>
            <a:ahLst/>
            <a:cxnLst/>
            <a:rect l="l" t="t" r="r" b="b"/>
            <a:pathLst>
              <a:path w="11948160" h="926592">
                <a:moveTo>
                  <a:pt x="0" y="0"/>
                </a:moveTo>
                <a:lnTo>
                  <a:pt x="11948160" y="0"/>
                </a:lnTo>
                <a:lnTo>
                  <a:pt x="11948160" y="926592"/>
                </a:lnTo>
                <a:lnTo>
                  <a:pt x="0" y="926592"/>
                </a:lnTo>
                <a:close/>
              </a:path>
            </a:pathLst>
          </a:custGeom>
          <a:blipFill>
            <a:blip r:embed="rId3">
              <a:alphaModFix amt="0"/>
            </a:blip>
            <a:stretch>
              <a:fillRect t="-201254" b="-201254"/>
            </a:stretch>
          </a:blipFill>
        </p:spPr>
        <p:txBody>
          <a:bodyPr/>
          <a:lstStyle/>
          <a:p>
            <a:endParaRPr lang="en-IN"/>
          </a:p>
        </p:txBody>
      </p:sp>
      <p:sp>
        <p:nvSpPr>
          <p:cNvPr id="22" name="Freeform 22"/>
          <p:cNvSpPr/>
          <p:nvPr/>
        </p:nvSpPr>
        <p:spPr>
          <a:xfrm>
            <a:off x="1737360" y="5486400"/>
            <a:ext cx="8961120" cy="694944"/>
          </a:xfrm>
          <a:custGeom>
            <a:avLst/>
            <a:gdLst/>
            <a:ahLst/>
            <a:cxnLst/>
            <a:rect l="l" t="t" r="r" b="b"/>
            <a:pathLst>
              <a:path w="11948160" h="926592">
                <a:moveTo>
                  <a:pt x="0" y="0"/>
                </a:moveTo>
                <a:lnTo>
                  <a:pt x="11948160" y="0"/>
                </a:lnTo>
                <a:lnTo>
                  <a:pt x="11948160" y="926592"/>
                </a:lnTo>
                <a:lnTo>
                  <a:pt x="0" y="926592"/>
                </a:lnTo>
                <a:close/>
              </a:path>
            </a:pathLst>
          </a:custGeom>
          <a:blipFill>
            <a:blip r:embed="rId3">
              <a:alphaModFix amt="0"/>
            </a:blip>
            <a:stretch>
              <a:fillRect t="-201254" b="-201254"/>
            </a:stretch>
          </a:blipFill>
        </p:spPr>
        <p:txBody>
          <a:bodyPr/>
          <a:lstStyle/>
          <a:p>
            <a:endParaRPr lang="en-IN"/>
          </a:p>
        </p:txBody>
      </p:sp>
      <p:sp>
        <p:nvSpPr>
          <p:cNvPr id="26" name="TextBox 26"/>
          <p:cNvSpPr txBox="1"/>
          <p:nvPr/>
        </p:nvSpPr>
        <p:spPr>
          <a:xfrm>
            <a:off x="1737360" y="6273641"/>
            <a:ext cx="8961120" cy="730663"/>
          </a:xfrm>
          <a:prstGeom prst="rect">
            <a:avLst/>
          </a:prstGeom>
        </p:spPr>
        <p:txBody>
          <a:bodyPr lIns="0" tIns="0" rIns="0" bIns="0" rtlCol="0" anchor="ctr"/>
          <a:lstStyle/>
          <a:p>
            <a:pPr marL="496570" lvl="1" indent="-248285" algn="l">
              <a:lnSpc>
                <a:spcPts val="2760"/>
              </a:lnSpc>
              <a:buFont typeface="Arial"/>
              <a:buChar char="•"/>
            </a:pPr>
            <a:endParaRPr lang="en-US" sz="2300" dirty="0">
              <a:solidFill>
                <a:srgbClr val="FFFFFF"/>
              </a:solidFill>
              <a:latin typeface="Calibri (MS)"/>
              <a:ea typeface="Calibri (MS)"/>
              <a:cs typeface="Calibri (MS)"/>
              <a:sym typeface="Calibri (MS)"/>
            </a:endParaRPr>
          </a:p>
        </p:txBody>
      </p:sp>
      <p:sp>
        <p:nvSpPr>
          <p:cNvPr id="29" name="TextBox 29"/>
          <p:cNvSpPr txBox="1"/>
          <p:nvPr/>
        </p:nvSpPr>
        <p:spPr>
          <a:xfrm>
            <a:off x="1737360" y="7096601"/>
            <a:ext cx="8961120" cy="730663"/>
          </a:xfrm>
          <a:prstGeom prst="rect">
            <a:avLst/>
          </a:prstGeom>
        </p:spPr>
        <p:txBody>
          <a:bodyPr lIns="0" tIns="0" rIns="0" bIns="0" rtlCol="0" anchor="ctr"/>
          <a:lstStyle/>
          <a:p>
            <a:pPr marL="496570" lvl="1" indent="-248285" algn="l">
              <a:lnSpc>
                <a:spcPts val="2760"/>
              </a:lnSpc>
              <a:buFont typeface="Arial"/>
              <a:buChar char="•"/>
            </a:pPr>
            <a:endParaRPr lang="en-US" sz="2300" dirty="0">
              <a:solidFill>
                <a:srgbClr val="FFFFFF"/>
              </a:solidFill>
              <a:latin typeface="Calibri (MS)"/>
              <a:ea typeface="Calibri (MS)"/>
              <a:cs typeface="Calibri (MS)"/>
              <a:sym typeface="Calibri (MS)"/>
            </a:endParaRPr>
          </a:p>
        </p:txBody>
      </p:sp>
      <p:grpSp>
        <p:nvGrpSpPr>
          <p:cNvPr id="33" name="Group 33"/>
          <p:cNvGrpSpPr/>
          <p:nvPr/>
        </p:nvGrpSpPr>
        <p:grpSpPr>
          <a:xfrm>
            <a:off x="1737360" y="8778240"/>
            <a:ext cx="8961120" cy="694944"/>
            <a:chOff x="0" y="0"/>
            <a:chExt cx="11948160" cy="926592"/>
          </a:xfrm>
        </p:grpSpPr>
        <p:sp>
          <p:nvSpPr>
            <p:cNvPr id="34" name="Freeform 34"/>
            <p:cNvSpPr/>
            <p:nvPr/>
          </p:nvSpPr>
          <p:spPr>
            <a:xfrm>
              <a:off x="0" y="0"/>
              <a:ext cx="11948160" cy="926592"/>
            </a:xfrm>
            <a:custGeom>
              <a:avLst/>
              <a:gdLst/>
              <a:ahLst/>
              <a:cxnLst/>
              <a:rect l="l" t="t" r="r" b="b"/>
              <a:pathLst>
                <a:path w="11948160" h="926592">
                  <a:moveTo>
                    <a:pt x="0" y="0"/>
                  </a:moveTo>
                  <a:lnTo>
                    <a:pt x="11948160" y="0"/>
                  </a:lnTo>
                  <a:lnTo>
                    <a:pt x="11948160" y="926592"/>
                  </a:lnTo>
                  <a:lnTo>
                    <a:pt x="0" y="926592"/>
                  </a:lnTo>
                  <a:close/>
                </a:path>
              </a:pathLst>
            </a:custGeom>
            <a:blipFill>
              <a:blip r:embed="rId3">
                <a:alphaModFix amt="0"/>
              </a:blip>
              <a:stretch>
                <a:fillRect t="-201254" b="-201254"/>
              </a:stretch>
            </a:blipFill>
          </p:spPr>
          <p:txBody>
            <a:bodyPr/>
            <a:lstStyle/>
            <a:p>
              <a:endParaRPr lang="en-IN"/>
            </a:p>
          </p:txBody>
        </p:sp>
        <p:sp>
          <p:nvSpPr>
            <p:cNvPr id="35" name="TextBox 35"/>
            <p:cNvSpPr txBox="1"/>
            <p:nvPr/>
          </p:nvSpPr>
          <p:spPr>
            <a:xfrm>
              <a:off x="0" y="-47625"/>
              <a:ext cx="11948160" cy="974217"/>
            </a:xfrm>
            <a:prstGeom prst="rect">
              <a:avLst/>
            </a:prstGeom>
          </p:spPr>
          <p:txBody>
            <a:bodyPr lIns="0" tIns="0" rIns="0" bIns="0" rtlCol="0" anchor="ctr"/>
            <a:lstStyle/>
            <a:p>
              <a:pPr marL="248285" lvl="1" algn="l">
                <a:lnSpc>
                  <a:spcPts val="2760"/>
                </a:lnSpc>
              </a:pPr>
              <a:endParaRPr lang="en-US" sz="2300" dirty="0">
                <a:solidFill>
                  <a:srgbClr val="FFFFFF"/>
                </a:solidFill>
                <a:latin typeface="Calibri (MS)"/>
                <a:ea typeface="Calibri (MS)"/>
                <a:cs typeface="Calibri (MS)"/>
                <a:sym typeface="Calibri (MS)"/>
              </a:endParaRPr>
            </a:p>
          </p:txBody>
        </p:sp>
      </p:grpSp>
      <p:grpSp>
        <p:nvGrpSpPr>
          <p:cNvPr id="36" name="Group 36"/>
          <p:cNvGrpSpPr/>
          <p:nvPr/>
        </p:nvGrpSpPr>
        <p:grpSpPr>
          <a:xfrm>
            <a:off x="11410950" y="2724150"/>
            <a:ext cx="5890260" cy="1537716"/>
            <a:chOff x="0" y="0"/>
            <a:chExt cx="7853680" cy="2050288"/>
          </a:xfrm>
        </p:grpSpPr>
        <p:sp>
          <p:nvSpPr>
            <p:cNvPr id="37" name="Freeform 37"/>
            <p:cNvSpPr/>
            <p:nvPr/>
          </p:nvSpPr>
          <p:spPr>
            <a:xfrm>
              <a:off x="0" y="0"/>
              <a:ext cx="7853680" cy="2050288"/>
            </a:xfrm>
            <a:custGeom>
              <a:avLst/>
              <a:gdLst/>
              <a:ahLst/>
              <a:cxnLst/>
              <a:rect l="l" t="t" r="r" b="b"/>
              <a:pathLst>
                <a:path w="7853680" h="2050288">
                  <a:moveTo>
                    <a:pt x="0" y="0"/>
                  </a:moveTo>
                  <a:lnTo>
                    <a:pt x="7853680" y="0"/>
                  </a:lnTo>
                  <a:lnTo>
                    <a:pt x="7853680" y="2050288"/>
                  </a:lnTo>
                  <a:lnTo>
                    <a:pt x="0" y="2050288"/>
                  </a:lnTo>
                  <a:close/>
                </a:path>
              </a:pathLst>
            </a:custGeom>
            <a:solidFill>
              <a:srgbClr val="0F2D54"/>
            </a:solidFill>
            <a:ln w="38100" cap="sq">
              <a:solidFill>
                <a:srgbClr val="00B4D8"/>
              </a:solidFill>
              <a:prstDash val="solid"/>
              <a:miter/>
            </a:ln>
          </p:spPr>
          <p:txBody>
            <a:bodyPr/>
            <a:lstStyle/>
            <a:p>
              <a:endParaRPr lang="en-IN"/>
            </a:p>
          </p:txBody>
        </p:sp>
      </p:grpSp>
      <p:grpSp>
        <p:nvGrpSpPr>
          <p:cNvPr id="38" name="Group 38"/>
          <p:cNvGrpSpPr/>
          <p:nvPr/>
        </p:nvGrpSpPr>
        <p:grpSpPr>
          <a:xfrm>
            <a:off x="11383999" y="2971800"/>
            <a:ext cx="2070876" cy="1097280"/>
            <a:chOff x="0" y="0"/>
            <a:chExt cx="2921637" cy="1755648"/>
          </a:xfrm>
        </p:grpSpPr>
        <p:sp>
          <p:nvSpPr>
            <p:cNvPr id="39" name="Freeform 39"/>
            <p:cNvSpPr/>
            <p:nvPr/>
          </p:nvSpPr>
          <p:spPr>
            <a:xfrm>
              <a:off x="0" y="0"/>
              <a:ext cx="2682240" cy="1755648"/>
            </a:xfrm>
            <a:custGeom>
              <a:avLst/>
              <a:gdLst/>
              <a:ahLst/>
              <a:cxnLst/>
              <a:rect l="l" t="t" r="r" b="b"/>
              <a:pathLst>
                <a:path w="2682240" h="1755648">
                  <a:moveTo>
                    <a:pt x="0" y="0"/>
                  </a:moveTo>
                  <a:lnTo>
                    <a:pt x="2682240" y="0"/>
                  </a:lnTo>
                  <a:lnTo>
                    <a:pt x="2682240" y="1755648"/>
                  </a:lnTo>
                  <a:lnTo>
                    <a:pt x="0" y="1755648"/>
                  </a:lnTo>
                  <a:close/>
                </a:path>
              </a:pathLst>
            </a:custGeom>
            <a:blipFill>
              <a:blip r:embed="rId3">
                <a:alphaModFix amt="0"/>
              </a:blip>
              <a:stretch>
                <a:fillRect l="-33980" r="-33980"/>
              </a:stretch>
            </a:blipFill>
          </p:spPr>
          <p:txBody>
            <a:bodyPr/>
            <a:lstStyle/>
            <a:p>
              <a:endParaRPr lang="en-IN"/>
            </a:p>
          </p:txBody>
        </p:sp>
        <p:sp>
          <p:nvSpPr>
            <p:cNvPr id="40" name="TextBox 40"/>
            <p:cNvSpPr txBox="1"/>
            <p:nvPr/>
          </p:nvSpPr>
          <p:spPr>
            <a:xfrm>
              <a:off x="239397" y="96634"/>
              <a:ext cx="2682240" cy="1427989"/>
            </a:xfrm>
            <a:prstGeom prst="rect">
              <a:avLst/>
            </a:prstGeom>
          </p:spPr>
          <p:txBody>
            <a:bodyPr lIns="0" tIns="0" rIns="0" bIns="0" rtlCol="0" anchor="ctr"/>
            <a:lstStyle/>
            <a:p>
              <a:pPr algn="ctr"/>
              <a:r>
                <a:rPr lang="en-US" sz="4400" b="1" dirty="0">
                  <a:solidFill>
                    <a:srgbClr val="00B4D8"/>
                  </a:solidFill>
                  <a:latin typeface="Calibri (MS) Bold"/>
                  <a:ea typeface="Calibri (MS) Bold"/>
                  <a:cs typeface="Calibri (MS) Bold"/>
                  <a:sym typeface="Calibri (MS) Bold"/>
                </a:rPr>
                <a:t>4 layers</a:t>
              </a:r>
            </a:p>
          </p:txBody>
        </p:sp>
      </p:grpSp>
      <p:grpSp>
        <p:nvGrpSpPr>
          <p:cNvPr id="41" name="Group 41"/>
          <p:cNvGrpSpPr/>
          <p:nvPr/>
        </p:nvGrpSpPr>
        <p:grpSpPr>
          <a:xfrm>
            <a:off x="13624560" y="3108960"/>
            <a:ext cx="3474720" cy="822960"/>
            <a:chOff x="0" y="0"/>
            <a:chExt cx="4632960" cy="1097280"/>
          </a:xfrm>
        </p:grpSpPr>
        <p:sp>
          <p:nvSpPr>
            <p:cNvPr id="42" name="Freeform 42"/>
            <p:cNvSpPr/>
            <p:nvPr/>
          </p:nvSpPr>
          <p:spPr>
            <a:xfrm>
              <a:off x="0" y="0"/>
              <a:ext cx="4632960" cy="1097280"/>
            </a:xfrm>
            <a:custGeom>
              <a:avLst/>
              <a:gdLst/>
              <a:ahLst/>
              <a:cxnLst/>
              <a:rect l="l" t="t" r="r" b="b"/>
              <a:pathLst>
                <a:path w="4632960" h="1097280">
                  <a:moveTo>
                    <a:pt x="0" y="0"/>
                  </a:moveTo>
                  <a:lnTo>
                    <a:pt x="4632960" y="0"/>
                  </a:lnTo>
                  <a:lnTo>
                    <a:pt x="4632960" y="1097280"/>
                  </a:lnTo>
                  <a:lnTo>
                    <a:pt x="0" y="1097280"/>
                  </a:lnTo>
                  <a:close/>
                </a:path>
              </a:pathLst>
            </a:custGeom>
            <a:blipFill>
              <a:blip r:embed="rId3">
                <a:alphaModFix amt="0"/>
              </a:blip>
              <a:stretch>
                <a:fillRect t="-32270" b="-32270"/>
              </a:stretch>
            </a:blipFill>
          </p:spPr>
          <p:txBody>
            <a:bodyPr/>
            <a:lstStyle/>
            <a:p>
              <a:endParaRPr lang="en-IN"/>
            </a:p>
          </p:txBody>
        </p:sp>
        <p:sp>
          <p:nvSpPr>
            <p:cNvPr id="43" name="TextBox 43"/>
            <p:cNvSpPr txBox="1"/>
            <p:nvPr/>
          </p:nvSpPr>
          <p:spPr>
            <a:xfrm>
              <a:off x="0" y="-38100"/>
              <a:ext cx="4632960" cy="1135380"/>
            </a:xfrm>
            <a:prstGeom prst="rect">
              <a:avLst/>
            </a:prstGeom>
          </p:spPr>
          <p:txBody>
            <a:bodyPr lIns="0" tIns="0" rIns="0" bIns="0" rtlCol="0" anchor="ctr"/>
            <a:lstStyle/>
            <a:p>
              <a:pPr>
                <a:lnSpc>
                  <a:spcPts val="2879"/>
                </a:lnSpc>
              </a:pPr>
              <a:r>
                <a:rPr lang="en-IN" sz="2400" dirty="0">
                  <a:solidFill>
                    <a:schemeClr val="bg1"/>
                  </a:solidFill>
                </a:rPr>
                <a:t>Frontend · Backend · Infra · Cloud</a:t>
              </a:r>
              <a:endParaRPr lang="en-US" sz="2400" dirty="0">
                <a:solidFill>
                  <a:schemeClr val="bg1"/>
                </a:solidFill>
                <a:latin typeface="Calibri (MS)"/>
                <a:ea typeface="Calibri (MS)"/>
                <a:cs typeface="Calibri (MS)"/>
                <a:sym typeface="Calibri (MS)"/>
              </a:endParaRPr>
            </a:p>
          </p:txBody>
        </p:sp>
      </p:grpSp>
      <p:grpSp>
        <p:nvGrpSpPr>
          <p:cNvPr id="44" name="Group 44"/>
          <p:cNvGrpSpPr/>
          <p:nvPr/>
        </p:nvGrpSpPr>
        <p:grpSpPr>
          <a:xfrm>
            <a:off x="11410950" y="4498086"/>
            <a:ext cx="5890260" cy="1537716"/>
            <a:chOff x="0" y="0"/>
            <a:chExt cx="7853680" cy="2050288"/>
          </a:xfrm>
        </p:grpSpPr>
        <p:sp>
          <p:nvSpPr>
            <p:cNvPr id="45" name="Freeform 45"/>
            <p:cNvSpPr/>
            <p:nvPr/>
          </p:nvSpPr>
          <p:spPr>
            <a:xfrm>
              <a:off x="0" y="0"/>
              <a:ext cx="7853680" cy="2050288"/>
            </a:xfrm>
            <a:custGeom>
              <a:avLst/>
              <a:gdLst/>
              <a:ahLst/>
              <a:cxnLst/>
              <a:rect l="l" t="t" r="r" b="b"/>
              <a:pathLst>
                <a:path w="7853680" h="2050288">
                  <a:moveTo>
                    <a:pt x="0" y="0"/>
                  </a:moveTo>
                  <a:lnTo>
                    <a:pt x="7853680" y="0"/>
                  </a:lnTo>
                  <a:lnTo>
                    <a:pt x="7853680" y="2050288"/>
                  </a:lnTo>
                  <a:lnTo>
                    <a:pt x="0" y="2050288"/>
                  </a:lnTo>
                  <a:close/>
                </a:path>
              </a:pathLst>
            </a:custGeom>
            <a:solidFill>
              <a:srgbClr val="0F2D54"/>
            </a:solidFill>
            <a:ln w="38100" cap="sq">
              <a:solidFill>
                <a:srgbClr val="00B4D8"/>
              </a:solidFill>
              <a:prstDash val="solid"/>
              <a:miter/>
            </a:ln>
          </p:spPr>
          <p:txBody>
            <a:bodyPr/>
            <a:lstStyle/>
            <a:p>
              <a:endParaRPr lang="en-IN"/>
            </a:p>
          </p:txBody>
        </p:sp>
      </p:grpSp>
      <p:grpSp>
        <p:nvGrpSpPr>
          <p:cNvPr id="46" name="Group 46"/>
          <p:cNvGrpSpPr/>
          <p:nvPr/>
        </p:nvGrpSpPr>
        <p:grpSpPr>
          <a:xfrm>
            <a:off x="11521440" y="4608576"/>
            <a:ext cx="2011680" cy="1316736"/>
            <a:chOff x="0" y="0"/>
            <a:chExt cx="2682240" cy="1755648"/>
          </a:xfrm>
        </p:grpSpPr>
        <p:sp>
          <p:nvSpPr>
            <p:cNvPr id="47" name="Freeform 47"/>
            <p:cNvSpPr/>
            <p:nvPr/>
          </p:nvSpPr>
          <p:spPr>
            <a:xfrm>
              <a:off x="0" y="0"/>
              <a:ext cx="2682240" cy="1755648"/>
            </a:xfrm>
            <a:custGeom>
              <a:avLst/>
              <a:gdLst/>
              <a:ahLst/>
              <a:cxnLst/>
              <a:rect l="l" t="t" r="r" b="b"/>
              <a:pathLst>
                <a:path w="2682240" h="1755648">
                  <a:moveTo>
                    <a:pt x="0" y="0"/>
                  </a:moveTo>
                  <a:lnTo>
                    <a:pt x="2682240" y="0"/>
                  </a:lnTo>
                  <a:lnTo>
                    <a:pt x="2682240" y="1755648"/>
                  </a:lnTo>
                  <a:lnTo>
                    <a:pt x="0" y="1755648"/>
                  </a:lnTo>
                  <a:close/>
                </a:path>
              </a:pathLst>
            </a:custGeom>
            <a:blipFill>
              <a:blip r:embed="rId3">
                <a:alphaModFix amt="0"/>
              </a:blip>
              <a:stretch>
                <a:fillRect l="-33980" r="-33980"/>
              </a:stretch>
            </a:blipFill>
          </p:spPr>
          <p:txBody>
            <a:bodyPr/>
            <a:lstStyle/>
            <a:p>
              <a:endParaRPr lang="en-IN"/>
            </a:p>
          </p:txBody>
        </p:sp>
        <p:sp>
          <p:nvSpPr>
            <p:cNvPr id="48" name="TextBox 48"/>
            <p:cNvSpPr txBox="1"/>
            <p:nvPr/>
          </p:nvSpPr>
          <p:spPr>
            <a:xfrm>
              <a:off x="0" y="-114300"/>
              <a:ext cx="2682240" cy="1869948"/>
            </a:xfrm>
            <a:prstGeom prst="rect">
              <a:avLst/>
            </a:prstGeom>
          </p:spPr>
          <p:txBody>
            <a:bodyPr lIns="0" tIns="0" rIns="0" bIns="0" rtlCol="0" anchor="ctr"/>
            <a:lstStyle/>
            <a:p>
              <a:pPr algn="ctr"/>
              <a:r>
                <a:rPr lang="en-US" sz="4400" b="1" dirty="0">
                  <a:solidFill>
                    <a:srgbClr val="00B4D8"/>
                  </a:solidFill>
                  <a:latin typeface="Calibri (MS) Bold"/>
                  <a:ea typeface="Calibri (MS) Bold"/>
                  <a:cs typeface="Calibri (MS) Bold"/>
                  <a:sym typeface="Calibri (MS) Bold"/>
                </a:rPr>
                <a:t>100% safe</a:t>
              </a:r>
            </a:p>
          </p:txBody>
        </p:sp>
      </p:grpSp>
      <p:grpSp>
        <p:nvGrpSpPr>
          <p:cNvPr id="49" name="Group 49"/>
          <p:cNvGrpSpPr/>
          <p:nvPr/>
        </p:nvGrpSpPr>
        <p:grpSpPr>
          <a:xfrm>
            <a:off x="13624560" y="4882896"/>
            <a:ext cx="3474720" cy="822960"/>
            <a:chOff x="0" y="0"/>
            <a:chExt cx="4632960" cy="1097280"/>
          </a:xfrm>
        </p:grpSpPr>
        <p:sp>
          <p:nvSpPr>
            <p:cNvPr id="50" name="Freeform 50"/>
            <p:cNvSpPr/>
            <p:nvPr/>
          </p:nvSpPr>
          <p:spPr>
            <a:xfrm>
              <a:off x="0" y="0"/>
              <a:ext cx="4632960" cy="1097280"/>
            </a:xfrm>
            <a:custGeom>
              <a:avLst/>
              <a:gdLst/>
              <a:ahLst/>
              <a:cxnLst/>
              <a:rect l="l" t="t" r="r" b="b"/>
              <a:pathLst>
                <a:path w="4632960" h="1097280">
                  <a:moveTo>
                    <a:pt x="0" y="0"/>
                  </a:moveTo>
                  <a:lnTo>
                    <a:pt x="4632960" y="0"/>
                  </a:lnTo>
                  <a:lnTo>
                    <a:pt x="4632960" y="1097280"/>
                  </a:lnTo>
                  <a:lnTo>
                    <a:pt x="0" y="1097280"/>
                  </a:lnTo>
                  <a:close/>
                </a:path>
              </a:pathLst>
            </a:custGeom>
            <a:blipFill>
              <a:blip r:embed="rId3">
                <a:alphaModFix amt="0"/>
              </a:blip>
              <a:stretch>
                <a:fillRect t="-32270" b="-32270"/>
              </a:stretch>
            </a:blipFill>
          </p:spPr>
          <p:txBody>
            <a:bodyPr/>
            <a:lstStyle/>
            <a:p>
              <a:endParaRPr lang="en-IN"/>
            </a:p>
          </p:txBody>
        </p:sp>
        <p:sp>
          <p:nvSpPr>
            <p:cNvPr id="51" name="TextBox 51"/>
            <p:cNvSpPr txBox="1"/>
            <p:nvPr/>
          </p:nvSpPr>
          <p:spPr>
            <a:xfrm>
              <a:off x="0" y="-38100"/>
              <a:ext cx="4632960" cy="1135380"/>
            </a:xfrm>
            <a:prstGeom prst="rect">
              <a:avLst/>
            </a:prstGeom>
          </p:spPr>
          <p:txBody>
            <a:bodyPr lIns="0" tIns="0" rIns="0" bIns="0" rtlCol="0" anchor="ctr"/>
            <a:lstStyle/>
            <a:p>
              <a:pPr>
                <a:lnSpc>
                  <a:spcPts val="2879"/>
                </a:lnSpc>
              </a:pPr>
              <a:r>
                <a:rPr lang="en-US" sz="2400" dirty="0">
                  <a:solidFill>
                    <a:schemeClr val="bg1"/>
                  </a:solidFill>
                </a:rPr>
                <a:t>System namespaces excluded from optimization</a:t>
              </a:r>
              <a:endParaRPr lang="en-US" sz="2400" dirty="0">
                <a:solidFill>
                  <a:schemeClr val="bg1"/>
                </a:solidFill>
                <a:latin typeface="Calibri (MS)"/>
                <a:ea typeface="Calibri (MS)"/>
                <a:cs typeface="Calibri (MS)"/>
                <a:sym typeface="Calibri (MS)"/>
              </a:endParaRPr>
            </a:p>
          </p:txBody>
        </p:sp>
      </p:grpSp>
      <p:grpSp>
        <p:nvGrpSpPr>
          <p:cNvPr id="52" name="Group 52"/>
          <p:cNvGrpSpPr/>
          <p:nvPr/>
        </p:nvGrpSpPr>
        <p:grpSpPr>
          <a:xfrm>
            <a:off x="11410950" y="6272022"/>
            <a:ext cx="5890260" cy="1537716"/>
            <a:chOff x="0" y="0"/>
            <a:chExt cx="7853680" cy="2050288"/>
          </a:xfrm>
        </p:grpSpPr>
        <p:sp>
          <p:nvSpPr>
            <p:cNvPr id="53" name="Freeform 53"/>
            <p:cNvSpPr/>
            <p:nvPr/>
          </p:nvSpPr>
          <p:spPr>
            <a:xfrm>
              <a:off x="0" y="0"/>
              <a:ext cx="7853680" cy="2050288"/>
            </a:xfrm>
            <a:custGeom>
              <a:avLst/>
              <a:gdLst/>
              <a:ahLst/>
              <a:cxnLst/>
              <a:rect l="l" t="t" r="r" b="b"/>
              <a:pathLst>
                <a:path w="7853680" h="2050288">
                  <a:moveTo>
                    <a:pt x="0" y="0"/>
                  </a:moveTo>
                  <a:lnTo>
                    <a:pt x="7853680" y="0"/>
                  </a:lnTo>
                  <a:lnTo>
                    <a:pt x="7853680" y="2050288"/>
                  </a:lnTo>
                  <a:lnTo>
                    <a:pt x="0" y="2050288"/>
                  </a:lnTo>
                  <a:close/>
                </a:path>
              </a:pathLst>
            </a:custGeom>
            <a:solidFill>
              <a:srgbClr val="0F2D54"/>
            </a:solidFill>
            <a:ln w="38100" cap="sq">
              <a:solidFill>
                <a:srgbClr val="00B4D8"/>
              </a:solidFill>
              <a:prstDash val="solid"/>
              <a:miter/>
            </a:ln>
          </p:spPr>
          <p:txBody>
            <a:bodyPr/>
            <a:lstStyle/>
            <a:p>
              <a:endParaRPr lang="en-IN"/>
            </a:p>
          </p:txBody>
        </p:sp>
      </p:grpSp>
      <p:grpSp>
        <p:nvGrpSpPr>
          <p:cNvPr id="54" name="Group 54"/>
          <p:cNvGrpSpPr/>
          <p:nvPr/>
        </p:nvGrpSpPr>
        <p:grpSpPr>
          <a:xfrm>
            <a:off x="11521440" y="6382512"/>
            <a:ext cx="2011680" cy="1316736"/>
            <a:chOff x="0" y="0"/>
            <a:chExt cx="2682240" cy="1755648"/>
          </a:xfrm>
        </p:grpSpPr>
        <p:sp>
          <p:nvSpPr>
            <p:cNvPr id="55" name="Freeform 55"/>
            <p:cNvSpPr/>
            <p:nvPr/>
          </p:nvSpPr>
          <p:spPr>
            <a:xfrm>
              <a:off x="0" y="0"/>
              <a:ext cx="2682240" cy="1755648"/>
            </a:xfrm>
            <a:custGeom>
              <a:avLst/>
              <a:gdLst/>
              <a:ahLst/>
              <a:cxnLst/>
              <a:rect l="l" t="t" r="r" b="b"/>
              <a:pathLst>
                <a:path w="2682240" h="1755648">
                  <a:moveTo>
                    <a:pt x="0" y="0"/>
                  </a:moveTo>
                  <a:lnTo>
                    <a:pt x="2682240" y="0"/>
                  </a:lnTo>
                  <a:lnTo>
                    <a:pt x="2682240" y="1755648"/>
                  </a:lnTo>
                  <a:lnTo>
                    <a:pt x="0" y="1755648"/>
                  </a:lnTo>
                  <a:close/>
                </a:path>
              </a:pathLst>
            </a:custGeom>
            <a:blipFill>
              <a:blip r:embed="rId3">
                <a:alphaModFix amt="0"/>
              </a:blip>
              <a:stretch>
                <a:fillRect l="-33980" r="-33980"/>
              </a:stretch>
            </a:blipFill>
          </p:spPr>
          <p:txBody>
            <a:bodyPr/>
            <a:lstStyle/>
            <a:p>
              <a:endParaRPr lang="en-IN"/>
            </a:p>
          </p:txBody>
        </p:sp>
        <p:sp>
          <p:nvSpPr>
            <p:cNvPr id="56" name="TextBox 56"/>
            <p:cNvSpPr txBox="1"/>
            <p:nvPr/>
          </p:nvSpPr>
          <p:spPr>
            <a:xfrm>
              <a:off x="0" y="-114300"/>
              <a:ext cx="2682240" cy="1869948"/>
            </a:xfrm>
            <a:prstGeom prst="rect">
              <a:avLst/>
            </a:prstGeom>
          </p:spPr>
          <p:txBody>
            <a:bodyPr lIns="0" tIns="0" rIns="0" bIns="0" rtlCol="0" anchor="ctr"/>
            <a:lstStyle/>
            <a:p>
              <a:pPr algn="ctr"/>
              <a:r>
                <a:rPr lang="en-US" sz="4400" b="1" dirty="0">
                  <a:solidFill>
                    <a:srgbClr val="00B4D8"/>
                  </a:solidFill>
                  <a:latin typeface="Calibri (MS) Bold"/>
                  <a:ea typeface="Calibri (MS) Bold"/>
                  <a:cs typeface="Calibri (MS) Bold"/>
                  <a:sym typeface="Calibri (MS) Bold"/>
                </a:rPr>
                <a:t>Multi-Signal</a:t>
              </a:r>
            </a:p>
          </p:txBody>
        </p:sp>
      </p:grpSp>
      <p:grpSp>
        <p:nvGrpSpPr>
          <p:cNvPr id="57" name="Group 57"/>
          <p:cNvGrpSpPr/>
          <p:nvPr/>
        </p:nvGrpSpPr>
        <p:grpSpPr>
          <a:xfrm>
            <a:off x="13624560" y="6656832"/>
            <a:ext cx="3474720" cy="822960"/>
            <a:chOff x="0" y="0"/>
            <a:chExt cx="4632960" cy="1097280"/>
          </a:xfrm>
        </p:grpSpPr>
        <p:sp>
          <p:nvSpPr>
            <p:cNvPr id="58" name="Freeform 58"/>
            <p:cNvSpPr/>
            <p:nvPr/>
          </p:nvSpPr>
          <p:spPr>
            <a:xfrm>
              <a:off x="0" y="0"/>
              <a:ext cx="4632960" cy="1097280"/>
            </a:xfrm>
            <a:custGeom>
              <a:avLst/>
              <a:gdLst/>
              <a:ahLst/>
              <a:cxnLst/>
              <a:rect l="l" t="t" r="r" b="b"/>
              <a:pathLst>
                <a:path w="4632960" h="1097280">
                  <a:moveTo>
                    <a:pt x="0" y="0"/>
                  </a:moveTo>
                  <a:lnTo>
                    <a:pt x="4632960" y="0"/>
                  </a:lnTo>
                  <a:lnTo>
                    <a:pt x="4632960" y="1097280"/>
                  </a:lnTo>
                  <a:lnTo>
                    <a:pt x="0" y="1097280"/>
                  </a:lnTo>
                  <a:close/>
                </a:path>
              </a:pathLst>
            </a:custGeom>
            <a:blipFill>
              <a:blip r:embed="rId3">
                <a:alphaModFix amt="0"/>
              </a:blip>
              <a:stretch>
                <a:fillRect t="-32270" b="-32270"/>
              </a:stretch>
            </a:blipFill>
          </p:spPr>
          <p:txBody>
            <a:bodyPr/>
            <a:lstStyle/>
            <a:p>
              <a:endParaRPr lang="en-IN"/>
            </a:p>
          </p:txBody>
        </p:sp>
        <p:sp>
          <p:nvSpPr>
            <p:cNvPr id="59" name="TextBox 59"/>
            <p:cNvSpPr txBox="1"/>
            <p:nvPr/>
          </p:nvSpPr>
          <p:spPr>
            <a:xfrm>
              <a:off x="0" y="-38100"/>
              <a:ext cx="4632960" cy="1135380"/>
            </a:xfrm>
            <a:prstGeom prst="rect">
              <a:avLst/>
            </a:prstGeom>
          </p:spPr>
          <p:txBody>
            <a:bodyPr lIns="0" tIns="0" rIns="0" bIns="0" rtlCol="0" anchor="ctr"/>
            <a:lstStyle/>
            <a:p>
              <a:pPr>
                <a:lnSpc>
                  <a:spcPts val="2879"/>
                </a:lnSpc>
              </a:pPr>
              <a:r>
                <a:rPr lang="en-US" sz="2400" dirty="0">
                  <a:solidFill>
                    <a:schemeClr val="bg1"/>
                  </a:solidFill>
                </a:rPr>
                <a:t>CPU + Memory + Network + Uptime + Requests</a:t>
              </a:r>
              <a:endParaRPr lang="en-US" sz="2400" dirty="0">
                <a:solidFill>
                  <a:schemeClr val="bg1"/>
                </a:solidFill>
                <a:latin typeface="Calibri (MS)"/>
                <a:ea typeface="Calibri (MS)"/>
                <a:cs typeface="Calibri (MS)"/>
                <a:sym typeface="Calibri (MS)"/>
              </a:endParaRPr>
            </a:p>
          </p:txBody>
        </p:sp>
      </p:grpSp>
      <p:grpSp>
        <p:nvGrpSpPr>
          <p:cNvPr id="60" name="Group 60"/>
          <p:cNvGrpSpPr/>
          <p:nvPr/>
        </p:nvGrpSpPr>
        <p:grpSpPr>
          <a:xfrm>
            <a:off x="11410950" y="8045958"/>
            <a:ext cx="5890260" cy="1537716"/>
            <a:chOff x="0" y="0"/>
            <a:chExt cx="7853680" cy="2050288"/>
          </a:xfrm>
        </p:grpSpPr>
        <p:sp>
          <p:nvSpPr>
            <p:cNvPr id="61" name="Freeform 61"/>
            <p:cNvSpPr/>
            <p:nvPr/>
          </p:nvSpPr>
          <p:spPr>
            <a:xfrm>
              <a:off x="0" y="0"/>
              <a:ext cx="7853680" cy="2050288"/>
            </a:xfrm>
            <a:custGeom>
              <a:avLst/>
              <a:gdLst/>
              <a:ahLst/>
              <a:cxnLst/>
              <a:rect l="l" t="t" r="r" b="b"/>
              <a:pathLst>
                <a:path w="7853680" h="2050288">
                  <a:moveTo>
                    <a:pt x="0" y="0"/>
                  </a:moveTo>
                  <a:lnTo>
                    <a:pt x="7853680" y="0"/>
                  </a:lnTo>
                  <a:lnTo>
                    <a:pt x="7853680" y="2050288"/>
                  </a:lnTo>
                  <a:lnTo>
                    <a:pt x="0" y="2050288"/>
                  </a:lnTo>
                  <a:close/>
                </a:path>
              </a:pathLst>
            </a:custGeom>
            <a:solidFill>
              <a:srgbClr val="0F2D54"/>
            </a:solidFill>
            <a:ln w="38100" cap="sq">
              <a:solidFill>
                <a:srgbClr val="00B4D8"/>
              </a:solidFill>
              <a:prstDash val="solid"/>
              <a:miter/>
            </a:ln>
          </p:spPr>
          <p:txBody>
            <a:bodyPr/>
            <a:lstStyle/>
            <a:p>
              <a:endParaRPr lang="en-IN"/>
            </a:p>
          </p:txBody>
        </p:sp>
      </p:grpSp>
      <p:grpSp>
        <p:nvGrpSpPr>
          <p:cNvPr id="62" name="Group 62"/>
          <p:cNvGrpSpPr/>
          <p:nvPr/>
        </p:nvGrpSpPr>
        <p:grpSpPr>
          <a:xfrm>
            <a:off x="11521440" y="8156448"/>
            <a:ext cx="2011680" cy="1316736"/>
            <a:chOff x="0" y="0"/>
            <a:chExt cx="2682240" cy="1755648"/>
          </a:xfrm>
        </p:grpSpPr>
        <p:sp>
          <p:nvSpPr>
            <p:cNvPr id="63" name="Freeform 63"/>
            <p:cNvSpPr/>
            <p:nvPr/>
          </p:nvSpPr>
          <p:spPr>
            <a:xfrm>
              <a:off x="0" y="0"/>
              <a:ext cx="2682240" cy="1755648"/>
            </a:xfrm>
            <a:custGeom>
              <a:avLst/>
              <a:gdLst/>
              <a:ahLst/>
              <a:cxnLst/>
              <a:rect l="l" t="t" r="r" b="b"/>
              <a:pathLst>
                <a:path w="2682240" h="1755648">
                  <a:moveTo>
                    <a:pt x="0" y="0"/>
                  </a:moveTo>
                  <a:lnTo>
                    <a:pt x="2682240" y="0"/>
                  </a:lnTo>
                  <a:lnTo>
                    <a:pt x="2682240" y="1755648"/>
                  </a:lnTo>
                  <a:lnTo>
                    <a:pt x="0" y="1755648"/>
                  </a:lnTo>
                  <a:close/>
                </a:path>
              </a:pathLst>
            </a:custGeom>
            <a:blipFill>
              <a:blip r:embed="rId3">
                <a:alphaModFix amt="0"/>
              </a:blip>
              <a:stretch>
                <a:fillRect l="-33980" r="-33980"/>
              </a:stretch>
            </a:blipFill>
          </p:spPr>
          <p:txBody>
            <a:bodyPr/>
            <a:lstStyle/>
            <a:p>
              <a:endParaRPr lang="en-IN"/>
            </a:p>
          </p:txBody>
        </p:sp>
        <p:sp>
          <p:nvSpPr>
            <p:cNvPr id="64" name="TextBox 64"/>
            <p:cNvSpPr txBox="1"/>
            <p:nvPr/>
          </p:nvSpPr>
          <p:spPr>
            <a:xfrm>
              <a:off x="0" y="-114300"/>
              <a:ext cx="2682240" cy="1869948"/>
            </a:xfrm>
            <a:prstGeom prst="rect">
              <a:avLst/>
            </a:prstGeom>
          </p:spPr>
          <p:txBody>
            <a:bodyPr lIns="0" tIns="0" rIns="0" bIns="0" rtlCol="0" anchor="ctr"/>
            <a:lstStyle/>
            <a:p>
              <a:pPr algn="ctr"/>
              <a:r>
                <a:rPr lang="en-US" sz="4400" b="1" dirty="0">
                  <a:solidFill>
                    <a:srgbClr val="00B4D8"/>
                  </a:solidFill>
                  <a:latin typeface="Calibri (MS) Bold"/>
                  <a:ea typeface="Calibri (MS) Bold"/>
                  <a:cs typeface="Calibri (MS) Bold"/>
                  <a:sym typeface="Calibri (MS) Bold"/>
                </a:rPr>
                <a:t>Real AWS</a:t>
              </a:r>
            </a:p>
          </p:txBody>
        </p:sp>
      </p:grpSp>
      <p:grpSp>
        <p:nvGrpSpPr>
          <p:cNvPr id="65" name="Group 65"/>
          <p:cNvGrpSpPr/>
          <p:nvPr/>
        </p:nvGrpSpPr>
        <p:grpSpPr>
          <a:xfrm>
            <a:off x="13624560" y="8430768"/>
            <a:ext cx="3474720" cy="822960"/>
            <a:chOff x="0" y="0"/>
            <a:chExt cx="4632960" cy="1097280"/>
          </a:xfrm>
        </p:grpSpPr>
        <p:sp>
          <p:nvSpPr>
            <p:cNvPr id="66" name="Freeform 66"/>
            <p:cNvSpPr/>
            <p:nvPr/>
          </p:nvSpPr>
          <p:spPr>
            <a:xfrm>
              <a:off x="0" y="0"/>
              <a:ext cx="4632960" cy="1097280"/>
            </a:xfrm>
            <a:custGeom>
              <a:avLst/>
              <a:gdLst/>
              <a:ahLst/>
              <a:cxnLst/>
              <a:rect l="l" t="t" r="r" b="b"/>
              <a:pathLst>
                <a:path w="4632960" h="1097280">
                  <a:moveTo>
                    <a:pt x="0" y="0"/>
                  </a:moveTo>
                  <a:lnTo>
                    <a:pt x="4632960" y="0"/>
                  </a:lnTo>
                  <a:lnTo>
                    <a:pt x="4632960" y="1097280"/>
                  </a:lnTo>
                  <a:lnTo>
                    <a:pt x="0" y="1097280"/>
                  </a:lnTo>
                  <a:close/>
                </a:path>
              </a:pathLst>
            </a:custGeom>
            <a:blipFill>
              <a:blip r:embed="rId3">
                <a:alphaModFix amt="0"/>
              </a:blip>
              <a:stretch>
                <a:fillRect t="-32270" b="-32270"/>
              </a:stretch>
            </a:blipFill>
          </p:spPr>
          <p:txBody>
            <a:bodyPr/>
            <a:lstStyle/>
            <a:p>
              <a:endParaRPr lang="en-IN"/>
            </a:p>
          </p:txBody>
        </p:sp>
        <p:sp>
          <p:nvSpPr>
            <p:cNvPr id="67" name="TextBox 67"/>
            <p:cNvSpPr txBox="1"/>
            <p:nvPr/>
          </p:nvSpPr>
          <p:spPr>
            <a:xfrm>
              <a:off x="0" y="-38100"/>
              <a:ext cx="4632960" cy="1135380"/>
            </a:xfrm>
            <a:prstGeom prst="rect">
              <a:avLst/>
            </a:prstGeom>
          </p:spPr>
          <p:txBody>
            <a:bodyPr lIns="0" tIns="0" rIns="0" bIns="0" rtlCol="0" anchor="ctr"/>
            <a:lstStyle/>
            <a:p>
              <a:pPr marL="342900" indent="-342900">
                <a:lnSpc>
                  <a:spcPts val="2879"/>
                </a:lnSpc>
                <a:buFont typeface="Arial" panose="020B0604020202020204" pitchFamily="34" charset="0"/>
                <a:buChar char="•"/>
              </a:pPr>
              <a:r>
                <a:rPr lang="en-US" sz="2400" dirty="0">
                  <a:solidFill>
                    <a:schemeClr val="bg1"/>
                  </a:solidFill>
                </a:rPr>
                <a:t>SNS · S3 · CloudWatch · Lambda · Cost Explorer EC2</a:t>
              </a:r>
              <a:endParaRPr lang="en-US" sz="2400" dirty="0">
                <a:solidFill>
                  <a:schemeClr val="bg1"/>
                </a:solidFill>
                <a:latin typeface="Calibri (MS)"/>
                <a:ea typeface="Calibri (MS)"/>
                <a:cs typeface="Calibri (MS)"/>
                <a:sym typeface="Calibri (MS)"/>
              </a:endParaRPr>
            </a:p>
          </p:txBody>
        </p:sp>
      </p:grpSp>
      <p:sp>
        <p:nvSpPr>
          <p:cNvPr id="68" name="Freeform 68"/>
          <p:cNvSpPr/>
          <p:nvPr/>
        </p:nvSpPr>
        <p:spPr>
          <a:xfrm>
            <a:off x="14114597" y="385195"/>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4"/>
            <a:stretch>
              <a:fillRect/>
            </a:stretch>
          </a:blipFill>
        </p:spPr>
        <p:txBody>
          <a:bodyPr/>
          <a:lstStyle/>
          <a:p>
            <a:endParaRPr lang="en-IN"/>
          </a:p>
        </p:txBody>
      </p:sp>
      <p:sp>
        <p:nvSpPr>
          <p:cNvPr id="70" name="TextBox 69">
            <a:extLst>
              <a:ext uri="{FF2B5EF4-FFF2-40B4-BE49-F238E27FC236}">
                <a16:creationId xmlns:a16="http://schemas.microsoft.com/office/drawing/2014/main" id="{DD9117B7-5C68-383E-C396-9FC38CA3C629}"/>
              </a:ext>
            </a:extLst>
          </p:cNvPr>
          <p:cNvSpPr txBox="1"/>
          <p:nvPr/>
        </p:nvSpPr>
        <p:spPr>
          <a:xfrm>
            <a:off x="1033634" y="3176033"/>
            <a:ext cx="9144000" cy="6001643"/>
          </a:xfrm>
          <a:prstGeom prst="rect">
            <a:avLst/>
          </a:prstGeom>
          <a:noFill/>
        </p:spPr>
        <p:txBody>
          <a:bodyPr wrap="square">
            <a:spAutoFit/>
          </a:bodyPr>
          <a:lstStyle/>
          <a:p>
            <a:pPr marL="342900" indent="-342900">
              <a:buFont typeface="Arial" panose="020B0604020202020204" pitchFamily="34" charset="0"/>
              <a:buChar char="•"/>
            </a:pPr>
            <a:r>
              <a:rPr lang="en-IN" sz="2400" dirty="0">
                <a:solidFill>
                  <a:schemeClr val="bg1"/>
                </a:solidFill>
              </a:rPr>
              <a:t>Adaptive threshold engine that adjusts dynamically based on actual workload </a:t>
            </a:r>
            <a:r>
              <a:rPr lang="en-IN" sz="2400" dirty="0" err="1">
                <a:solidFill>
                  <a:schemeClr val="bg1"/>
                </a:solidFill>
              </a:rPr>
              <a:t>behavior</a:t>
            </a:r>
            <a:r>
              <a:rPr lang="en-IN" sz="2400" dirty="0">
                <a:solidFill>
                  <a:schemeClr val="bg1"/>
                </a:solidFill>
              </a:rPr>
              <a:t> .</a:t>
            </a:r>
          </a:p>
          <a:p>
            <a:pPr marL="342900" indent="-342900">
              <a:buFont typeface="Arial" panose="020B0604020202020204" pitchFamily="34" charset="0"/>
              <a:buChar char="•"/>
            </a:pPr>
            <a:r>
              <a:rPr lang="en-IN" sz="2400" dirty="0">
                <a:solidFill>
                  <a:schemeClr val="bg1"/>
                </a:solidFill>
              </a:rPr>
              <a:t>Heuristic Idle Confidence Scoring combining CPU, memory, network, uptime, and request signals .</a:t>
            </a:r>
          </a:p>
          <a:p>
            <a:pPr marL="342900" indent="-342900">
              <a:buFont typeface="Arial" panose="020B0604020202020204" pitchFamily="34" charset="0"/>
              <a:buChar char="•"/>
            </a:pPr>
            <a:r>
              <a:rPr lang="en-IN" sz="2400" dirty="0">
                <a:solidFill>
                  <a:schemeClr val="bg1"/>
                </a:solidFill>
              </a:rPr>
              <a:t>ML Validation using Isolation Forest to verify idle detections beyond rule-based logic .</a:t>
            </a:r>
          </a:p>
          <a:p>
            <a:pPr marL="342900" indent="-342900">
              <a:buFont typeface="Arial" panose="020B0604020202020204" pitchFamily="34" charset="0"/>
              <a:buChar char="•"/>
            </a:pPr>
            <a:r>
              <a:rPr lang="en-IN" sz="2400" dirty="0">
                <a:solidFill>
                  <a:schemeClr val="bg1"/>
                </a:solidFill>
              </a:rPr>
              <a:t>Optimization engine that identifies parent deployments and safely scales down replica counts.</a:t>
            </a:r>
          </a:p>
          <a:p>
            <a:pPr marL="342900" indent="-342900">
              <a:buFont typeface="Arial" panose="020B0604020202020204" pitchFamily="34" charset="0"/>
              <a:buChar char="•"/>
            </a:pPr>
            <a:r>
              <a:rPr lang="en-IN" sz="2400" dirty="0">
                <a:solidFill>
                  <a:schemeClr val="bg1"/>
                </a:solidFill>
              </a:rPr>
              <a:t> Energy analytics engine estimating kWh saved, CO₂ reduction, and cost impact. </a:t>
            </a:r>
          </a:p>
          <a:p>
            <a:pPr marL="342900" indent="-342900">
              <a:buFont typeface="Arial" panose="020B0604020202020204" pitchFamily="34" charset="0"/>
              <a:buChar char="•"/>
            </a:pPr>
            <a:r>
              <a:rPr lang="en-IN" sz="2400" dirty="0">
                <a:solidFill>
                  <a:schemeClr val="bg1"/>
                </a:solidFill>
              </a:rPr>
              <a:t>AWS integration: SNS alerts, S3 reports, CloudWatch metrics, Lambda automation .</a:t>
            </a:r>
          </a:p>
          <a:p>
            <a:pPr marL="342900" indent="-342900">
              <a:buFont typeface="Arial" panose="020B0604020202020204" pitchFamily="34" charset="0"/>
              <a:buChar char="•"/>
            </a:pPr>
            <a:r>
              <a:rPr lang="en-IN" sz="2400" dirty="0">
                <a:solidFill>
                  <a:schemeClr val="bg1"/>
                </a:solidFill>
              </a:rPr>
              <a:t>JWT-protected APIs and Kubernetes RBAC to prevent unsafe optimization actions.</a:t>
            </a:r>
          </a:p>
          <a:p>
            <a:pPr marL="342900" indent="-342900">
              <a:buFont typeface="Arial" panose="020B0604020202020204" pitchFamily="34" charset="0"/>
              <a:buChar char="•"/>
            </a:pPr>
            <a:r>
              <a:rPr lang="en-IN" sz="2400" dirty="0">
                <a:solidFill>
                  <a:schemeClr val="bg1"/>
                </a:solidFill>
              </a:rPr>
              <a:t> React dashboard with real-time pod monitoring, ML history, and AWS proof panels.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3">
                <a:alphaModFix amt="0"/>
              </a:blip>
              <a:stretch>
                <a:fillRect t="-79900" b="-79900"/>
              </a:stretch>
            </a:blipFill>
          </p:spPr>
          <p:txBody>
            <a:bodyPr/>
            <a:lstStyle/>
            <a:p>
              <a:endParaRPr lang="en-IN"/>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a:solidFill>
                    <a:srgbClr val="0A0F1E"/>
                  </a:solidFill>
                  <a:latin typeface="Calibri (MS) Bold"/>
                  <a:ea typeface="Calibri (MS) Bold"/>
                  <a:cs typeface="Calibri (MS) Bold"/>
                  <a:sym typeface="Calibri (MS) Bold"/>
                </a:rPr>
                <a:t>SYSTEM ARCHITECTURE</a:t>
              </a:r>
            </a:p>
          </p:txBody>
        </p:sp>
      </p:grpSp>
      <p:grpSp>
        <p:nvGrpSpPr>
          <p:cNvPr id="7" name="Group 7"/>
          <p:cNvGrpSpPr/>
          <p:nvPr/>
        </p:nvGrpSpPr>
        <p:grpSpPr>
          <a:xfrm>
            <a:off x="914400" y="1316736"/>
            <a:ext cx="16459200" cy="1005840"/>
            <a:chOff x="0" y="0"/>
            <a:chExt cx="21945600" cy="1341120"/>
          </a:xfrm>
        </p:grpSpPr>
        <p:sp>
          <p:nvSpPr>
            <p:cNvPr id="8" name="Freeform 8"/>
            <p:cNvSpPr/>
            <p:nvPr/>
          </p:nvSpPr>
          <p:spPr>
            <a:xfrm>
              <a:off x="0" y="0"/>
              <a:ext cx="21945600" cy="1341120"/>
            </a:xfrm>
            <a:custGeom>
              <a:avLst/>
              <a:gdLst/>
              <a:ahLst/>
              <a:cxnLst/>
              <a:rect l="l" t="t" r="r" b="b"/>
              <a:pathLst>
                <a:path w="21945600" h="1341120">
                  <a:moveTo>
                    <a:pt x="0" y="0"/>
                  </a:moveTo>
                  <a:lnTo>
                    <a:pt x="21945600" y="0"/>
                  </a:lnTo>
                  <a:lnTo>
                    <a:pt x="21945600" y="1341120"/>
                  </a:lnTo>
                  <a:lnTo>
                    <a:pt x="0" y="1341120"/>
                  </a:lnTo>
                  <a:close/>
                </a:path>
              </a:pathLst>
            </a:custGeom>
            <a:blipFill>
              <a:blip r:embed="rId3">
                <a:alphaModFix amt="0"/>
              </a:blip>
              <a:stretch>
                <a:fillRect t="-268846" b="-268846"/>
              </a:stretch>
            </a:blipFill>
          </p:spPr>
          <p:txBody>
            <a:bodyPr/>
            <a:lstStyle/>
            <a:p>
              <a:endParaRPr lang="en-IN"/>
            </a:p>
          </p:txBody>
        </p:sp>
        <p:sp>
          <p:nvSpPr>
            <p:cNvPr id="9" name="TextBox 9"/>
            <p:cNvSpPr txBox="1"/>
            <p:nvPr/>
          </p:nvSpPr>
          <p:spPr>
            <a:xfrm>
              <a:off x="0" y="-114300"/>
              <a:ext cx="21945600" cy="1455420"/>
            </a:xfrm>
            <a:prstGeom prst="rect">
              <a:avLst/>
            </a:prstGeom>
          </p:spPr>
          <p:txBody>
            <a:bodyPr lIns="0" tIns="0" rIns="0" bIns="0" rtlCol="0" anchor="ctr"/>
            <a:lstStyle/>
            <a:p>
              <a:pPr algn="l">
                <a:lnSpc>
                  <a:spcPts val="6719"/>
                </a:lnSpc>
              </a:pPr>
              <a:r>
                <a:rPr lang="en-US" sz="5599" b="1">
                  <a:solidFill>
                    <a:srgbClr val="FFFFFF"/>
                  </a:solidFill>
                  <a:latin typeface="Calibri (MS) Bold"/>
                  <a:ea typeface="Calibri (MS) Bold"/>
                  <a:cs typeface="Calibri (MS) Bold"/>
                  <a:sym typeface="Calibri (MS) Bold"/>
                </a:rPr>
                <a:t>End-to-End Architecture</a:t>
              </a:r>
            </a:p>
          </p:txBody>
        </p:sp>
      </p:grpSp>
      <p:sp>
        <p:nvSpPr>
          <p:cNvPr id="11" name="Freeform 11"/>
          <p:cNvSpPr/>
          <p:nvPr/>
        </p:nvSpPr>
        <p:spPr>
          <a:xfrm>
            <a:off x="14114597" y="385195"/>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4"/>
            <a:stretch>
              <a:fillRect/>
            </a:stretch>
          </a:blipFill>
        </p:spPr>
        <p:txBody>
          <a:bodyPr/>
          <a:lstStyle/>
          <a:p>
            <a:endParaRPr lang="en-IN"/>
          </a:p>
        </p:txBody>
      </p:sp>
      <p:pic>
        <p:nvPicPr>
          <p:cNvPr id="17" name="Picture 16">
            <a:extLst>
              <a:ext uri="{FF2B5EF4-FFF2-40B4-BE49-F238E27FC236}">
                <a16:creationId xmlns:a16="http://schemas.microsoft.com/office/drawing/2014/main" id="{C48B5BD9-EFC8-809B-74B5-3208A17AE0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200" y="2705100"/>
            <a:ext cx="18135600" cy="5715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3">
                <a:alphaModFix amt="0"/>
              </a:blip>
              <a:stretch>
                <a:fillRect t="-79900" b="-79900"/>
              </a:stretch>
            </a:blipFill>
          </p:spPr>
          <p:txBody>
            <a:bodyPr/>
            <a:lstStyle/>
            <a:p>
              <a:endParaRPr lang="en-IN"/>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a:solidFill>
                    <a:srgbClr val="0A0F1E"/>
                  </a:solidFill>
                  <a:latin typeface="Calibri (MS) Bold"/>
                  <a:ea typeface="Calibri (MS) Bold"/>
                  <a:cs typeface="Calibri (MS) Bold"/>
                  <a:sym typeface="Calibri (MS) Bold"/>
                </a:rPr>
                <a:t>TECH STACK</a:t>
              </a:r>
            </a:p>
          </p:txBody>
        </p:sp>
      </p:grpSp>
      <p:grpSp>
        <p:nvGrpSpPr>
          <p:cNvPr id="7" name="Group 7"/>
          <p:cNvGrpSpPr/>
          <p:nvPr/>
        </p:nvGrpSpPr>
        <p:grpSpPr>
          <a:xfrm>
            <a:off x="914400" y="1316736"/>
            <a:ext cx="16459200" cy="1005840"/>
            <a:chOff x="0" y="0"/>
            <a:chExt cx="21945600" cy="1341120"/>
          </a:xfrm>
        </p:grpSpPr>
        <p:sp>
          <p:nvSpPr>
            <p:cNvPr id="8" name="Freeform 8"/>
            <p:cNvSpPr/>
            <p:nvPr/>
          </p:nvSpPr>
          <p:spPr>
            <a:xfrm>
              <a:off x="0" y="0"/>
              <a:ext cx="21945600" cy="1341120"/>
            </a:xfrm>
            <a:custGeom>
              <a:avLst/>
              <a:gdLst/>
              <a:ahLst/>
              <a:cxnLst/>
              <a:rect l="l" t="t" r="r" b="b"/>
              <a:pathLst>
                <a:path w="21945600" h="1341120">
                  <a:moveTo>
                    <a:pt x="0" y="0"/>
                  </a:moveTo>
                  <a:lnTo>
                    <a:pt x="21945600" y="0"/>
                  </a:lnTo>
                  <a:lnTo>
                    <a:pt x="21945600" y="1341120"/>
                  </a:lnTo>
                  <a:lnTo>
                    <a:pt x="0" y="1341120"/>
                  </a:lnTo>
                  <a:close/>
                </a:path>
              </a:pathLst>
            </a:custGeom>
            <a:blipFill>
              <a:blip r:embed="rId3">
                <a:alphaModFix amt="0"/>
              </a:blip>
              <a:stretch>
                <a:fillRect t="-268846" b="-268846"/>
              </a:stretch>
            </a:blipFill>
          </p:spPr>
          <p:txBody>
            <a:bodyPr/>
            <a:lstStyle/>
            <a:p>
              <a:endParaRPr lang="en-IN"/>
            </a:p>
          </p:txBody>
        </p:sp>
        <p:sp>
          <p:nvSpPr>
            <p:cNvPr id="9" name="TextBox 9"/>
            <p:cNvSpPr txBox="1"/>
            <p:nvPr/>
          </p:nvSpPr>
          <p:spPr>
            <a:xfrm>
              <a:off x="0" y="-114300"/>
              <a:ext cx="21945600" cy="1455420"/>
            </a:xfrm>
            <a:prstGeom prst="rect">
              <a:avLst/>
            </a:prstGeom>
          </p:spPr>
          <p:txBody>
            <a:bodyPr lIns="0" tIns="0" rIns="0" bIns="0" rtlCol="0" anchor="ctr"/>
            <a:lstStyle/>
            <a:p>
              <a:pPr algn="l">
                <a:lnSpc>
                  <a:spcPts val="6719"/>
                </a:lnSpc>
              </a:pPr>
              <a:r>
                <a:rPr lang="en-US" sz="5599" b="1">
                  <a:solidFill>
                    <a:srgbClr val="FFFFFF"/>
                  </a:solidFill>
                  <a:latin typeface="Calibri (MS) Bold"/>
                  <a:ea typeface="Calibri (MS) Bold"/>
                  <a:cs typeface="Calibri (MS) Bold"/>
                  <a:sym typeface="Calibri (MS) Bold"/>
                </a:rPr>
                <a:t>Technology Stack</a:t>
              </a:r>
            </a:p>
          </p:txBody>
        </p:sp>
      </p:grpSp>
      <p:grpSp>
        <p:nvGrpSpPr>
          <p:cNvPr id="12" name="Group 12"/>
          <p:cNvGrpSpPr/>
          <p:nvPr/>
        </p:nvGrpSpPr>
        <p:grpSpPr>
          <a:xfrm>
            <a:off x="457200" y="2628900"/>
            <a:ext cx="4023360" cy="694944"/>
            <a:chOff x="0" y="0"/>
            <a:chExt cx="5364480" cy="926592"/>
          </a:xfrm>
        </p:grpSpPr>
        <p:sp>
          <p:nvSpPr>
            <p:cNvPr id="13" name="Freeform 13"/>
            <p:cNvSpPr/>
            <p:nvPr/>
          </p:nvSpPr>
          <p:spPr>
            <a:xfrm>
              <a:off x="0" y="0"/>
              <a:ext cx="5364480" cy="926592"/>
            </a:xfrm>
            <a:custGeom>
              <a:avLst/>
              <a:gdLst/>
              <a:ahLst/>
              <a:cxnLst/>
              <a:rect l="l" t="t" r="r" b="b"/>
              <a:pathLst>
                <a:path w="5364480" h="926592">
                  <a:moveTo>
                    <a:pt x="0" y="0"/>
                  </a:moveTo>
                  <a:lnTo>
                    <a:pt x="5364480" y="0"/>
                  </a:lnTo>
                  <a:lnTo>
                    <a:pt x="5364480" y="926592"/>
                  </a:lnTo>
                  <a:lnTo>
                    <a:pt x="0" y="926592"/>
                  </a:lnTo>
                  <a:close/>
                </a:path>
              </a:pathLst>
            </a:custGeom>
            <a:blipFill>
              <a:blip r:embed="rId3">
                <a:alphaModFix amt="0"/>
              </a:blip>
              <a:stretch>
                <a:fillRect t="-62808" b="-62808"/>
              </a:stretch>
            </a:blipFill>
          </p:spPr>
          <p:txBody>
            <a:bodyPr/>
            <a:lstStyle/>
            <a:p>
              <a:endParaRPr lang="en-IN"/>
            </a:p>
          </p:txBody>
        </p:sp>
        <p:sp>
          <p:nvSpPr>
            <p:cNvPr id="14" name="TextBox 14"/>
            <p:cNvSpPr txBox="1"/>
            <p:nvPr/>
          </p:nvSpPr>
          <p:spPr>
            <a:xfrm>
              <a:off x="0" y="-57150"/>
              <a:ext cx="5364480" cy="983742"/>
            </a:xfrm>
            <a:prstGeom prst="rect">
              <a:avLst/>
            </a:prstGeom>
          </p:spPr>
          <p:txBody>
            <a:bodyPr lIns="0" tIns="0" rIns="0" bIns="0" rtlCol="0" anchor="ctr"/>
            <a:lstStyle/>
            <a:p>
              <a:pPr algn="ctr">
                <a:lnSpc>
                  <a:spcPts val="3120"/>
                </a:lnSpc>
              </a:pPr>
              <a:r>
                <a:rPr lang="en-US" sz="2600" b="1">
                  <a:solidFill>
                    <a:srgbClr val="0A0F1E"/>
                  </a:solidFill>
                  <a:latin typeface="Calibri (MS) Bold"/>
                  <a:ea typeface="Calibri (MS) Bold"/>
                  <a:cs typeface="Calibri (MS) Bold"/>
                  <a:sym typeface="Calibri (MS) Bold"/>
                </a:rPr>
                <a:t>Frontend</a:t>
              </a:r>
            </a:p>
          </p:txBody>
        </p:sp>
      </p:grpSp>
      <p:sp>
        <p:nvSpPr>
          <p:cNvPr id="158" name="Freeform 158"/>
          <p:cNvSpPr/>
          <p:nvPr/>
        </p:nvSpPr>
        <p:spPr>
          <a:xfrm>
            <a:off x="14114597" y="385195"/>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4"/>
            <a:stretch>
              <a:fillRect/>
            </a:stretch>
          </a:blipFill>
        </p:spPr>
        <p:txBody>
          <a:bodyPr/>
          <a:lstStyle/>
          <a:p>
            <a:endParaRPr lang="en-IN"/>
          </a:p>
        </p:txBody>
      </p:sp>
      <p:sp>
        <p:nvSpPr>
          <p:cNvPr id="162" name="TextBox 161">
            <a:extLst>
              <a:ext uri="{FF2B5EF4-FFF2-40B4-BE49-F238E27FC236}">
                <a16:creationId xmlns:a16="http://schemas.microsoft.com/office/drawing/2014/main" id="{E62E8A39-047C-6A2A-AA95-DD7D4237C45C}"/>
              </a:ext>
            </a:extLst>
          </p:cNvPr>
          <p:cNvSpPr txBox="1"/>
          <p:nvPr/>
        </p:nvSpPr>
        <p:spPr>
          <a:xfrm>
            <a:off x="7696200" y="1776793"/>
            <a:ext cx="4191000" cy="8402300"/>
          </a:xfrm>
          <a:prstGeom prst="rect">
            <a:avLst/>
          </a:prstGeom>
          <a:noFill/>
        </p:spPr>
        <p:txBody>
          <a:bodyPr wrap="square">
            <a:spAutoFit/>
          </a:bodyPr>
          <a:lstStyle/>
          <a:p>
            <a:r>
              <a:rPr lang="en-IN" sz="2800" b="1" dirty="0">
                <a:solidFill>
                  <a:schemeClr val="bg1"/>
                </a:solidFill>
              </a:rPr>
              <a:t>Frontend</a:t>
            </a:r>
            <a:endParaRPr lang="en-IN" sz="2800" dirty="0">
              <a:solidFill>
                <a:schemeClr val="bg1"/>
              </a:solidFill>
            </a:endParaRPr>
          </a:p>
          <a:p>
            <a:pPr marL="342900" indent="-342900">
              <a:buFont typeface="Arial" panose="020B0604020202020204" pitchFamily="34" charset="0"/>
              <a:buChar char="•"/>
            </a:pPr>
            <a:r>
              <a:rPr lang="en-IN" sz="2400" dirty="0">
                <a:solidFill>
                  <a:schemeClr val="bg1"/>
                </a:solidFill>
              </a:rPr>
              <a:t>React (SPA Dashboard)</a:t>
            </a:r>
          </a:p>
          <a:p>
            <a:pPr marL="342900" indent="-342900">
              <a:buFont typeface="Arial" panose="020B0604020202020204" pitchFamily="34" charset="0"/>
              <a:buChar char="•"/>
            </a:pPr>
            <a:r>
              <a:rPr lang="en-IN" sz="2400" dirty="0">
                <a:solidFill>
                  <a:schemeClr val="bg1"/>
                </a:solidFill>
              </a:rPr>
              <a:t>React Router</a:t>
            </a:r>
          </a:p>
          <a:p>
            <a:pPr marL="342900" indent="-342900">
              <a:buFont typeface="Arial" panose="020B0604020202020204" pitchFamily="34" charset="0"/>
              <a:buChar char="•"/>
            </a:pPr>
            <a:r>
              <a:rPr lang="en-IN" sz="2400" dirty="0">
                <a:solidFill>
                  <a:schemeClr val="bg1"/>
                </a:solidFill>
              </a:rPr>
              <a:t>Axios</a:t>
            </a:r>
          </a:p>
          <a:p>
            <a:pPr marL="342900" indent="-342900">
              <a:buFont typeface="Arial" panose="020B0604020202020204" pitchFamily="34" charset="0"/>
              <a:buChar char="•"/>
            </a:pPr>
            <a:r>
              <a:rPr lang="en-IN" sz="2400" dirty="0">
                <a:solidFill>
                  <a:schemeClr val="bg1"/>
                </a:solidFill>
              </a:rPr>
              <a:t>Chart.js / Recharts</a:t>
            </a:r>
          </a:p>
          <a:p>
            <a:pPr marL="342900" indent="-342900">
              <a:buFont typeface="Arial" panose="020B0604020202020204" pitchFamily="34" charset="0"/>
              <a:buChar char="•"/>
            </a:pPr>
            <a:r>
              <a:rPr lang="en-IN" sz="2400" dirty="0">
                <a:solidFill>
                  <a:schemeClr val="bg1"/>
                </a:solidFill>
              </a:rPr>
              <a:t>Nginx (container)</a:t>
            </a:r>
          </a:p>
          <a:p>
            <a:pPr marL="342900" indent="-342900">
              <a:buFont typeface="Arial" panose="020B0604020202020204" pitchFamily="34" charset="0"/>
              <a:buChar char="•"/>
            </a:pPr>
            <a:r>
              <a:rPr lang="en-IN" sz="2400" dirty="0">
                <a:solidFill>
                  <a:schemeClr val="bg1"/>
                </a:solidFill>
              </a:rPr>
              <a:t>Docker image</a:t>
            </a:r>
          </a:p>
          <a:p>
            <a:pPr marL="342900" indent="-342900">
              <a:buFont typeface="Arial" panose="020B0604020202020204" pitchFamily="34" charset="0"/>
              <a:buChar char="•"/>
            </a:pPr>
            <a:endParaRPr lang="en-IN" sz="2400" dirty="0">
              <a:solidFill>
                <a:schemeClr val="bg1"/>
              </a:solidFill>
            </a:endParaRPr>
          </a:p>
          <a:p>
            <a:r>
              <a:rPr lang="en-IN" sz="2800" b="1" dirty="0">
                <a:solidFill>
                  <a:schemeClr val="bg1"/>
                </a:solidFill>
              </a:rPr>
              <a:t>Backend API</a:t>
            </a:r>
            <a:endParaRPr lang="en-IN" sz="2800" dirty="0">
              <a:solidFill>
                <a:schemeClr val="bg1"/>
              </a:solidFill>
            </a:endParaRPr>
          </a:p>
          <a:p>
            <a:pPr marL="342900" indent="-342900">
              <a:buFont typeface="Arial" panose="020B0604020202020204" pitchFamily="34" charset="0"/>
              <a:buChar char="•"/>
            </a:pPr>
            <a:r>
              <a:rPr lang="en-IN" sz="2400" dirty="0">
                <a:solidFill>
                  <a:schemeClr val="bg1"/>
                </a:solidFill>
              </a:rPr>
              <a:t>Python </a:t>
            </a:r>
            <a:r>
              <a:rPr lang="en-IN" sz="2400" dirty="0" err="1">
                <a:solidFill>
                  <a:schemeClr val="bg1"/>
                </a:solidFill>
              </a:rPr>
              <a:t>FastAPI</a:t>
            </a:r>
            <a:endParaRPr lang="en-IN" sz="2400" dirty="0">
              <a:solidFill>
                <a:schemeClr val="bg1"/>
              </a:solidFill>
            </a:endParaRPr>
          </a:p>
          <a:p>
            <a:pPr marL="342900" indent="-342900">
              <a:buFont typeface="Arial" panose="020B0604020202020204" pitchFamily="34" charset="0"/>
              <a:buChar char="•"/>
            </a:pPr>
            <a:r>
              <a:rPr lang="en-IN" sz="2400" dirty="0">
                <a:solidFill>
                  <a:schemeClr val="bg1"/>
                </a:solidFill>
              </a:rPr>
              <a:t>JWT Authentication</a:t>
            </a:r>
          </a:p>
          <a:p>
            <a:pPr marL="342900" indent="-342900">
              <a:buFont typeface="Arial" panose="020B0604020202020204" pitchFamily="34" charset="0"/>
              <a:buChar char="•"/>
            </a:pPr>
            <a:r>
              <a:rPr lang="en-IN" sz="2400" dirty="0">
                <a:solidFill>
                  <a:schemeClr val="bg1"/>
                </a:solidFill>
              </a:rPr>
              <a:t>REST API endpoints</a:t>
            </a:r>
          </a:p>
          <a:p>
            <a:pPr marL="342900" indent="-342900">
              <a:buFont typeface="Arial" panose="020B0604020202020204" pitchFamily="34" charset="0"/>
              <a:buChar char="•"/>
            </a:pPr>
            <a:r>
              <a:rPr lang="en-IN" sz="2400" dirty="0">
                <a:solidFill>
                  <a:schemeClr val="bg1"/>
                </a:solidFill>
              </a:rPr>
              <a:t>CORS configuration</a:t>
            </a:r>
          </a:p>
          <a:p>
            <a:pPr marL="342900" indent="-342900">
              <a:buFont typeface="Arial" panose="020B0604020202020204" pitchFamily="34" charset="0"/>
              <a:buChar char="•"/>
            </a:pPr>
            <a:r>
              <a:rPr lang="en-IN" sz="2400" dirty="0">
                <a:solidFill>
                  <a:schemeClr val="bg1"/>
                </a:solidFill>
              </a:rPr>
              <a:t>Docker image</a:t>
            </a:r>
          </a:p>
          <a:p>
            <a:endParaRPr lang="en-IN" sz="2400" dirty="0">
              <a:solidFill>
                <a:schemeClr val="bg1"/>
              </a:solidFill>
            </a:endParaRPr>
          </a:p>
          <a:p>
            <a:r>
              <a:rPr lang="en-IN" sz="2800" b="1" dirty="0">
                <a:solidFill>
                  <a:schemeClr val="bg1"/>
                </a:solidFill>
              </a:rPr>
              <a:t>ML &amp; Intelligence</a:t>
            </a:r>
            <a:endParaRPr lang="en-IN" sz="2800" dirty="0">
              <a:solidFill>
                <a:schemeClr val="bg1"/>
              </a:solidFill>
            </a:endParaRPr>
          </a:p>
          <a:p>
            <a:pPr marL="342900" indent="-342900">
              <a:buFont typeface="Arial" panose="020B0604020202020204" pitchFamily="34" charset="0"/>
              <a:buChar char="•"/>
            </a:pPr>
            <a:r>
              <a:rPr lang="en-IN" sz="2400" dirty="0">
                <a:solidFill>
                  <a:schemeClr val="bg1"/>
                </a:solidFill>
              </a:rPr>
              <a:t>Scikit-learn</a:t>
            </a:r>
          </a:p>
          <a:p>
            <a:pPr marL="342900" indent="-342900">
              <a:buFont typeface="Arial" panose="020B0604020202020204" pitchFamily="34" charset="0"/>
              <a:buChar char="•"/>
            </a:pPr>
            <a:r>
              <a:rPr lang="en-IN" sz="2400" dirty="0">
                <a:solidFill>
                  <a:schemeClr val="bg1"/>
                </a:solidFill>
              </a:rPr>
              <a:t>Isolation Forest model</a:t>
            </a:r>
          </a:p>
          <a:p>
            <a:pPr marL="342900" indent="-342900">
              <a:buFont typeface="Arial" panose="020B0604020202020204" pitchFamily="34" charset="0"/>
              <a:buChar char="•"/>
            </a:pPr>
            <a:r>
              <a:rPr lang="en-IN" sz="2400" dirty="0">
                <a:solidFill>
                  <a:schemeClr val="bg1"/>
                </a:solidFill>
              </a:rPr>
              <a:t>Heuristic scoring engine</a:t>
            </a:r>
          </a:p>
          <a:p>
            <a:pPr marL="342900" indent="-342900">
              <a:buFont typeface="Arial" panose="020B0604020202020204" pitchFamily="34" charset="0"/>
              <a:buChar char="•"/>
            </a:pPr>
            <a:r>
              <a:rPr lang="en-IN" sz="2400" dirty="0">
                <a:solidFill>
                  <a:schemeClr val="bg1"/>
                </a:solidFill>
              </a:rPr>
              <a:t>Adaptive threshold logic</a:t>
            </a:r>
          </a:p>
          <a:p>
            <a:pPr marL="342900" indent="-342900">
              <a:buFont typeface="Arial" panose="020B0604020202020204" pitchFamily="34" charset="0"/>
              <a:buChar char="•"/>
            </a:pPr>
            <a:r>
              <a:rPr lang="en-IN" sz="2400" dirty="0">
                <a:solidFill>
                  <a:schemeClr val="bg1"/>
                </a:solidFill>
              </a:rPr>
              <a:t>NumPy / Pandas</a:t>
            </a:r>
          </a:p>
          <a:p>
            <a:pPr>
              <a:buNone/>
            </a:pPr>
            <a:endParaRPr lang="en-IN" sz="2400" dirty="0">
              <a:solidFill>
                <a:schemeClr val="bg1"/>
              </a:solidFill>
            </a:endParaRPr>
          </a:p>
        </p:txBody>
      </p:sp>
      <p:sp>
        <p:nvSpPr>
          <p:cNvPr id="164" name="TextBox 163">
            <a:extLst>
              <a:ext uri="{FF2B5EF4-FFF2-40B4-BE49-F238E27FC236}">
                <a16:creationId xmlns:a16="http://schemas.microsoft.com/office/drawing/2014/main" id="{D11F2310-08B2-5B62-9886-2EC9E7D2C4C3}"/>
              </a:ext>
            </a:extLst>
          </p:cNvPr>
          <p:cNvSpPr txBox="1"/>
          <p:nvPr/>
        </p:nvSpPr>
        <p:spPr>
          <a:xfrm>
            <a:off x="12178305" y="1825502"/>
            <a:ext cx="3872584" cy="5755422"/>
          </a:xfrm>
          <a:prstGeom prst="rect">
            <a:avLst/>
          </a:prstGeom>
          <a:noFill/>
        </p:spPr>
        <p:txBody>
          <a:bodyPr wrap="square">
            <a:spAutoFit/>
          </a:bodyPr>
          <a:lstStyle/>
          <a:p>
            <a:pPr>
              <a:buNone/>
            </a:pPr>
            <a:r>
              <a:rPr lang="en-IN" sz="2800" b="1" dirty="0">
                <a:solidFill>
                  <a:schemeClr val="bg1"/>
                </a:solidFill>
              </a:rPr>
              <a:t>Infrastructure</a:t>
            </a:r>
            <a:endParaRPr lang="en-IN" sz="2800" dirty="0">
              <a:solidFill>
                <a:schemeClr val="bg1"/>
              </a:solidFill>
            </a:endParaRPr>
          </a:p>
          <a:p>
            <a:pPr>
              <a:buFont typeface="Arial" panose="020B0604020202020204" pitchFamily="34" charset="0"/>
              <a:buChar char="•"/>
            </a:pPr>
            <a:r>
              <a:rPr lang="en-IN" sz="2400" dirty="0">
                <a:solidFill>
                  <a:schemeClr val="bg1"/>
                </a:solidFill>
              </a:rPr>
              <a:t>Kubernetes / </a:t>
            </a:r>
            <a:r>
              <a:rPr lang="en-IN" sz="2400" dirty="0" err="1">
                <a:solidFill>
                  <a:schemeClr val="bg1"/>
                </a:solidFill>
              </a:rPr>
              <a:t>Minikube</a:t>
            </a:r>
            <a:endParaRPr lang="en-IN" sz="2400" dirty="0">
              <a:solidFill>
                <a:schemeClr val="bg1"/>
              </a:solidFill>
            </a:endParaRPr>
          </a:p>
          <a:p>
            <a:pPr>
              <a:buFont typeface="Arial" panose="020B0604020202020204" pitchFamily="34" charset="0"/>
              <a:buChar char="•"/>
            </a:pPr>
            <a:r>
              <a:rPr lang="en-IN" sz="2400" dirty="0">
                <a:solidFill>
                  <a:schemeClr val="bg1"/>
                </a:solidFill>
              </a:rPr>
              <a:t>metrics-server</a:t>
            </a:r>
          </a:p>
          <a:p>
            <a:pPr>
              <a:buFont typeface="Arial" panose="020B0604020202020204" pitchFamily="34" charset="0"/>
              <a:buChar char="•"/>
            </a:pPr>
            <a:r>
              <a:rPr lang="en-IN" sz="2400" dirty="0" err="1">
                <a:solidFill>
                  <a:schemeClr val="bg1"/>
                </a:solidFill>
              </a:rPr>
              <a:t>kubectl</a:t>
            </a:r>
            <a:r>
              <a:rPr lang="en-IN" sz="2400" dirty="0">
                <a:solidFill>
                  <a:schemeClr val="bg1"/>
                </a:solidFill>
              </a:rPr>
              <a:t> + Python k8s client</a:t>
            </a:r>
          </a:p>
          <a:p>
            <a:pPr>
              <a:buFont typeface="Arial" panose="020B0604020202020204" pitchFamily="34" charset="0"/>
              <a:buChar char="•"/>
            </a:pPr>
            <a:r>
              <a:rPr lang="en-IN" sz="2400" dirty="0">
                <a:solidFill>
                  <a:schemeClr val="bg1"/>
                </a:solidFill>
              </a:rPr>
              <a:t>Docker + Docker Compose</a:t>
            </a:r>
          </a:p>
          <a:p>
            <a:pPr>
              <a:buFont typeface="Arial" panose="020B0604020202020204" pitchFamily="34" charset="0"/>
              <a:buChar char="•"/>
            </a:pPr>
            <a:r>
              <a:rPr lang="en-IN" sz="2400" dirty="0">
                <a:solidFill>
                  <a:schemeClr val="bg1"/>
                </a:solidFill>
              </a:rPr>
              <a:t>EC2 (cloud deployment)</a:t>
            </a:r>
          </a:p>
          <a:p>
            <a:pPr>
              <a:buFont typeface="Arial" panose="020B0604020202020204" pitchFamily="34" charset="0"/>
              <a:buChar char="•"/>
            </a:pPr>
            <a:endParaRPr lang="en-IN" sz="2400" dirty="0">
              <a:solidFill>
                <a:schemeClr val="bg1"/>
              </a:solidFill>
            </a:endParaRPr>
          </a:p>
          <a:p>
            <a:pPr>
              <a:buNone/>
            </a:pPr>
            <a:r>
              <a:rPr lang="en-IN" sz="2800" b="1" dirty="0">
                <a:solidFill>
                  <a:schemeClr val="bg1"/>
                </a:solidFill>
              </a:rPr>
              <a:t>AWS Services</a:t>
            </a:r>
            <a:endParaRPr lang="en-IN" sz="2800" dirty="0">
              <a:solidFill>
                <a:schemeClr val="bg1"/>
              </a:solidFill>
            </a:endParaRPr>
          </a:p>
          <a:p>
            <a:pPr>
              <a:buFont typeface="Arial" panose="020B0604020202020204" pitchFamily="34" charset="0"/>
              <a:buChar char="•"/>
            </a:pPr>
            <a:r>
              <a:rPr lang="en-IN" sz="2400" dirty="0">
                <a:solidFill>
                  <a:schemeClr val="bg1"/>
                </a:solidFill>
              </a:rPr>
              <a:t>SNS (alerts)</a:t>
            </a:r>
          </a:p>
          <a:p>
            <a:pPr>
              <a:buFont typeface="Arial" panose="020B0604020202020204" pitchFamily="34" charset="0"/>
              <a:buChar char="•"/>
            </a:pPr>
            <a:r>
              <a:rPr lang="en-IN" sz="2400" dirty="0">
                <a:solidFill>
                  <a:schemeClr val="bg1"/>
                </a:solidFill>
              </a:rPr>
              <a:t>S3 (reports/logs)</a:t>
            </a:r>
          </a:p>
          <a:p>
            <a:pPr>
              <a:buFont typeface="Arial" panose="020B0604020202020204" pitchFamily="34" charset="0"/>
              <a:buChar char="•"/>
            </a:pPr>
            <a:r>
              <a:rPr lang="en-IN" sz="2400" dirty="0">
                <a:solidFill>
                  <a:schemeClr val="bg1"/>
                </a:solidFill>
              </a:rPr>
              <a:t>CloudWatch (metrics)</a:t>
            </a:r>
          </a:p>
          <a:p>
            <a:pPr>
              <a:buFont typeface="Arial" panose="020B0604020202020204" pitchFamily="34" charset="0"/>
              <a:buChar char="•"/>
            </a:pPr>
            <a:r>
              <a:rPr lang="en-IN" sz="2400" dirty="0">
                <a:solidFill>
                  <a:schemeClr val="bg1"/>
                </a:solidFill>
              </a:rPr>
              <a:t>Lambda (automation)</a:t>
            </a:r>
          </a:p>
          <a:p>
            <a:pPr>
              <a:buFont typeface="Arial" panose="020B0604020202020204" pitchFamily="34" charset="0"/>
              <a:buChar char="•"/>
            </a:pPr>
            <a:r>
              <a:rPr lang="en-IN" sz="2400" dirty="0">
                <a:solidFill>
                  <a:schemeClr val="bg1"/>
                </a:solidFill>
              </a:rPr>
              <a:t>IAM (permissions)</a:t>
            </a:r>
          </a:p>
          <a:p>
            <a:pPr>
              <a:buFont typeface="Arial" panose="020B0604020202020204" pitchFamily="34" charset="0"/>
              <a:buChar char="•"/>
            </a:pPr>
            <a:r>
              <a:rPr lang="en-IN" sz="2400" dirty="0">
                <a:solidFill>
                  <a:schemeClr val="bg1"/>
                </a:solidFill>
              </a:rPr>
              <a:t>EC2</a:t>
            </a:r>
          </a:p>
          <a:p>
            <a:pPr>
              <a:buFont typeface="Arial" panose="020B0604020202020204" pitchFamily="34" charset="0"/>
              <a:buChar char="•"/>
            </a:pPr>
            <a:r>
              <a:rPr lang="en-IN" sz="2400" dirty="0">
                <a:solidFill>
                  <a:schemeClr val="bg1"/>
                </a:solidFill>
              </a:rPr>
              <a:t>Cost Explorer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solidFill>
                  <a:schemeClr val="bg1"/>
                </a:solidFill>
              </a:endParaRPr>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3">
                <a:alphaModFix amt="0"/>
              </a:blip>
              <a:stretch>
                <a:fillRect t="-79900" b="-79900"/>
              </a:stretch>
            </a:blipFill>
          </p:spPr>
          <p:txBody>
            <a:bodyPr/>
            <a:lstStyle/>
            <a:p>
              <a:endParaRPr lang="en-IN">
                <a:solidFill>
                  <a:schemeClr val="bg1"/>
                </a:solidFill>
              </a:endParaRPr>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a:solidFill>
                    <a:schemeClr val="bg1"/>
                  </a:solidFill>
                  <a:latin typeface="Calibri (MS) Bold"/>
                  <a:ea typeface="Calibri (MS) Bold"/>
                  <a:cs typeface="Calibri (MS) Bold"/>
                  <a:sym typeface="Calibri (MS) Bold"/>
                </a:rPr>
                <a:t>AWS SERVICES</a:t>
              </a:r>
            </a:p>
          </p:txBody>
        </p:sp>
      </p:grpSp>
      <p:grpSp>
        <p:nvGrpSpPr>
          <p:cNvPr id="7" name="Group 7"/>
          <p:cNvGrpSpPr/>
          <p:nvPr/>
        </p:nvGrpSpPr>
        <p:grpSpPr>
          <a:xfrm>
            <a:off x="914400" y="1316736"/>
            <a:ext cx="16459200" cy="1005840"/>
            <a:chOff x="0" y="0"/>
            <a:chExt cx="21945600" cy="1341120"/>
          </a:xfrm>
        </p:grpSpPr>
        <p:sp>
          <p:nvSpPr>
            <p:cNvPr id="8" name="Freeform 8"/>
            <p:cNvSpPr/>
            <p:nvPr/>
          </p:nvSpPr>
          <p:spPr>
            <a:xfrm>
              <a:off x="0" y="0"/>
              <a:ext cx="21945600" cy="1341120"/>
            </a:xfrm>
            <a:custGeom>
              <a:avLst/>
              <a:gdLst/>
              <a:ahLst/>
              <a:cxnLst/>
              <a:rect l="l" t="t" r="r" b="b"/>
              <a:pathLst>
                <a:path w="21945600" h="1341120">
                  <a:moveTo>
                    <a:pt x="0" y="0"/>
                  </a:moveTo>
                  <a:lnTo>
                    <a:pt x="21945600" y="0"/>
                  </a:lnTo>
                  <a:lnTo>
                    <a:pt x="21945600" y="1341120"/>
                  </a:lnTo>
                  <a:lnTo>
                    <a:pt x="0" y="1341120"/>
                  </a:lnTo>
                  <a:close/>
                </a:path>
              </a:pathLst>
            </a:custGeom>
            <a:blipFill>
              <a:blip r:embed="rId3">
                <a:alphaModFix amt="0"/>
              </a:blip>
              <a:stretch>
                <a:fillRect t="-268846" b="-268846"/>
              </a:stretch>
            </a:blipFill>
          </p:spPr>
          <p:txBody>
            <a:bodyPr/>
            <a:lstStyle/>
            <a:p>
              <a:endParaRPr lang="en-IN">
                <a:solidFill>
                  <a:schemeClr val="bg1"/>
                </a:solidFill>
              </a:endParaRPr>
            </a:p>
          </p:txBody>
        </p:sp>
        <p:sp>
          <p:nvSpPr>
            <p:cNvPr id="9" name="TextBox 9"/>
            <p:cNvSpPr txBox="1"/>
            <p:nvPr/>
          </p:nvSpPr>
          <p:spPr>
            <a:xfrm>
              <a:off x="0" y="-114300"/>
              <a:ext cx="21945600" cy="1455420"/>
            </a:xfrm>
            <a:prstGeom prst="rect">
              <a:avLst/>
            </a:prstGeom>
          </p:spPr>
          <p:txBody>
            <a:bodyPr lIns="0" tIns="0" rIns="0" bIns="0" rtlCol="0" anchor="ctr"/>
            <a:lstStyle/>
            <a:p>
              <a:pPr algn="l">
                <a:lnSpc>
                  <a:spcPts val="6719"/>
                </a:lnSpc>
              </a:pPr>
              <a:r>
                <a:rPr lang="en-US" sz="5599" b="1">
                  <a:solidFill>
                    <a:schemeClr val="bg1"/>
                  </a:solidFill>
                  <a:latin typeface="Calibri (MS) Bold"/>
                  <a:ea typeface="Calibri (MS) Bold"/>
                  <a:cs typeface="Calibri (MS) Bold"/>
                  <a:sym typeface="Calibri (MS) Bold"/>
                </a:rPr>
                <a:t>AWS Services We Used</a:t>
              </a:r>
            </a:p>
          </p:txBody>
        </p:sp>
      </p:grpSp>
      <p:sp>
        <p:nvSpPr>
          <p:cNvPr id="130" name="Freeform 130"/>
          <p:cNvSpPr/>
          <p:nvPr/>
        </p:nvSpPr>
        <p:spPr>
          <a:xfrm>
            <a:off x="14114597" y="385195"/>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4"/>
            <a:stretch>
              <a:fillRect/>
            </a:stretch>
          </a:blipFill>
        </p:spPr>
        <p:txBody>
          <a:bodyPr/>
          <a:lstStyle/>
          <a:p>
            <a:endParaRPr lang="en-IN">
              <a:solidFill>
                <a:schemeClr val="bg1"/>
              </a:solidFill>
            </a:endParaRPr>
          </a:p>
        </p:txBody>
      </p:sp>
      <p:graphicFrame>
        <p:nvGraphicFramePr>
          <p:cNvPr id="131" name="Table 130">
            <a:extLst>
              <a:ext uri="{FF2B5EF4-FFF2-40B4-BE49-F238E27FC236}">
                <a16:creationId xmlns:a16="http://schemas.microsoft.com/office/drawing/2014/main" id="{D6C719E4-900E-54EF-F174-E99370D528DD}"/>
              </a:ext>
            </a:extLst>
          </p:cNvPr>
          <p:cNvGraphicFramePr>
            <a:graphicFrameLocks noGrp="1"/>
          </p:cNvGraphicFramePr>
          <p:nvPr>
            <p:extLst>
              <p:ext uri="{D42A27DB-BD31-4B8C-83A1-F6EECF244321}">
                <p14:modId xmlns:p14="http://schemas.microsoft.com/office/powerpoint/2010/main" val="3726237033"/>
              </p:ext>
            </p:extLst>
          </p:nvPr>
        </p:nvGraphicFramePr>
        <p:xfrm>
          <a:off x="1371600" y="2872019"/>
          <a:ext cx="15697200" cy="4594844"/>
        </p:xfrm>
        <a:graphic>
          <a:graphicData uri="http://schemas.openxmlformats.org/drawingml/2006/table">
            <a:tbl>
              <a:tblPr>
                <a:tableStyleId>{91EBBBCC-DAD2-459C-BE2E-F6DE35CF9A28}</a:tableStyleId>
              </a:tblPr>
              <a:tblGrid>
                <a:gridCol w="3505200">
                  <a:extLst>
                    <a:ext uri="{9D8B030D-6E8A-4147-A177-3AD203B41FA5}">
                      <a16:colId xmlns:a16="http://schemas.microsoft.com/office/drawing/2014/main" val="2971974851"/>
                    </a:ext>
                  </a:extLst>
                </a:gridCol>
                <a:gridCol w="12192000">
                  <a:extLst>
                    <a:ext uri="{9D8B030D-6E8A-4147-A177-3AD203B41FA5}">
                      <a16:colId xmlns:a16="http://schemas.microsoft.com/office/drawing/2014/main" val="2465388517"/>
                    </a:ext>
                  </a:extLst>
                </a:gridCol>
              </a:tblGrid>
              <a:tr h="229163">
                <a:tc>
                  <a:txBody>
                    <a:bodyPr/>
                    <a:lstStyle/>
                    <a:p>
                      <a:pPr>
                        <a:buNone/>
                      </a:pPr>
                      <a:r>
                        <a:rPr lang="en-IN" sz="3200" b="1" dirty="0">
                          <a:solidFill>
                            <a:schemeClr val="tx1"/>
                          </a:solidFill>
                        </a:rPr>
                        <a:t>Service</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IN" sz="3200" b="1" dirty="0">
                          <a:solidFill>
                            <a:schemeClr val="tx1"/>
                          </a:solidFill>
                        </a:rPr>
                        <a:t>Purpose</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97223291"/>
                  </a:ext>
                </a:extLst>
              </a:tr>
              <a:tr h="401035">
                <a:tc>
                  <a:txBody>
                    <a:bodyPr/>
                    <a:lstStyle/>
                    <a:p>
                      <a:pPr>
                        <a:buNone/>
                      </a:pPr>
                      <a:r>
                        <a:rPr lang="en-IN" sz="2400" b="1">
                          <a:solidFill>
                            <a:schemeClr val="tx1"/>
                          </a:solidFill>
                        </a:rPr>
                        <a:t>Amazon SNS</a:t>
                      </a:r>
                      <a:endParaRPr lang="en-IN" sz="240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400" dirty="0">
                          <a:solidFill>
                            <a:schemeClr val="tx1"/>
                          </a:solidFill>
                        </a:rPr>
                        <a:t>Sends email alerts when idle pods or optimization events are detected.</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8969685"/>
                  </a:ext>
                </a:extLst>
              </a:tr>
              <a:tr h="401035">
                <a:tc>
                  <a:txBody>
                    <a:bodyPr/>
                    <a:lstStyle/>
                    <a:p>
                      <a:pPr>
                        <a:buNone/>
                      </a:pPr>
                      <a:r>
                        <a:rPr lang="en-IN" sz="2400" b="1">
                          <a:solidFill>
                            <a:schemeClr val="tx1"/>
                          </a:solidFill>
                        </a:rPr>
                        <a:t>Amazon S3</a:t>
                      </a:r>
                      <a:endParaRPr lang="en-IN" sz="240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400" dirty="0">
                          <a:solidFill>
                            <a:schemeClr val="tx1"/>
                          </a:solidFill>
                        </a:rPr>
                        <a:t>Stores telemetry reports, optimization logs, and Lambda workflow outputs.</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5469482"/>
                  </a:ext>
                </a:extLst>
              </a:tr>
              <a:tr h="401035">
                <a:tc>
                  <a:txBody>
                    <a:bodyPr/>
                    <a:lstStyle/>
                    <a:p>
                      <a:pPr>
                        <a:buNone/>
                      </a:pPr>
                      <a:r>
                        <a:rPr lang="en-IN" sz="2400" b="1">
                          <a:solidFill>
                            <a:schemeClr val="tx1"/>
                          </a:solidFill>
                        </a:rPr>
                        <a:t>Amazon CloudWatch</a:t>
                      </a:r>
                      <a:endParaRPr lang="en-IN" sz="240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400" dirty="0">
                          <a:solidFill>
                            <a:schemeClr val="tx1"/>
                          </a:solidFill>
                        </a:rPr>
                        <a:t>Receives custom metrics: </a:t>
                      </a:r>
                      <a:r>
                        <a:rPr lang="en-US" sz="2400" dirty="0" err="1">
                          <a:solidFill>
                            <a:schemeClr val="tx1"/>
                          </a:solidFill>
                        </a:rPr>
                        <a:t>IdlePodCount</a:t>
                      </a:r>
                      <a:r>
                        <a:rPr lang="en-US" sz="2400" dirty="0">
                          <a:solidFill>
                            <a:schemeClr val="tx1"/>
                          </a:solidFill>
                        </a:rPr>
                        <a:t>, </a:t>
                      </a:r>
                      <a:r>
                        <a:rPr lang="en-US" sz="2400" dirty="0" err="1">
                          <a:solidFill>
                            <a:schemeClr val="tx1"/>
                          </a:solidFill>
                        </a:rPr>
                        <a:t>OptimizationEvents</a:t>
                      </a:r>
                      <a:r>
                        <a:rPr lang="en-US" sz="2400" dirty="0">
                          <a:solidFill>
                            <a:schemeClr val="tx1"/>
                          </a:solidFill>
                        </a:rPr>
                        <a:t>, </a:t>
                      </a:r>
                      <a:r>
                        <a:rPr lang="en-US" sz="2400" dirty="0" err="1">
                          <a:solidFill>
                            <a:schemeClr val="tx1"/>
                          </a:solidFill>
                        </a:rPr>
                        <a:t>ClusterEfficiency</a:t>
                      </a:r>
                      <a:endParaRPr lang="en-US" sz="2400" dirty="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0944466"/>
                  </a:ext>
                </a:extLst>
              </a:tr>
              <a:tr h="401035">
                <a:tc>
                  <a:txBody>
                    <a:bodyPr/>
                    <a:lstStyle/>
                    <a:p>
                      <a:pPr>
                        <a:buNone/>
                      </a:pPr>
                      <a:r>
                        <a:rPr lang="en-IN" sz="2400" b="1">
                          <a:solidFill>
                            <a:schemeClr val="tx1"/>
                          </a:solidFill>
                        </a:rPr>
                        <a:t>CloudWatch Alarm</a:t>
                      </a:r>
                      <a:endParaRPr lang="en-IN" sz="240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400" dirty="0">
                          <a:solidFill>
                            <a:schemeClr val="tx1"/>
                          </a:solidFill>
                        </a:rPr>
                        <a:t>Triggers SNS notification when </a:t>
                      </a:r>
                      <a:r>
                        <a:rPr lang="en-US" sz="2400" dirty="0" err="1">
                          <a:solidFill>
                            <a:schemeClr val="tx1"/>
                          </a:solidFill>
                        </a:rPr>
                        <a:t>IdlePodCount</a:t>
                      </a:r>
                      <a:r>
                        <a:rPr lang="en-US" sz="2400" dirty="0">
                          <a:solidFill>
                            <a:schemeClr val="tx1"/>
                          </a:solidFill>
                        </a:rPr>
                        <a:t> exceeds defined threshold.</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548681"/>
                  </a:ext>
                </a:extLst>
              </a:tr>
              <a:tr h="572907">
                <a:tc>
                  <a:txBody>
                    <a:bodyPr/>
                    <a:lstStyle/>
                    <a:p>
                      <a:pPr>
                        <a:buNone/>
                      </a:pPr>
                      <a:r>
                        <a:rPr lang="en-IN" sz="2400" b="1">
                          <a:solidFill>
                            <a:schemeClr val="tx1"/>
                          </a:solidFill>
                        </a:rPr>
                        <a:t>AWS Lambda</a:t>
                      </a:r>
                      <a:endParaRPr lang="en-IN" sz="240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400" dirty="0">
                          <a:solidFill>
                            <a:schemeClr val="tx1"/>
                          </a:solidFill>
                        </a:rPr>
                        <a:t>Receives optimization event, writes JSON summary to S3, publishes SNS confirmation.</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9414037"/>
                  </a:ext>
                </a:extLst>
              </a:tr>
              <a:tr h="572907">
                <a:tc>
                  <a:txBody>
                    <a:bodyPr/>
                    <a:lstStyle/>
                    <a:p>
                      <a:pPr>
                        <a:buNone/>
                      </a:pPr>
                      <a:r>
                        <a:rPr lang="en-IN" sz="2400" b="1" dirty="0">
                          <a:solidFill>
                            <a:schemeClr val="tx1"/>
                          </a:solidFill>
                        </a:rPr>
                        <a:t>IAM</a:t>
                      </a:r>
                      <a:endParaRPr lang="en-IN" sz="2400" dirty="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400" dirty="0">
                          <a:solidFill>
                            <a:schemeClr val="tx1"/>
                          </a:solidFill>
                        </a:rPr>
                        <a:t>Controls permissions: </a:t>
                      </a:r>
                      <a:r>
                        <a:rPr lang="en-IN" sz="2400" dirty="0" err="1">
                          <a:solidFill>
                            <a:schemeClr val="tx1"/>
                          </a:solidFill>
                        </a:rPr>
                        <a:t>cloudwatch:PutMetricData</a:t>
                      </a:r>
                      <a:r>
                        <a:rPr lang="en-IN" sz="2400" dirty="0">
                          <a:solidFill>
                            <a:schemeClr val="tx1"/>
                          </a:solidFill>
                        </a:rPr>
                        <a:t>, </a:t>
                      </a:r>
                      <a:r>
                        <a:rPr lang="en-IN" sz="2400" dirty="0" err="1">
                          <a:solidFill>
                            <a:schemeClr val="tx1"/>
                          </a:solidFill>
                        </a:rPr>
                        <a:t>sns:Publish</a:t>
                      </a:r>
                      <a:r>
                        <a:rPr lang="en-IN" sz="2400" dirty="0">
                          <a:solidFill>
                            <a:schemeClr val="tx1"/>
                          </a:solidFill>
                        </a:rPr>
                        <a:t>, s3:PutObject, </a:t>
                      </a:r>
                      <a:r>
                        <a:rPr lang="en-IN" sz="2400" dirty="0" err="1">
                          <a:solidFill>
                            <a:schemeClr val="tx1"/>
                          </a:solidFill>
                        </a:rPr>
                        <a:t>lambda:InvokeFunction</a:t>
                      </a:r>
                      <a:r>
                        <a:rPr lang="en-IN" sz="2400" dirty="0">
                          <a:solidFill>
                            <a:schemeClr val="tx1"/>
                          </a:solidFill>
                        </a:rPr>
                        <a:t>.</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210889"/>
                  </a:ext>
                </a:extLst>
              </a:tr>
              <a:tr h="401035">
                <a:tc>
                  <a:txBody>
                    <a:bodyPr/>
                    <a:lstStyle/>
                    <a:p>
                      <a:pPr>
                        <a:buNone/>
                      </a:pPr>
                      <a:r>
                        <a:rPr lang="en-IN" sz="2400" b="1">
                          <a:solidFill>
                            <a:schemeClr val="tx1"/>
                          </a:solidFill>
                        </a:rPr>
                        <a:t>Cost Explorer</a:t>
                      </a:r>
                      <a:endParaRPr lang="en-IN" sz="240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400" dirty="0">
                          <a:solidFill>
                            <a:schemeClr val="tx1"/>
                          </a:solidFill>
                        </a:rPr>
                        <a:t>Displays real AWS spend data on the dashboard for cost awareness.</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3920460"/>
                  </a:ext>
                </a:extLst>
              </a:tr>
              <a:tr h="572907">
                <a:tc>
                  <a:txBody>
                    <a:bodyPr/>
                    <a:lstStyle/>
                    <a:p>
                      <a:pPr>
                        <a:buNone/>
                      </a:pPr>
                      <a:r>
                        <a:rPr lang="en-IN" sz="2400" b="1">
                          <a:solidFill>
                            <a:schemeClr val="tx1"/>
                          </a:solidFill>
                        </a:rPr>
                        <a:t>EC2</a:t>
                      </a:r>
                      <a:endParaRPr lang="en-IN" sz="2400">
                        <a:solidFill>
                          <a:schemeClr val="tx1"/>
                        </a:solidFill>
                      </a:endParaRP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400" dirty="0">
                          <a:solidFill>
                            <a:schemeClr val="tx1"/>
                          </a:solidFill>
                        </a:rPr>
                        <a:t>Hosts containerized React + </a:t>
                      </a:r>
                      <a:r>
                        <a:rPr lang="en-US" sz="2400" dirty="0" err="1">
                          <a:solidFill>
                            <a:schemeClr val="tx1"/>
                          </a:solidFill>
                        </a:rPr>
                        <a:t>FastAPI</a:t>
                      </a:r>
                      <a:r>
                        <a:rPr lang="en-US" sz="2400" dirty="0">
                          <a:solidFill>
                            <a:schemeClr val="tx1"/>
                          </a:solidFill>
                        </a:rPr>
                        <a:t> deployment via Docker Compose for cloud demo.</a:t>
                      </a:r>
                    </a:p>
                  </a:txBody>
                  <a:tcPr marL="57291" marR="57291" marT="28645" marB="286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851364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3">
                <a:alphaModFix amt="0"/>
              </a:blip>
              <a:stretch>
                <a:fillRect t="-79900" b="-79900"/>
              </a:stretch>
            </a:blipFill>
          </p:spPr>
          <p:txBody>
            <a:bodyPr/>
            <a:lstStyle/>
            <a:p>
              <a:endParaRPr lang="en-IN"/>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a:solidFill>
                    <a:srgbClr val="0A0F1E"/>
                  </a:solidFill>
                  <a:latin typeface="Calibri (MS) Bold"/>
                  <a:ea typeface="Calibri (MS) Bold"/>
                  <a:cs typeface="Calibri (MS) Bold"/>
                  <a:sym typeface="Calibri (MS) Bold"/>
                </a:rPr>
                <a:t>DESIGN DECISIONS</a:t>
              </a:r>
            </a:p>
          </p:txBody>
        </p:sp>
      </p:grpSp>
      <p:grpSp>
        <p:nvGrpSpPr>
          <p:cNvPr id="7" name="Group 7"/>
          <p:cNvGrpSpPr/>
          <p:nvPr/>
        </p:nvGrpSpPr>
        <p:grpSpPr>
          <a:xfrm>
            <a:off x="914400" y="1316736"/>
            <a:ext cx="16459200" cy="950976"/>
            <a:chOff x="0" y="0"/>
            <a:chExt cx="21945600" cy="1267968"/>
          </a:xfrm>
        </p:grpSpPr>
        <p:sp>
          <p:nvSpPr>
            <p:cNvPr id="8" name="Freeform 8"/>
            <p:cNvSpPr/>
            <p:nvPr/>
          </p:nvSpPr>
          <p:spPr>
            <a:xfrm>
              <a:off x="0" y="0"/>
              <a:ext cx="21945600" cy="1267968"/>
            </a:xfrm>
            <a:custGeom>
              <a:avLst/>
              <a:gdLst/>
              <a:ahLst/>
              <a:cxnLst/>
              <a:rect l="l" t="t" r="r" b="b"/>
              <a:pathLst>
                <a:path w="21945600" h="1267968">
                  <a:moveTo>
                    <a:pt x="0" y="0"/>
                  </a:moveTo>
                  <a:lnTo>
                    <a:pt x="21945600" y="0"/>
                  </a:lnTo>
                  <a:lnTo>
                    <a:pt x="21945600" y="1267968"/>
                  </a:lnTo>
                  <a:lnTo>
                    <a:pt x="0" y="1267968"/>
                  </a:lnTo>
                  <a:close/>
                </a:path>
              </a:pathLst>
            </a:custGeom>
            <a:blipFill>
              <a:blip r:embed="rId3">
                <a:alphaModFix amt="0"/>
              </a:blip>
              <a:stretch>
                <a:fillRect t="-287241" b="-287241"/>
              </a:stretch>
            </a:blipFill>
          </p:spPr>
          <p:txBody>
            <a:bodyPr/>
            <a:lstStyle/>
            <a:p>
              <a:endParaRPr lang="en-IN"/>
            </a:p>
          </p:txBody>
        </p:sp>
        <p:sp>
          <p:nvSpPr>
            <p:cNvPr id="9" name="TextBox 9"/>
            <p:cNvSpPr txBox="1"/>
            <p:nvPr/>
          </p:nvSpPr>
          <p:spPr>
            <a:xfrm>
              <a:off x="0" y="-104775"/>
              <a:ext cx="21945600" cy="1372743"/>
            </a:xfrm>
            <a:prstGeom prst="rect">
              <a:avLst/>
            </a:prstGeom>
          </p:spPr>
          <p:txBody>
            <a:bodyPr lIns="0" tIns="0" rIns="0" bIns="0" rtlCol="0" anchor="ctr"/>
            <a:lstStyle/>
            <a:p>
              <a:pPr>
                <a:lnSpc>
                  <a:spcPts val="6240"/>
                </a:lnSpc>
              </a:pPr>
              <a:r>
                <a:rPr lang="en-IN" sz="5400" dirty="0">
                  <a:solidFill>
                    <a:schemeClr val="bg1"/>
                  </a:solidFill>
                </a:rPr>
                <a:t>Why These Technology Choices?</a:t>
              </a:r>
              <a:endParaRPr lang="en-US" sz="5200" dirty="0">
                <a:solidFill>
                  <a:schemeClr val="bg1"/>
                </a:solidFill>
                <a:latin typeface="Calibri (MS) Bold"/>
                <a:ea typeface="Calibri (MS) Bold"/>
                <a:cs typeface="Calibri (MS) Bold"/>
                <a:sym typeface="Calibri (MS) Bold"/>
              </a:endParaRPr>
            </a:p>
          </p:txBody>
        </p:sp>
      </p:grpSp>
      <p:sp>
        <p:nvSpPr>
          <p:cNvPr id="130" name="Freeform 130"/>
          <p:cNvSpPr/>
          <p:nvPr/>
        </p:nvSpPr>
        <p:spPr>
          <a:xfrm>
            <a:off x="14114597" y="385195"/>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4"/>
            <a:stretch>
              <a:fillRect/>
            </a:stretch>
          </a:blipFill>
        </p:spPr>
        <p:txBody>
          <a:bodyPr/>
          <a:lstStyle/>
          <a:p>
            <a:endParaRPr lang="en-IN"/>
          </a:p>
        </p:txBody>
      </p:sp>
      <p:sp>
        <p:nvSpPr>
          <p:cNvPr id="132" name="TextBox 131">
            <a:extLst>
              <a:ext uri="{FF2B5EF4-FFF2-40B4-BE49-F238E27FC236}">
                <a16:creationId xmlns:a16="http://schemas.microsoft.com/office/drawing/2014/main" id="{F3FACFEA-C3EF-8447-6AFD-5AA8B0D27AAD}"/>
              </a:ext>
            </a:extLst>
          </p:cNvPr>
          <p:cNvSpPr txBox="1"/>
          <p:nvPr/>
        </p:nvSpPr>
        <p:spPr>
          <a:xfrm>
            <a:off x="766604" y="2334426"/>
            <a:ext cx="16906612" cy="7417415"/>
          </a:xfrm>
          <a:prstGeom prst="rect">
            <a:avLst/>
          </a:prstGeom>
          <a:noFill/>
        </p:spPr>
        <p:txBody>
          <a:bodyPr wrap="square">
            <a:spAutoFit/>
          </a:bodyPr>
          <a:lstStyle/>
          <a:p>
            <a:pPr>
              <a:buNone/>
            </a:pPr>
            <a:r>
              <a:rPr lang="en-IN" sz="2800" b="1" i="1" dirty="0">
                <a:solidFill>
                  <a:schemeClr val="bg1"/>
                </a:solidFill>
              </a:rPr>
              <a:t>Isolation Forest (not supervised ML) </a:t>
            </a:r>
            <a:r>
              <a:rPr lang="en-IN" sz="2800" dirty="0">
                <a:solidFill>
                  <a:schemeClr val="bg1"/>
                </a:solidFill>
              </a:rPr>
              <a:t>Unsupervised learning requires no </a:t>
            </a:r>
            <a:r>
              <a:rPr lang="en-IN" sz="2800" dirty="0" err="1">
                <a:solidFill>
                  <a:schemeClr val="bg1"/>
                </a:solidFill>
              </a:rPr>
              <a:t>labeled</a:t>
            </a:r>
            <a:r>
              <a:rPr lang="en-IN" sz="2800" dirty="0">
                <a:solidFill>
                  <a:schemeClr val="bg1"/>
                </a:solidFill>
              </a:rPr>
              <a:t> training data. It detects anomalous usage patterns without needing pre-annotated "idle" examples — ideal for dynamic Kubernetes environments.</a:t>
            </a:r>
          </a:p>
          <a:p>
            <a:pPr>
              <a:buNone/>
            </a:pPr>
            <a:endParaRPr lang="en-IN" sz="2800" dirty="0">
              <a:solidFill>
                <a:schemeClr val="bg1"/>
              </a:solidFill>
            </a:endParaRPr>
          </a:p>
          <a:p>
            <a:pPr>
              <a:buNone/>
            </a:pPr>
            <a:r>
              <a:rPr lang="en-IN" sz="2800" b="1" i="1" dirty="0">
                <a:solidFill>
                  <a:schemeClr val="bg1"/>
                </a:solidFill>
              </a:rPr>
              <a:t>Heuristic + ML (not ML alone)</a:t>
            </a:r>
            <a:r>
              <a:rPr lang="en-IN" sz="2800" dirty="0">
                <a:solidFill>
                  <a:schemeClr val="bg1"/>
                </a:solidFill>
              </a:rPr>
              <a:t> The heuristic engine provides explainability — operators can see exactly why a pod was scored as idle. ML adds a second validation layer without replacing human-readable logic.</a:t>
            </a:r>
          </a:p>
          <a:p>
            <a:pPr>
              <a:buNone/>
            </a:pPr>
            <a:endParaRPr lang="en-IN" sz="2800" dirty="0">
              <a:solidFill>
                <a:schemeClr val="bg1"/>
              </a:solidFill>
            </a:endParaRPr>
          </a:p>
          <a:p>
            <a:pPr>
              <a:buNone/>
            </a:pPr>
            <a:r>
              <a:rPr lang="en-IN" sz="2800" b="1" i="1" dirty="0">
                <a:solidFill>
                  <a:schemeClr val="bg1"/>
                </a:solidFill>
              </a:rPr>
              <a:t>Adaptive Thresholds (not fixed rules)</a:t>
            </a:r>
            <a:r>
              <a:rPr lang="en-IN" sz="2800" i="1" dirty="0">
                <a:solidFill>
                  <a:schemeClr val="bg1"/>
                </a:solidFill>
              </a:rPr>
              <a:t> </a:t>
            </a:r>
            <a:r>
              <a:rPr lang="en-IN" sz="2800" dirty="0">
                <a:solidFill>
                  <a:schemeClr val="bg1"/>
                </a:solidFill>
              </a:rPr>
              <a:t>Dynamic thresholds (</a:t>
            </a:r>
            <a:r>
              <a:rPr lang="en-IN" sz="2800" dirty="0" err="1">
                <a:solidFill>
                  <a:schemeClr val="bg1"/>
                </a:solidFill>
              </a:rPr>
              <a:t>avg</a:t>
            </a:r>
            <a:r>
              <a:rPr lang="en-IN" sz="2800" dirty="0">
                <a:solidFill>
                  <a:schemeClr val="bg1"/>
                </a:solidFill>
              </a:rPr>
              <a:t> × 0.4 for CPU, </a:t>
            </a:r>
            <a:r>
              <a:rPr lang="en-IN" sz="2800" dirty="0" err="1">
                <a:solidFill>
                  <a:schemeClr val="bg1"/>
                </a:solidFill>
              </a:rPr>
              <a:t>avg</a:t>
            </a:r>
            <a:r>
              <a:rPr lang="en-IN" sz="2800" dirty="0">
                <a:solidFill>
                  <a:schemeClr val="bg1"/>
                </a:solidFill>
              </a:rPr>
              <a:t> × 0.5 for memory) adapt to each workload's natural </a:t>
            </a:r>
            <a:r>
              <a:rPr lang="en-IN" sz="2800" dirty="0" err="1">
                <a:solidFill>
                  <a:schemeClr val="bg1"/>
                </a:solidFill>
              </a:rPr>
              <a:t>behavior</a:t>
            </a:r>
            <a:r>
              <a:rPr lang="en-IN" sz="2800" dirty="0">
                <a:solidFill>
                  <a:schemeClr val="bg1"/>
                </a:solidFill>
              </a:rPr>
              <a:t> pattern, dramatically reducing false positives compared to fixed cutoffs.</a:t>
            </a:r>
          </a:p>
          <a:p>
            <a:pPr>
              <a:buNone/>
            </a:pPr>
            <a:endParaRPr lang="en-IN" sz="2800" dirty="0">
              <a:solidFill>
                <a:schemeClr val="bg1"/>
              </a:solidFill>
            </a:endParaRPr>
          </a:p>
          <a:p>
            <a:pPr>
              <a:buNone/>
            </a:pPr>
            <a:r>
              <a:rPr lang="en-IN" sz="2800" b="1" i="1" dirty="0" err="1">
                <a:solidFill>
                  <a:schemeClr val="bg1"/>
                </a:solidFill>
              </a:rPr>
              <a:t>FastAPI</a:t>
            </a:r>
            <a:r>
              <a:rPr lang="en-IN" sz="2800" b="1" i="1" dirty="0">
                <a:solidFill>
                  <a:schemeClr val="bg1"/>
                </a:solidFill>
              </a:rPr>
              <a:t> (not Node.js)</a:t>
            </a:r>
            <a:r>
              <a:rPr lang="en-IN" sz="2800" i="1" dirty="0">
                <a:solidFill>
                  <a:schemeClr val="bg1"/>
                </a:solidFill>
              </a:rPr>
              <a:t> </a:t>
            </a:r>
            <a:r>
              <a:rPr lang="en-IN" sz="2800" dirty="0">
                <a:solidFill>
                  <a:schemeClr val="bg1"/>
                </a:solidFill>
              </a:rPr>
              <a:t>Python-native </a:t>
            </a:r>
            <a:r>
              <a:rPr lang="en-IN" sz="2800" dirty="0" err="1">
                <a:solidFill>
                  <a:schemeClr val="bg1"/>
                </a:solidFill>
              </a:rPr>
              <a:t>FastAPI</a:t>
            </a:r>
            <a:r>
              <a:rPr lang="en-IN" sz="2800" dirty="0">
                <a:solidFill>
                  <a:schemeClr val="bg1"/>
                </a:solidFill>
              </a:rPr>
              <a:t> integrates seamlessly with scikit-learn, the Kubernetes Python client, and Pandas for analytics — all in one language without cross-runtime complexity.</a:t>
            </a:r>
          </a:p>
          <a:p>
            <a:pPr>
              <a:buNone/>
            </a:pPr>
            <a:endParaRPr lang="en-IN" sz="2800" dirty="0">
              <a:solidFill>
                <a:schemeClr val="bg1"/>
              </a:solidFill>
            </a:endParaRPr>
          </a:p>
          <a:p>
            <a:pPr>
              <a:buNone/>
            </a:pPr>
            <a:r>
              <a:rPr lang="en-IN" sz="2800" b="1" i="1" dirty="0">
                <a:solidFill>
                  <a:schemeClr val="bg1"/>
                </a:solidFill>
              </a:rPr>
              <a:t>MongoDB Atlas + SQLite fallback</a:t>
            </a:r>
            <a:r>
              <a:rPr lang="en-IN" sz="2800" i="1" dirty="0">
                <a:solidFill>
                  <a:schemeClr val="bg1"/>
                </a:solidFill>
              </a:rPr>
              <a:t> </a:t>
            </a:r>
            <a:r>
              <a:rPr lang="en-IN" sz="2800" dirty="0">
                <a:solidFill>
                  <a:schemeClr val="bg1"/>
                </a:solidFill>
              </a:rPr>
              <a:t>Atlas provides cloud-hosted persistence for telemetry and history. SQLite fallback ensures the platform continues functioning if Atlas is temporarily unavailable.</a:t>
            </a:r>
          </a:p>
          <a:p>
            <a:pPr>
              <a:buNone/>
            </a:pPr>
            <a:endParaRPr lang="en-IN" sz="2800" dirty="0">
              <a:solidFill>
                <a:schemeClr val="bg1"/>
              </a:solidFill>
            </a:endParaRPr>
          </a:p>
          <a:p>
            <a:pPr>
              <a:buNone/>
            </a:pPr>
            <a:r>
              <a:rPr lang="en-IN" sz="2800" b="1" i="1" dirty="0">
                <a:solidFill>
                  <a:schemeClr val="bg1"/>
                </a:solidFill>
              </a:rPr>
              <a:t>Namespace Exclusion (safety-first)</a:t>
            </a:r>
            <a:r>
              <a:rPr lang="en-IN" sz="2800" i="1" dirty="0">
                <a:solidFill>
                  <a:schemeClr val="bg1"/>
                </a:solidFill>
              </a:rPr>
              <a:t> </a:t>
            </a:r>
            <a:r>
              <a:rPr lang="en-IN" sz="2800" dirty="0">
                <a:solidFill>
                  <a:schemeClr val="bg1"/>
                </a:solidFill>
              </a:rPr>
              <a:t>Optimization is blocked for </a:t>
            </a:r>
            <a:r>
              <a:rPr lang="en-IN" sz="2800" dirty="0" err="1">
                <a:solidFill>
                  <a:schemeClr val="bg1"/>
                </a:solidFill>
              </a:rPr>
              <a:t>kube</a:t>
            </a:r>
            <a:r>
              <a:rPr lang="en-IN" sz="2800" dirty="0">
                <a:solidFill>
                  <a:schemeClr val="bg1"/>
                </a:solidFill>
              </a:rPr>
              <a:t>-system, </a:t>
            </a:r>
            <a:r>
              <a:rPr lang="en-IN" sz="2800" dirty="0" err="1">
                <a:solidFill>
                  <a:schemeClr val="bg1"/>
                </a:solidFill>
              </a:rPr>
              <a:t>kube</a:t>
            </a:r>
            <a:r>
              <a:rPr lang="en-IN" sz="2800" dirty="0">
                <a:solidFill>
                  <a:schemeClr val="bg1"/>
                </a:solidFill>
              </a:rPr>
              <a:t>-public, and </a:t>
            </a:r>
            <a:r>
              <a:rPr lang="en-IN" sz="2800" dirty="0" err="1">
                <a:solidFill>
                  <a:schemeClr val="bg1"/>
                </a:solidFill>
              </a:rPr>
              <a:t>kube</a:t>
            </a:r>
            <a:r>
              <a:rPr lang="en-IN" sz="2800" dirty="0">
                <a:solidFill>
                  <a:schemeClr val="bg1"/>
                </a:solidFill>
              </a:rPr>
              <a:t>-node-lease namespaces by design — preventing any accidental scaling of critical Kubernetes control-plane components.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901703" y="627383"/>
            <a:ext cx="3317243" cy="519179"/>
            <a:chOff x="0" y="0"/>
            <a:chExt cx="4422991" cy="692239"/>
          </a:xfrm>
        </p:grpSpPr>
        <p:sp>
          <p:nvSpPr>
            <p:cNvPr id="3" name="Freeform 3"/>
            <p:cNvSpPr/>
            <p:nvPr/>
          </p:nvSpPr>
          <p:spPr>
            <a:xfrm>
              <a:off x="0" y="0"/>
              <a:ext cx="4423029" cy="692277"/>
            </a:xfrm>
            <a:custGeom>
              <a:avLst/>
              <a:gdLst/>
              <a:ahLst/>
              <a:cxnLst/>
              <a:rect l="l" t="t" r="r" b="b"/>
              <a:pathLst>
                <a:path w="4423029" h="692277">
                  <a:moveTo>
                    <a:pt x="0" y="0"/>
                  </a:moveTo>
                  <a:lnTo>
                    <a:pt x="4423029" y="0"/>
                  </a:lnTo>
                  <a:lnTo>
                    <a:pt x="4423029" y="692277"/>
                  </a:lnTo>
                  <a:lnTo>
                    <a:pt x="0" y="692277"/>
                  </a:lnTo>
                  <a:close/>
                </a:path>
              </a:pathLst>
            </a:custGeom>
            <a:solidFill>
              <a:srgbClr val="00B4D8"/>
            </a:solidFill>
            <a:ln w="25400" cap="sq">
              <a:solidFill>
                <a:srgbClr val="00B4D8"/>
              </a:solidFill>
              <a:prstDash val="solid"/>
              <a:miter/>
            </a:ln>
          </p:spPr>
          <p:txBody>
            <a:bodyPr/>
            <a:lstStyle/>
            <a:p>
              <a:endParaRPr lang="en-IN"/>
            </a:p>
          </p:txBody>
        </p:sp>
      </p:grpSp>
      <p:grpSp>
        <p:nvGrpSpPr>
          <p:cNvPr id="4" name="Group 4"/>
          <p:cNvGrpSpPr/>
          <p:nvPr/>
        </p:nvGrpSpPr>
        <p:grpSpPr>
          <a:xfrm>
            <a:off x="914400" y="640080"/>
            <a:ext cx="3291840" cy="493776"/>
            <a:chOff x="0" y="0"/>
            <a:chExt cx="4389120" cy="658368"/>
          </a:xfrm>
        </p:grpSpPr>
        <p:sp>
          <p:nvSpPr>
            <p:cNvPr id="5" name="Freeform 5"/>
            <p:cNvSpPr/>
            <p:nvPr/>
          </p:nvSpPr>
          <p:spPr>
            <a:xfrm>
              <a:off x="0" y="0"/>
              <a:ext cx="4389120" cy="658368"/>
            </a:xfrm>
            <a:custGeom>
              <a:avLst/>
              <a:gdLst/>
              <a:ahLst/>
              <a:cxnLst/>
              <a:rect l="l" t="t" r="r" b="b"/>
              <a:pathLst>
                <a:path w="4389120" h="658368">
                  <a:moveTo>
                    <a:pt x="0" y="0"/>
                  </a:moveTo>
                  <a:lnTo>
                    <a:pt x="4389120" y="0"/>
                  </a:lnTo>
                  <a:lnTo>
                    <a:pt x="4389120" y="658368"/>
                  </a:lnTo>
                  <a:lnTo>
                    <a:pt x="0" y="658368"/>
                  </a:lnTo>
                  <a:close/>
                </a:path>
              </a:pathLst>
            </a:custGeom>
            <a:blipFill>
              <a:blip r:embed="rId3">
                <a:alphaModFix amt="0"/>
              </a:blip>
              <a:stretch>
                <a:fillRect t="-79900" b="-79900"/>
              </a:stretch>
            </a:blipFill>
          </p:spPr>
          <p:txBody>
            <a:bodyPr/>
            <a:lstStyle/>
            <a:p>
              <a:endParaRPr lang="en-IN"/>
            </a:p>
          </p:txBody>
        </p:sp>
        <p:sp>
          <p:nvSpPr>
            <p:cNvPr id="6" name="TextBox 6"/>
            <p:cNvSpPr txBox="1"/>
            <p:nvPr/>
          </p:nvSpPr>
          <p:spPr>
            <a:xfrm>
              <a:off x="0" y="-38100"/>
              <a:ext cx="4389120" cy="696468"/>
            </a:xfrm>
            <a:prstGeom prst="rect">
              <a:avLst/>
            </a:prstGeom>
          </p:spPr>
          <p:txBody>
            <a:bodyPr lIns="0" tIns="0" rIns="0" bIns="0" rtlCol="0" anchor="ctr"/>
            <a:lstStyle/>
            <a:p>
              <a:pPr algn="ctr">
                <a:lnSpc>
                  <a:spcPts val="2160"/>
                </a:lnSpc>
              </a:pPr>
              <a:r>
                <a:rPr lang="en-US" sz="1800" b="1">
                  <a:solidFill>
                    <a:srgbClr val="0A0F1E"/>
                  </a:solidFill>
                  <a:latin typeface="Calibri (MS) Bold"/>
                  <a:ea typeface="Calibri (MS) Bold"/>
                  <a:cs typeface="Calibri (MS) Bold"/>
                  <a:sym typeface="Calibri (MS) Bold"/>
                </a:rPr>
                <a:t>CONCLUSION</a:t>
              </a:r>
            </a:p>
          </p:txBody>
        </p:sp>
      </p:grpSp>
      <p:grpSp>
        <p:nvGrpSpPr>
          <p:cNvPr id="7" name="Group 7"/>
          <p:cNvGrpSpPr/>
          <p:nvPr/>
        </p:nvGrpSpPr>
        <p:grpSpPr>
          <a:xfrm>
            <a:off x="914400" y="1316736"/>
            <a:ext cx="16459200" cy="1005840"/>
            <a:chOff x="0" y="0"/>
            <a:chExt cx="21945600" cy="1341120"/>
          </a:xfrm>
        </p:grpSpPr>
        <p:sp>
          <p:nvSpPr>
            <p:cNvPr id="8" name="Freeform 8"/>
            <p:cNvSpPr/>
            <p:nvPr/>
          </p:nvSpPr>
          <p:spPr>
            <a:xfrm>
              <a:off x="0" y="0"/>
              <a:ext cx="21945600" cy="1341120"/>
            </a:xfrm>
            <a:custGeom>
              <a:avLst/>
              <a:gdLst/>
              <a:ahLst/>
              <a:cxnLst/>
              <a:rect l="l" t="t" r="r" b="b"/>
              <a:pathLst>
                <a:path w="21945600" h="1341120">
                  <a:moveTo>
                    <a:pt x="0" y="0"/>
                  </a:moveTo>
                  <a:lnTo>
                    <a:pt x="21945600" y="0"/>
                  </a:lnTo>
                  <a:lnTo>
                    <a:pt x="21945600" y="1341120"/>
                  </a:lnTo>
                  <a:lnTo>
                    <a:pt x="0" y="1341120"/>
                  </a:lnTo>
                  <a:close/>
                </a:path>
              </a:pathLst>
            </a:custGeom>
            <a:blipFill>
              <a:blip r:embed="rId3">
                <a:alphaModFix amt="0"/>
              </a:blip>
              <a:stretch>
                <a:fillRect t="-268846" b="-268846"/>
              </a:stretch>
            </a:blipFill>
          </p:spPr>
          <p:txBody>
            <a:bodyPr/>
            <a:lstStyle/>
            <a:p>
              <a:endParaRPr lang="en-IN"/>
            </a:p>
          </p:txBody>
        </p:sp>
        <p:sp>
          <p:nvSpPr>
            <p:cNvPr id="9" name="TextBox 9"/>
            <p:cNvSpPr txBox="1"/>
            <p:nvPr/>
          </p:nvSpPr>
          <p:spPr>
            <a:xfrm>
              <a:off x="0" y="-104775"/>
              <a:ext cx="21945600" cy="1445895"/>
            </a:xfrm>
            <a:prstGeom prst="rect">
              <a:avLst/>
            </a:prstGeom>
          </p:spPr>
          <p:txBody>
            <a:bodyPr lIns="0" tIns="0" rIns="0" bIns="0" rtlCol="0" anchor="ctr"/>
            <a:lstStyle/>
            <a:p>
              <a:pPr algn="l">
                <a:lnSpc>
                  <a:spcPts val="6240"/>
                </a:lnSpc>
              </a:pPr>
              <a:r>
                <a:rPr lang="en-US" sz="5200" b="1">
                  <a:solidFill>
                    <a:srgbClr val="FFFFFF"/>
                  </a:solidFill>
                  <a:latin typeface="Calibri (MS) Bold"/>
                  <a:ea typeface="Calibri (MS) Bold"/>
                  <a:cs typeface="Calibri (MS) Bold"/>
                  <a:sym typeface="Calibri (MS) Bold"/>
                </a:rPr>
                <a:t>Conclusion &amp; Future Enhancements</a:t>
              </a:r>
            </a:p>
          </p:txBody>
        </p:sp>
      </p:grpSp>
      <p:grpSp>
        <p:nvGrpSpPr>
          <p:cNvPr id="10" name="Group 10"/>
          <p:cNvGrpSpPr/>
          <p:nvPr/>
        </p:nvGrpSpPr>
        <p:grpSpPr>
          <a:xfrm>
            <a:off x="419100" y="2596515"/>
            <a:ext cx="8176260" cy="7078980"/>
            <a:chOff x="0" y="0"/>
            <a:chExt cx="10901680" cy="9438640"/>
          </a:xfrm>
        </p:grpSpPr>
        <p:sp>
          <p:nvSpPr>
            <p:cNvPr id="11" name="Freeform 11"/>
            <p:cNvSpPr/>
            <p:nvPr/>
          </p:nvSpPr>
          <p:spPr>
            <a:xfrm>
              <a:off x="0" y="0"/>
              <a:ext cx="10901680" cy="9438640"/>
            </a:xfrm>
            <a:custGeom>
              <a:avLst/>
              <a:gdLst/>
              <a:ahLst/>
              <a:cxnLst/>
              <a:rect l="l" t="t" r="r" b="b"/>
              <a:pathLst>
                <a:path w="10901680" h="9438640">
                  <a:moveTo>
                    <a:pt x="0" y="0"/>
                  </a:moveTo>
                  <a:lnTo>
                    <a:pt x="10901680" y="0"/>
                  </a:lnTo>
                  <a:lnTo>
                    <a:pt x="10901680" y="9438640"/>
                  </a:lnTo>
                  <a:lnTo>
                    <a:pt x="0" y="9438640"/>
                  </a:lnTo>
                  <a:close/>
                </a:path>
              </a:pathLst>
            </a:custGeom>
            <a:solidFill>
              <a:srgbClr val="1A3D6B"/>
            </a:solidFill>
            <a:ln w="38100" cap="sq">
              <a:solidFill>
                <a:srgbClr val="00B4D8"/>
              </a:solidFill>
              <a:prstDash val="solid"/>
              <a:miter/>
            </a:ln>
          </p:spPr>
          <p:txBody>
            <a:bodyPr/>
            <a:lstStyle/>
            <a:p>
              <a:endParaRPr lang="en-IN"/>
            </a:p>
          </p:txBody>
        </p:sp>
      </p:grpSp>
      <p:grpSp>
        <p:nvGrpSpPr>
          <p:cNvPr id="12" name="Group 12"/>
          <p:cNvGrpSpPr/>
          <p:nvPr/>
        </p:nvGrpSpPr>
        <p:grpSpPr>
          <a:xfrm>
            <a:off x="914400" y="2779776"/>
            <a:ext cx="7680960" cy="694944"/>
            <a:chOff x="0" y="0"/>
            <a:chExt cx="10241280" cy="926592"/>
          </a:xfrm>
        </p:grpSpPr>
        <p:sp>
          <p:nvSpPr>
            <p:cNvPr id="13" name="Freeform 13"/>
            <p:cNvSpPr/>
            <p:nvPr/>
          </p:nvSpPr>
          <p:spPr>
            <a:xfrm>
              <a:off x="0" y="0"/>
              <a:ext cx="10241280" cy="926592"/>
            </a:xfrm>
            <a:custGeom>
              <a:avLst/>
              <a:gdLst/>
              <a:ahLst/>
              <a:cxnLst/>
              <a:rect l="l" t="t" r="r" b="b"/>
              <a:pathLst>
                <a:path w="10241280" h="926592">
                  <a:moveTo>
                    <a:pt x="0" y="0"/>
                  </a:moveTo>
                  <a:lnTo>
                    <a:pt x="10241280" y="0"/>
                  </a:lnTo>
                  <a:lnTo>
                    <a:pt x="10241280" y="926592"/>
                  </a:lnTo>
                  <a:lnTo>
                    <a:pt x="0" y="926592"/>
                  </a:lnTo>
                  <a:close/>
                </a:path>
              </a:pathLst>
            </a:custGeom>
            <a:blipFill>
              <a:blip r:embed="rId3">
                <a:alphaModFix amt="0"/>
              </a:blip>
              <a:stretch>
                <a:fillRect t="-165360" b="-165360"/>
              </a:stretch>
            </a:blipFill>
          </p:spPr>
          <p:txBody>
            <a:bodyPr/>
            <a:lstStyle/>
            <a:p>
              <a:endParaRPr lang="en-IN"/>
            </a:p>
          </p:txBody>
        </p:sp>
        <p:sp>
          <p:nvSpPr>
            <p:cNvPr id="14" name="TextBox 14"/>
            <p:cNvSpPr txBox="1"/>
            <p:nvPr/>
          </p:nvSpPr>
          <p:spPr>
            <a:xfrm>
              <a:off x="0" y="-66675"/>
              <a:ext cx="10241280" cy="993267"/>
            </a:xfrm>
            <a:prstGeom prst="rect">
              <a:avLst/>
            </a:prstGeom>
          </p:spPr>
          <p:txBody>
            <a:bodyPr lIns="0" tIns="0" rIns="0" bIns="0" rtlCol="0" anchor="ctr"/>
            <a:lstStyle/>
            <a:p>
              <a:pPr algn="l">
                <a:lnSpc>
                  <a:spcPts val="3600"/>
                </a:lnSpc>
              </a:pPr>
              <a:r>
                <a:rPr lang="en-US" sz="3000" b="1">
                  <a:solidFill>
                    <a:srgbClr val="00B4D8"/>
                  </a:solidFill>
                  <a:latin typeface="Calibri (MS) Bold"/>
                  <a:ea typeface="Calibri (MS) Bold"/>
                  <a:cs typeface="Calibri (MS) Bold"/>
                  <a:sym typeface="Calibri (MS) Bold"/>
                </a:rPr>
                <a:t>What We Achieved</a:t>
              </a:r>
            </a:p>
          </p:txBody>
        </p:sp>
      </p:grpSp>
      <p:grpSp>
        <p:nvGrpSpPr>
          <p:cNvPr id="45" name="Group 45"/>
          <p:cNvGrpSpPr/>
          <p:nvPr/>
        </p:nvGrpSpPr>
        <p:grpSpPr>
          <a:xfrm>
            <a:off x="9399270" y="2577846"/>
            <a:ext cx="8176260" cy="7078980"/>
            <a:chOff x="0" y="0"/>
            <a:chExt cx="10901680" cy="9438640"/>
          </a:xfrm>
        </p:grpSpPr>
        <p:sp>
          <p:nvSpPr>
            <p:cNvPr id="46" name="Freeform 46"/>
            <p:cNvSpPr/>
            <p:nvPr/>
          </p:nvSpPr>
          <p:spPr>
            <a:xfrm>
              <a:off x="0" y="0"/>
              <a:ext cx="10901680" cy="9438640"/>
            </a:xfrm>
            <a:custGeom>
              <a:avLst/>
              <a:gdLst/>
              <a:ahLst/>
              <a:cxnLst/>
              <a:rect l="l" t="t" r="r" b="b"/>
              <a:pathLst>
                <a:path w="10901680" h="9438640">
                  <a:moveTo>
                    <a:pt x="0" y="0"/>
                  </a:moveTo>
                  <a:lnTo>
                    <a:pt x="10901680" y="0"/>
                  </a:lnTo>
                  <a:lnTo>
                    <a:pt x="10901680" y="9438640"/>
                  </a:lnTo>
                  <a:lnTo>
                    <a:pt x="0" y="9438640"/>
                  </a:lnTo>
                  <a:close/>
                </a:path>
              </a:pathLst>
            </a:custGeom>
            <a:solidFill>
              <a:srgbClr val="1A3D6B"/>
            </a:solidFill>
            <a:ln w="38100" cap="sq">
              <a:solidFill>
                <a:srgbClr val="FF6B35"/>
              </a:solidFill>
              <a:prstDash val="solid"/>
              <a:miter/>
            </a:ln>
          </p:spPr>
          <p:txBody>
            <a:bodyPr/>
            <a:lstStyle/>
            <a:p>
              <a:endParaRPr lang="en-IN"/>
            </a:p>
          </p:txBody>
        </p:sp>
      </p:grpSp>
      <p:grpSp>
        <p:nvGrpSpPr>
          <p:cNvPr id="47" name="Group 47"/>
          <p:cNvGrpSpPr/>
          <p:nvPr/>
        </p:nvGrpSpPr>
        <p:grpSpPr>
          <a:xfrm>
            <a:off x="9601200" y="2779776"/>
            <a:ext cx="7680960" cy="694944"/>
            <a:chOff x="0" y="0"/>
            <a:chExt cx="10241280" cy="926592"/>
          </a:xfrm>
        </p:grpSpPr>
        <p:sp>
          <p:nvSpPr>
            <p:cNvPr id="48" name="Freeform 48"/>
            <p:cNvSpPr/>
            <p:nvPr/>
          </p:nvSpPr>
          <p:spPr>
            <a:xfrm>
              <a:off x="0" y="0"/>
              <a:ext cx="10241280" cy="926592"/>
            </a:xfrm>
            <a:custGeom>
              <a:avLst/>
              <a:gdLst/>
              <a:ahLst/>
              <a:cxnLst/>
              <a:rect l="l" t="t" r="r" b="b"/>
              <a:pathLst>
                <a:path w="10241280" h="926592">
                  <a:moveTo>
                    <a:pt x="0" y="0"/>
                  </a:moveTo>
                  <a:lnTo>
                    <a:pt x="10241280" y="0"/>
                  </a:lnTo>
                  <a:lnTo>
                    <a:pt x="10241280" y="926592"/>
                  </a:lnTo>
                  <a:lnTo>
                    <a:pt x="0" y="926592"/>
                  </a:lnTo>
                  <a:close/>
                </a:path>
              </a:pathLst>
            </a:custGeom>
            <a:blipFill>
              <a:blip r:embed="rId3">
                <a:alphaModFix amt="0"/>
              </a:blip>
              <a:stretch>
                <a:fillRect t="-165360" b="-165360"/>
              </a:stretch>
            </a:blipFill>
          </p:spPr>
          <p:txBody>
            <a:bodyPr/>
            <a:lstStyle/>
            <a:p>
              <a:endParaRPr lang="en-IN"/>
            </a:p>
          </p:txBody>
        </p:sp>
        <p:sp>
          <p:nvSpPr>
            <p:cNvPr id="49" name="TextBox 49"/>
            <p:cNvSpPr txBox="1"/>
            <p:nvPr/>
          </p:nvSpPr>
          <p:spPr>
            <a:xfrm>
              <a:off x="0" y="-66675"/>
              <a:ext cx="10241280" cy="993267"/>
            </a:xfrm>
            <a:prstGeom prst="rect">
              <a:avLst/>
            </a:prstGeom>
          </p:spPr>
          <p:txBody>
            <a:bodyPr lIns="0" tIns="0" rIns="0" bIns="0" rtlCol="0" anchor="ctr"/>
            <a:lstStyle/>
            <a:p>
              <a:pPr algn="l">
                <a:lnSpc>
                  <a:spcPts val="3600"/>
                </a:lnSpc>
              </a:pPr>
              <a:r>
                <a:rPr lang="en-US" sz="3000" b="1">
                  <a:solidFill>
                    <a:srgbClr val="FF6B35"/>
                  </a:solidFill>
                  <a:latin typeface="Calibri (MS) Bold"/>
                  <a:ea typeface="Calibri (MS) Bold"/>
                  <a:cs typeface="Calibri (MS) Bold"/>
                  <a:sym typeface="Calibri (MS) Bold"/>
                </a:rPr>
                <a:t>Future Enhancements</a:t>
              </a:r>
            </a:p>
          </p:txBody>
        </p:sp>
      </p:grpSp>
      <p:sp>
        <p:nvSpPr>
          <p:cNvPr id="53" name="Freeform 53"/>
          <p:cNvSpPr/>
          <p:nvPr/>
        </p:nvSpPr>
        <p:spPr>
          <a:xfrm>
            <a:off x="10387584" y="3657600"/>
            <a:ext cx="6858000" cy="768096"/>
          </a:xfrm>
          <a:custGeom>
            <a:avLst/>
            <a:gdLst/>
            <a:ahLst/>
            <a:cxnLst/>
            <a:rect l="l" t="t" r="r" b="b"/>
            <a:pathLst>
              <a:path w="9144000" h="1024128">
                <a:moveTo>
                  <a:pt x="0" y="0"/>
                </a:moveTo>
                <a:lnTo>
                  <a:pt x="9144000" y="0"/>
                </a:lnTo>
                <a:lnTo>
                  <a:pt x="9144000" y="1024128"/>
                </a:lnTo>
                <a:lnTo>
                  <a:pt x="0" y="1024128"/>
                </a:lnTo>
                <a:close/>
              </a:path>
            </a:pathLst>
          </a:custGeom>
          <a:blipFill>
            <a:blip r:embed="rId3">
              <a:alphaModFix amt="0"/>
            </a:blip>
            <a:stretch>
              <a:fillRect t="-123973" b="-123973"/>
            </a:stretch>
          </a:blipFill>
        </p:spPr>
        <p:txBody>
          <a:bodyPr/>
          <a:lstStyle/>
          <a:p>
            <a:endParaRPr lang="en-IN"/>
          </a:p>
        </p:txBody>
      </p:sp>
      <p:sp>
        <p:nvSpPr>
          <p:cNvPr id="63" name="Freeform 63"/>
          <p:cNvSpPr/>
          <p:nvPr/>
        </p:nvSpPr>
        <p:spPr>
          <a:xfrm>
            <a:off x="10387584" y="5596128"/>
            <a:ext cx="6858000" cy="768096"/>
          </a:xfrm>
          <a:custGeom>
            <a:avLst/>
            <a:gdLst/>
            <a:ahLst/>
            <a:cxnLst/>
            <a:rect l="l" t="t" r="r" b="b"/>
            <a:pathLst>
              <a:path w="9144000" h="1024128">
                <a:moveTo>
                  <a:pt x="0" y="0"/>
                </a:moveTo>
                <a:lnTo>
                  <a:pt x="9144000" y="0"/>
                </a:lnTo>
                <a:lnTo>
                  <a:pt x="9144000" y="1024128"/>
                </a:lnTo>
                <a:lnTo>
                  <a:pt x="0" y="1024128"/>
                </a:lnTo>
                <a:close/>
              </a:path>
            </a:pathLst>
          </a:custGeom>
          <a:blipFill>
            <a:blip r:embed="rId3">
              <a:alphaModFix amt="0"/>
            </a:blip>
            <a:stretch>
              <a:fillRect t="-123973" b="-123973"/>
            </a:stretch>
          </a:blipFill>
        </p:spPr>
        <p:txBody>
          <a:bodyPr/>
          <a:lstStyle/>
          <a:p>
            <a:endParaRPr lang="en-IN"/>
          </a:p>
        </p:txBody>
      </p:sp>
      <p:sp>
        <p:nvSpPr>
          <p:cNvPr id="68" name="Freeform 68"/>
          <p:cNvSpPr/>
          <p:nvPr/>
        </p:nvSpPr>
        <p:spPr>
          <a:xfrm>
            <a:off x="10387584" y="6565392"/>
            <a:ext cx="6858000" cy="768096"/>
          </a:xfrm>
          <a:custGeom>
            <a:avLst/>
            <a:gdLst/>
            <a:ahLst/>
            <a:cxnLst/>
            <a:rect l="l" t="t" r="r" b="b"/>
            <a:pathLst>
              <a:path w="9144000" h="1024128">
                <a:moveTo>
                  <a:pt x="0" y="0"/>
                </a:moveTo>
                <a:lnTo>
                  <a:pt x="9144000" y="0"/>
                </a:lnTo>
                <a:lnTo>
                  <a:pt x="9144000" y="1024128"/>
                </a:lnTo>
                <a:lnTo>
                  <a:pt x="0" y="1024128"/>
                </a:lnTo>
                <a:close/>
              </a:path>
            </a:pathLst>
          </a:custGeom>
          <a:blipFill>
            <a:blip r:embed="rId3">
              <a:alphaModFix amt="0"/>
            </a:blip>
            <a:stretch>
              <a:fillRect t="-123973" b="-123973"/>
            </a:stretch>
          </a:blipFill>
        </p:spPr>
        <p:txBody>
          <a:bodyPr/>
          <a:lstStyle/>
          <a:p>
            <a:endParaRPr lang="en-IN"/>
          </a:p>
        </p:txBody>
      </p:sp>
      <p:sp>
        <p:nvSpPr>
          <p:cNvPr id="78" name="Freeform 78"/>
          <p:cNvSpPr/>
          <p:nvPr/>
        </p:nvSpPr>
        <p:spPr>
          <a:xfrm>
            <a:off x="10220044" y="8468201"/>
            <a:ext cx="6858000" cy="768096"/>
          </a:xfrm>
          <a:custGeom>
            <a:avLst/>
            <a:gdLst/>
            <a:ahLst/>
            <a:cxnLst/>
            <a:rect l="l" t="t" r="r" b="b"/>
            <a:pathLst>
              <a:path w="9144000" h="1024128">
                <a:moveTo>
                  <a:pt x="0" y="0"/>
                </a:moveTo>
                <a:lnTo>
                  <a:pt x="9144000" y="0"/>
                </a:lnTo>
                <a:lnTo>
                  <a:pt x="9144000" y="1024128"/>
                </a:lnTo>
                <a:lnTo>
                  <a:pt x="0" y="1024128"/>
                </a:lnTo>
                <a:close/>
              </a:path>
            </a:pathLst>
          </a:custGeom>
          <a:blipFill>
            <a:blip r:embed="rId3">
              <a:alphaModFix amt="0"/>
            </a:blip>
            <a:stretch>
              <a:fillRect t="-123973" b="-123973"/>
            </a:stretch>
          </a:blipFill>
        </p:spPr>
        <p:txBody>
          <a:bodyPr/>
          <a:lstStyle/>
          <a:p>
            <a:endParaRPr lang="en-IN" dirty="0"/>
          </a:p>
        </p:txBody>
      </p:sp>
      <p:sp>
        <p:nvSpPr>
          <p:cNvPr id="80" name="Freeform 80"/>
          <p:cNvSpPr/>
          <p:nvPr/>
        </p:nvSpPr>
        <p:spPr>
          <a:xfrm>
            <a:off x="14114597" y="385195"/>
            <a:ext cx="3552373" cy="1003545"/>
          </a:xfrm>
          <a:custGeom>
            <a:avLst/>
            <a:gdLst/>
            <a:ahLst/>
            <a:cxnLst/>
            <a:rect l="l" t="t" r="r" b="b"/>
            <a:pathLst>
              <a:path w="3552373" h="1003545">
                <a:moveTo>
                  <a:pt x="0" y="0"/>
                </a:moveTo>
                <a:lnTo>
                  <a:pt x="3552373" y="0"/>
                </a:lnTo>
                <a:lnTo>
                  <a:pt x="3552373" y="1003546"/>
                </a:lnTo>
                <a:lnTo>
                  <a:pt x="0" y="1003546"/>
                </a:lnTo>
                <a:lnTo>
                  <a:pt x="0" y="0"/>
                </a:lnTo>
                <a:close/>
              </a:path>
            </a:pathLst>
          </a:custGeom>
          <a:blipFill>
            <a:blip r:embed="rId4"/>
            <a:stretch>
              <a:fillRect/>
            </a:stretch>
          </a:blipFill>
        </p:spPr>
        <p:txBody>
          <a:bodyPr/>
          <a:lstStyle/>
          <a:p>
            <a:endParaRPr lang="en-IN"/>
          </a:p>
        </p:txBody>
      </p:sp>
      <p:sp>
        <p:nvSpPr>
          <p:cNvPr id="82" name="TextBox 81">
            <a:extLst>
              <a:ext uri="{FF2B5EF4-FFF2-40B4-BE49-F238E27FC236}">
                <a16:creationId xmlns:a16="http://schemas.microsoft.com/office/drawing/2014/main" id="{511C914E-5B57-DEF8-96AA-D906E98228E8}"/>
              </a:ext>
            </a:extLst>
          </p:cNvPr>
          <p:cNvSpPr txBox="1"/>
          <p:nvPr/>
        </p:nvSpPr>
        <p:spPr>
          <a:xfrm>
            <a:off x="897955" y="3668535"/>
            <a:ext cx="7026845" cy="5632311"/>
          </a:xfrm>
          <a:prstGeom prst="rect">
            <a:avLst/>
          </a:prstGeom>
          <a:noFill/>
        </p:spPr>
        <p:txBody>
          <a:bodyPr wrap="square">
            <a:spAutoFit/>
          </a:bodyPr>
          <a:lstStyle/>
          <a:p>
            <a:pPr marL="342900" indent="-342900">
              <a:buFont typeface="Arial" panose="020B0604020202020204" pitchFamily="34" charset="0"/>
              <a:buChar char="•"/>
            </a:pPr>
            <a:r>
              <a:rPr lang="en-IN" sz="2400" dirty="0">
                <a:solidFill>
                  <a:schemeClr val="bg1"/>
                </a:solidFill>
              </a:rPr>
              <a:t>Intelligent idle detection using adaptive thresholds + multi-signal heuristic scoring — beyond simple CPU rules .</a:t>
            </a:r>
          </a:p>
          <a:p>
            <a:pPr marL="342900" indent="-342900">
              <a:buFont typeface="Arial" panose="020B0604020202020204" pitchFamily="34" charset="0"/>
              <a:buChar char="•"/>
            </a:pPr>
            <a:r>
              <a:rPr lang="en-IN" sz="2400" dirty="0">
                <a:solidFill>
                  <a:schemeClr val="bg1"/>
                </a:solidFill>
              </a:rPr>
              <a:t>ML validation with Isolation Forest confirms idle </a:t>
            </a:r>
            <a:r>
              <a:rPr lang="en-IN" sz="2400" dirty="0" err="1">
                <a:solidFill>
                  <a:schemeClr val="bg1"/>
                </a:solidFill>
              </a:rPr>
              <a:t>behavior</a:t>
            </a:r>
            <a:r>
              <a:rPr lang="en-IN" sz="2400" dirty="0">
                <a:solidFill>
                  <a:schemeClr val="bg1"/>
                </a:solidFill>
              </a:rPr>
              <a:t> without requiring </a:t>
            </a:r>
            <a:r>
              <a:rPr lang="en-IN" sz="2400" dirty="0" err="1">
                <a:solidFill>
                  <a:schemeClr val="bg1"/>
                </a:solidFill>
              </a:rPr>
              <a:t>labeled</a:t>
            </a:r>
            <a:r>
              <a:rPr lang="en-IN" sz="2400" dirty="0">
                <a:solidFill>
                  <a:schemeClr val="bg1"/>
                </a:solidFill>
              </a:rPr>
              <a:t> training data.</a:t>
            </a:r>
          </a:p>
          <a:p>
            <a:pPr marL="342900" indent="-342900">
              <a:buFont typeface="Arial" panose="020B0604020202020204" pitchFamily="34" charset="0"/>
              <a:buChar char="•"/>
            </a:pPr>
            <a:r>
              <a:rPr lang="en-IN" sz="2400" dirty="0">
                <a:solidFill>
                  <a:schemeClr val="bg1"/>
                </a:solidFill>
              </a:rPr>
              <a:t>Safe optimization engine with namespace exclusion prevents accidental cluster damage.</a:t>
            </a:r>
          </a:p>
          <a:p>
            <a:pPr marL="342900" indent="-342900">
              <a:buFont typeface="Arial" panose="020B0604020202020204" pitchFamily="34" charset="0"/>
              <a:buChar char="•"/>
            </a:pPr>
            <a:r>
              <a:rPr lang="en-IN" sz="2400" dirty="0">
                <a:solidFill>
                  <a:schemeClr val="bg1"/>
                </a:solidFill>
              </a:rPr>
              <a:t>Real AWS integration: SNS, S3, CloudWatch, Lambda, IAM, Cost Explorer — all live .</a:t>
            </a:r>
          </a:p>
          <a:p>
            <a:pPr marL="342900" indent="-342900">
              <a:buFont typeface="Arial" panose="020B0604020202020204" pitchFamily="34" charset="0"/>
              <a:buChar char="•"/>
            </a:pPr>
            <a:r>
              <a:rPr lang="en-IN" sz="2400" dirty="0">
                <a:solidFill>
                  <a:schemeClr val="bg1"/>
                </a:solidFill>
              </a:rPr>
              <a:t>Energy analytics engine estimating kWh saved, CO₂ reduced, and cost impact per optimization </a:t>
            </a:r>
          </a:p>
          <a:p>
            <a:pPr marL="342900" indent="-342900">
              <a:buFont typeface="Arial" panose="020B0604020202020204" pitchFamily="34" charset="0"/>
              <a:buChar char="•"/>
            </a:pPr>
            <a:r>
              <a:rPr lang="en-IN" sz="2400" dirty="0">
                <a:solidFill>
                  <a:schemeClr val="bg1"/>
                </a:solidFill>
              </a:rPr>
              <a:t>JWT-protected APIs and RBAC YAML for production-grade security </a:t>
            </a:r>
          </a:p>
          <a:p>
            <a:pPr marL="342900" indent="-342900">
              <a:buFont typeface="Arial" panose="020B0604020202020204" pitchFamily="34" charset="0"/>
              <a:buChar char="•"/>
            </a:pPr>
            <a:r>
              <a:rPr lang="en-IN" sz="2400" dirty="0">
                <a:solidFill>
                  <a:schemeClr val="bg1"/>
                </a:solidFill>
              </a:rPr>
              <a:t>Full-stack deployment: </a:t>
            </a:r>
            <a:r>
              <a:rPr lang="en-IN" sz="2400" dirty="0" err="1">
                <a:solidFill>
                  <a:schemeClr val="bg1"/>
                </a:solidFill>
              </a:rPr>
              <a:t>Minikube</a:t>
            </a:r>
            <a:r>
              <a:rPr lang="en-IN" sz="2400" dirty="0">
                <a:solidFill>
                  <a:schemeClr val="bg1"/>
                </a:solidFill>
              </a:rPr>
              <a:t> local demo + EC2 Docker cloud deployment.</a:t>
            </a:r>
          </a:p>
        </p:txBody>
      </p:sp>
      <p:sp>
        <p:nvSpPr>
          <p:cNvPr id="84" name="TextBox 83">
            <a:extLst>
              <a:ext uri="{FF2B5EF4-FFF2-40B4-BE49-F238E27FC236}">
                <a16:creationId xmlns:a16="http://schemas.microsoft.com/office/drawing/2014/main" id="{473E7996-258D-9D6F-BBF8-046FBDE19AFF}"/>
              </a:ext>
            </a:extLst>
          </p:cNvPr>
          <p:cNvSpPr txBox="1"/>
          <p:nvPr/>
        </p:nvSpPr>
        <p:spPr>
          <a:xfrm>
            <a:off x="9847395" y="3721608"/>
            <a:ext cx="7280010" cy="4154984"/>
          </a:xfrm>
          <a:prstGeom prst="rect">
            <a:avLst/>
          </a:prstGeom>
          <a:noFill/>
        </p:spPr>
        <p:txBody>
          <a:bodyPr wrap="square">
            <a:spAutoFit/>
          </a:bodyPr>
          <a:lstStyle/>
          <a:p>
            <a:endParaRPr lang="en-IN" sz="2400" dirty="0">
              <a:solidFill>
                <a:schemeClr val="bg1"/>
              </a:solidFill>
            </a:endParaRPr>
          </a:p>
          <a:p>
            <a:pPr marL="342900" indent="-342900">
              <a:buFont typeface="Arial" panose="020B0604020202020204" pitchFamily="34" charset="0"/>
              <a:buChar char="•"/>
            </a:pPr>
            <a:r>
              <a:rPr lang="en-IN" sz="2400" dirty="0">
                <a:solidFill>
                  <a:schemeClr val="bg1"/>
                </a:solidFill>
              </a:rPr>
              <a:t>KEDA integration for event-driven autoscaling triggered by </a:t>
            </a:r>
            <a:r>
              <a:rPr lang="en-IN" sz="2400" dirty="0" err="1">
                <a:solidFill>
                  <a:schemeClr val="bg1"/>
                </a:solidFill>
              </a:rPr>
              <a:t>IdlePod</a:t>
            </a:r>
            <a:r>
              <a:rPr lang="en-IN" sz="2400" dirty="0">
                <a:solidFill>
                  <a:schemeClr val="bg1"/>
                </a:solidFill>
              </a:rPr>
              <a:t> metrics .</a:t>
            </a:r>
          </a:p>
          <a:p>
            <a:pPr marL="342900" indent="-342900">
              <a:buFont typeface="Arial" panose="020B0604020202020204" pitchFamily="34" charset="0"/>
              <a:buChar char="•"/>
            </a:pPr>
            <a:r>
              <a:rPr lang="en-IN" sz="2400" dirty="0">
                <a:solidFill>
                  <a:schemeClr val="bg1"/>
                </a:solidFill>
              </a:rPr>
              <a:t>AWS Bedrock AI-powered optimization recommendations </a:t>
            </a:r>
          </a:p>
          <a:p>
            <a:pPr marL="342900" indent="-342900">
              <a:buFont typeface="Arial" panose="020B0604020202020204" pitchFamily="34" charset="0"/>
              <a:buChar char="•"/>
            </a:pPr>
            <a:r>
              <a:rPr lang="en-IN" sz="2400" dirty="0">
                <a:solidFill>
                  <a:schemeClr val="bg1"/>
                </a:solidFill>
              </a:rPr>
              <a:t>Multi-cluster support across namespaces and cloud regions .</a:t>
            </a:r>
          </a:p>
          <a:p>
            <a:pPr marL="342900" indent="-342900">
              <a:buFont typeface="Arial" panose="020B0604020202020204" pitchFamily="34" charset="0"/>
              <a:buChar char="•"/>
            </a:pPr>
            <a:r>
              <a:rPr lang="en-IN" sz="2400" dirty="0">
                <a:solidFill>
                  <a:schemeClr val="bg1"/>
                </a:solidFill>
              </a:rPr>
              <a:t>Predictive idle detection using time-series forecasting (LSTM) .</a:t>
            </a:r>
          </a:p>
          <a:p>
            <a:pPr marL="342900" indent="-342900">
              <a:buFont typeface="Arial" panose="020B0604020202020204" pitchFamily="34" charset="0"/>
              <a:buChar char="•"/>
            </a:pPr>
            <a:r>
              <a:rPr lang="en-IN" sz="2400" dirty="0">
                <a:solidFill>
                  <a:schemeClr val="bg1"/>
                </a:solidFill>
              </a:rPr>
              <a:t>Carbon accounting API integration for real hardware energy measurement.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grpSp>
        <p:nvGrpSpPr>
          <p:cNvPr id="2" name="Group 2"/>
          <p:cNvGrpSpPr/>
          <p:nvPr/>
        </p:nvGrpSpPr>
        <p:grpSpPr>
          <a:xfrm>
            <a:off x="-6353" y="-6353"/>
            <a:ext cx="12697" cy="10299697"/>
            <a:chOff x="0" y="0"/>
            <a:chExt cx="16929" cy="13732929"/>
          </a:xfrm>
        </p:grpSpPr>
        <p:sp>
          <p:nvSpPr>
            <p:cNvPr id="3" name="Freeform 3"/>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4" name="Group 4"/>
          <p:cNvGrpSpPr/>
          <p:nvPr/>
        </p:nvGrpSpPr>
        <p:grpSpPr>
          <a:xfrm>
            <a:off x="2005327" y="-6353"/>
            <a:ext cx="12697" cy="10299697"/>
            <a:chOff x="0" y="0"/>
            <a:chExt cx="16929" cy="13732929"/>
          </a:xfrm>
        </p:grpSpPr>
        <p:sp>
          <p:nvSpPr>
            <p:cNvPr id="5" name="Freeform 5"/>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6" name="Group 6"/>
          <p:cNvGrpSpPr/>
          <p:nvPr/>
        </p:nvGrpSpPr>
        <p:grpSpPr>
          <a:xfrm>
            <a:off x="4017007" y="-6353"/>
            <a:ext cx="12697" cy="10299697"/>
            <a:chOff x="0" y="0"/>
            <a:chExt cx="16929" cy="13732929"/>
          </a:xfrm>
        </p:grpSpPr>
        <p:sp>
          <p:nvSpPr>
            <p:cNvPr id="7" name="Freeform 7"/>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8" name="Group 8"/>
          <p:cNvGrpSpPr/>
          <p:nvPr/>
        </p:nvGrpSpPr>
        <p:grpSpPr>
          <a:xfrm>
            <a:off x="6028687" y="-6353"/>
            <a:ext cx="12697" cy="10299697"/>
            <a:chOff x="0" y="0"/>
            <a:chExt cx="16929" cy="13732929"/>
          </a:xfrm>
        </p:grpSpPr>
        <p:sp>
          <p:nvSpPr>
            <p:cNvPr id="9" name="Freeform 9"/>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10" name="Group 10"/>
          <p:cNvGrpSpPr/>
          <p:nvPr/>
        </p:nvGrpSpPr>
        <p:grpSpPr>
          <a:xfrm>
            <a:off x="8040367" y="-6353"/>
            <a:ext cx="12697" cy="10299697"/>
            <a:chOff x="0" y="0"/>
            <a:chExt cx="16929" cy="13732929"/>
          </a:xfrm>
        </p:grpSpPr>
        <p:sp>
          <p:nvSpPr>
            <p:cNvPr id="11" name="Freeform 11"/>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12" name="Group 12"/>
          <p:cNvGrpSpPr/>
          <p:nvPr/>
        </p:nvGrpSpPr>
        <p:grpSpPr>
          <a:xfrm>
            <a:off x="10052047" y="-6353"/>
            <a:ext cx="12697" cy="10299697"/>
            <a:chOff x="0" y="0"/>
            <a:chExt cx="16929" cy="13732929"/>
          </a:xfrm>
        </p:grpSpPr>
        <p:sp>
          <p:nvSpPr>
            <p:cNvPr id="13" name="Freeform 13"/>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14" name="Group 14"/>
          <p:cNvGrpSpPr/>
          <p:nvPr/>
        </p:nvGrpSpPr>
        <p:grpSpPr>
          <a:xfrm>
            <a:off x="12063727" y="-6353"/>
            <a:ext cx="12697" cy="10299697"/>
            <a:chOff x="0" y="0"/>
            <a:chExt cx="16929" cy="13732929"/>
          </a:xfrm>
        </p:grpSpPr>
        <p:sp>
          <p:nvSpPr>
            <p:cNvPr id="15" name="Freeform 15"/>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16" name="Group 16"/>
          <p:cNvGrpSpPr/>
          <p:nvPr/>
        </p:nvGrpSpPr>
        <p:grpSpPr>
          <a:xfrm>
            <a:off x="14075407" y="-6353"/>
            <a:ext cx="12697" cy="10299697"/>
            <a:chOff x="0" y="0"/>
            <a:chExt cx="16929" cy="13732929"/>
          </a:xfrm>
        </p:grpSpPr>
        <p:sp>
          <p:nvSpPr>
            <p:cNvPr id="17" name="Freeform 17"/>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18" name="Group 18"/>
          <p:cNvGrpSpPr/>
          <p:nvPr/>
        </p:nvGrpSpPr>
        <p:grpSpPr>
          <a:xfrm>
            <a:off x="16087087" y="-6353"/>
            <a:ext cx="12697" cy="10299697"/>
            <a:chOff x="0" y="0"/>
            <a:chExt cx="16929" cy="13732929"/>
          </a:xfrm>
        </p:grpSpPr>
        <p:sp>
          <p:nvSpPr>
            <p:cNvPr id="19" name="Freeform 19"/>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20" name="Group 20"/>
          <p:cNvGrpSpPr/>
          <p:nvPr/>
        </p:nvGrpSpPr>
        <p:grpSpPr>
          <a:xfrm>
            <a:off x="18098767" y="-6353"/>
            <a:ext cx="12697" cy="10299697"/>
            <a:chOff x="0" y="0"/>
            <a:chExt cx="16929" cy="13732929"/>
          </a:xfrm>
        </p:grpSpPr>
        <p:sp>
          <p:nvSpPr>
            <p:cNvPr id="21" name="Freeform 21"/>
            <p:cNvSpPr/>
            <p:nvPr/>
          </p:nvSpPr>
          <p:spPr>
            <a:xfrm>
              <a:off x="0" y="0"/>
              <a:ext cx="16891" cy="13732890"/>
            </a:xfrm>
            <a:custGeom>
              <a:avLst/>
              <a:gdLst/>
              <a:ahLst/>
              <a:cxnLst/>
              <a:rect l="l" t="t" r="r" b="b"/>
              <a:pathLst>
                <a:path w="16891" h="13732890">
                  <a:moveTo>
                    <a:pt x="0" y="0"/>
                  </a:moveTo>
                  <a:lnTo>
                    <a:pt x="16891" y="13732890"/>
                  </a:lnTo>
                </a:path>
              </a:pathLst>
            </a:custGeom>
            <a:blipFill>
              <a:blip r:embed="rId2">
                <a:alphaModFix amt="0"/>
              </a:blip>
              <a:stretch>
                <a:fillRect l="-104264835" r="-104265061"/>
              </a:stretch>
            </a:blipFill>
            <a:ln w="12700" cap="sq">
              <a:solidFill>
                <a:srgbClr val="1A3D6B"/>
              </a:solidFill>
              <a:prstDash val="solid"/>
              <a:miter/>
            </a:ln>
          </p:spPr>
          <p:txBody>
            <a:bodyPr/>
            <a:lstStyle/>
            <a:p>
              <a:endParaRPr lang="en-IN"/>
            </a:p>
          </p:txBody>
        </p:sp>
      </p:grpSp>
      <p:grpSp>
        <p:nvGrpSpPr>
          <p:cNvPr id="22" name="Group 22"/>
          <p:cNvGrpSpPr/>
          <p:nvPr/>
        </p:nvGrpSpPr>
        <p:grpSpPr>
          <a:xfrm>
            <a:off x="6924042" y="1828800"/>
            <a:ext cx="4439917" cy="4439917"/>
            <a:chOff x="0" y="0"/>
            <a:chExt cx="5919889" cy="5919889"/>
          </a:xfrm>
        </p:grpSpPr>
        <p:sp>
          <p:nvSpPr>
            <p:cNvPr id="23" name="Freeform 23"/>
            <p:cNvSpPr/>
            <p:nvPr/>
          </p:nvSpPr>
          <p:spPr>
            <a:xfrm>
              <a:off x="0" y="0"/>
              <a:ext cx="5919851" cy="5919851"/>
            </a:xfrm>
            <a:custGeom>
              <a:avLst/>
              <a:gdLst/>
              <a:ahLst/>
              <a:cxnLst/>
              <a:rect l="l" t="t" r="r" b="b"/>
              <a:pathLst>
                <a:path w="5919851" h="5919851">
                  <a:moveTo>
                    <a:pt x="0" y="2959989"/>
                  </a:moveTo>
                  <a:cubicBezTo>
                    <a:pt x="0" y="1325245"/>
                    <a:pt x="1325245" y="0"/>
                    <a:pt x="2959989" y="0"/>
                  </a:cubicBezTo>
                  <a:cubicBezTo>
                    <a:pt x="4594733" y="0"/>
                    <a:pt x="5919851" y="1325245"/>
                    <a:pt x="5919851" y="2959989"/>
                  </a:cubicBezTo>
                  <a:cubicBezTo>
                    <a:pt x="5919851" y="4594733"/>
                    <a:pt x="4594733" y="5919851"/>
                    <a:pt x="2959989" y="5919851"/>
                  </a:cubicBezTo>
                  <a:cubicBezTo>
                    <a:pt x="1325245" y="5919851"/>
                    <a:pt x="0" y="4594733"/>
                    <a:pt x="0" y="2959989"/>
                  </a:cubicBezTo>
                  <a:close/>
                </a:path>
              </a:pathLst>
            </a:custGeom>
            <a:solidFill>
              <a:srgbClr val="0F2D54"/>
            </a:solidFill>
            <a:ln w="50800" cap="sq">
              <a:solidFill>
                <a:srgbClr val="00B4D8"/>
              </a:solidFill>
              <a:prstDash val="solid"/>
              <a:miter/>
            </a:ln>
          </p:spPr>
          <p:txBody>
            <a:bodyPr/>
            <a:lstStyle/>
            <a:p>
              <a:endParaRPr lang="en-IN"/>
            </a:p>
          </p:txBody>
        </p:sp>
      </p:grpSp>
      <p:grpSp>
        <p:nvGrpSpPr>
          <p:cNvPr id="24" name="Group 24"/>
          <p:cNvGrpSpPr/>
          <p:nvPr/>
        </p:nvGrpSpPr>
        <p:grpSpPr>
          <a:xfrm>
            <a:off x="7589520" y="2580926"/>
            <a:ext cx="3108960" cy="2377440"/>
            <a:chOff x="0" y="0"/>
            <a:chExt cx="4145280" cy="3169920"/>
          </a:xfrm>
        </p:grpSpPr>
        <p:sp>
          <p:nvSpPr>
            <p:cNvPr id="25" name="Freeform 25" descr="preencoded.png"/>
            <p:cNvSpPr/>
            <p:nvPr/>
          </p:nvSpPr>
          <p:spPr>
            <a:xfrm>
              <a:off x="0" y="0"/>
              <a:ext cx="4145280" cy="3169920"/>
            </a:xfrm>
            <a:custGeom>
              <a:avLst/>
              <a:gdLst/>
              <a:ahLst/>
              <a:cxnLst/>
              <a:rect l="l" t="t" r="r" b="b"/>
              <a:pathLst>
                <a:path w="4145280" h="3169920">
                  <a:moveTo>
                    <a:pt x="0" y="0"/>
                  </a:moveTo>
                  <a:lnTo>
                    <a:pt x="4145280" y="0"/>
                  </a:lnTo>
                  <a:lnTo>
                    <a:pt x="4145280" y="3169920"/>
                  </a:lnTo>
                  <a:lnTo>
                    <a:pt x="0" y="3169920"/>
                  </a:lnTo>
                  <a:lnTo>
                    <a:pt x="0" y="0"/>
                  </a:lnTo>
                  <a:close/>
                </a:path>
              </a:pathLst>
            </a:custGeom>
            <a:blipFill>
              <a:blip r:embed="rId3"/>
              <a:stretch>
                <a:fillRect t="-15384" b="-15384"/>
              </a:stretch>
            </a:blipFill>
          </p:spPr>
          <p:txBody>
            <a:bodyPr/>
            <a:lstStyle/>
            <a:p>
              <a:endParaRPr lang="en-IN"/>
            </a:p>
          </p:txBody>
        </p:sp>
      </p:grpSp>
      <p:grpSp>
        <p:nvGrpSpPr>
          <p:cNvPr id="26" name="Group 26"/>
          <p:cNvGrpSpPr/>
          <p:nvPr/>
        </p:nvGrpSpPr>
        <p:grpSpPr>
          <a:xfrm>
            <a:off x="2743200" y="6628889"/>
            <a:ext cx="12801600" cy="1645920"/>
            <a:chOff x="0" y="0"/>
            <a:chExt cx="17068800" cy="2194560"/>
          </a:xfrm>
        </p:grpSpPr>
        <p:sp>
          <p:nvSpPr>
            <p:cNvPr id="27" name="Freeform 27"/>
            <p:cNvSpPr/>
            <p:nvPr/>
          </p:nvSpPr>
          <p:spPr>
            <a:xfrm>
              <a:off x="0" y="0"/>
              <a:ext cx="17068800" cy="2194560"/>
            </a:xfrm>
            <a:custGeom>
              <a:avLst/>
              <a:gdLst/>
              <a:ahLst/>
              <a:cxnLst/>
              <a:rect l="l" t="t" r="r" b="b"/>
              <a:pathLst>
                <a:path w="17068800" h="2194560">
                  <a:moveTo>
                    <a:pt x="0" y="0"/>
                  </a:moveTo>
                  <a:lnTo>
                    <a:pt x="17068800" y="0"/>
                  </a:lnTo>
                  <a:lnTo>
                    <a:pt x="17068800" y="2194560"/>
                  </a:lnTo>
                  <a:lnTo>
                    <a:pt x="0" y="2194560"/>
                  </a:lnTo>
                  <a:close/>
                </a:path>
              </a:pathLst>
            </a:custGeom>
            <a:blipFill>
              <a:blip r:embed="rId2">
                <a:alphaModFix amt="0"/>
              </a:blip>
              <a:stretch>
                <a:fillRect t="-101550" b="-101550"/>
              </a:stretch>
            </a:blipFill>
          </p:spPr>
          <p:txBody>
            <a:bodyPr/>
            <a:lstStyle/>
            <a:p>
              <a:endParaRPr lang="en-IN"/>
            </a:p>
          </p:txBody>
        </p:sp>
        <p:sp>
          <p:nvSpPr>
            <p:cNvPr id="28" name="TextBox 28"/>
            <p:cNvSpPr txBox="1"/>
            <p:nvPr/>
          </p:nvSpPr>
          <p:spPr>
            <a:xfrm>
              <a:off x="0" y="-171450"/>
              <a:ext cx="17068800" cy="2366010"/>
            </a:xfrm>
            <a:prstGeom prst="rect">
              <a:avLst/>
            </a:prstGeom>
          </p:spPr>
          <p:txBody>
            <a:bodyPr lIns="0" tIns="0" rIns="0" bIns="0" rtlCol="0" anchor="ctr"/>
            <a:lstStyle/>
            <a:p>
              <a:pPr algn="ctr">
                <a:lnSpc>
                  <a:spcPts val="10560"/>
                </a:lnSpc>
              </a:pPr>
              <a:r>
                <a:rPr lang="en-US" sz="8800" b="1">
                  <a:solidFill>
                    <a:srgbClr val="FFFFFF"/>
                  </a:solidFill>
                  <a:latin typeface="Calibri (MS) Bold"/>
                  <a:ea typeface="Calibri (MS) Bold"/>
                  <a:cs typeface="Calibri (MS) Bold"/>
                  <a:sym typeface="Calibri (MS)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2404</Words>
  <Application>Microsoft Office PowerPoint</Application>
  <PresentationFormat>Custom</PresentationFormat>
  <Paragraphs>204</Paragraphs>
  <Slides>11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 (MS) Bold</vt:lpstr>
      <vt:lpstr>Calibri (MS)</vt:lpstr>
      <vt:lpstr>Arial</vt:lpstr>
      <vt:lpstr>DM Serif Display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Cloud_Project</dc:title>
  <dc:creator>mukkara Sreeja</dc:creator>
  <cp:lastModifiedBy>meghana_2506@outlook.com</cp:lastModifiedBy>
  <cp:revision>45</cp:revision>
  <dcterms:created xsi:type="dcterms:W3CDTF">2006-08-16T00:00:00Z</dcterms:created>
  <dcterms:modified xsi:type="dcterms:W3CDTF">2026-05-26T07:21:02Z</dcterms:modified>
  <dc:identifier>DAHKPIQ_MoQ</dc:identifier>
</cp:coreProperties>
</file>